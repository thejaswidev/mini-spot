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has five phases. Research and planning is complete. Hardware and software and simulation are running in parallel, and we are now moving into phase four, integration and testing. On the Kanban board we have 6 tasks done, 7 in progress, 8 still to start - plus some new results from the last weeks that are not on the board yet, which I will show 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everything that is finished: the research and parts selection, the MuJoCo simulation, a first hard-coded walk on the Arduino, and milestone one. On the right is what is running now: the head CAD, Jetson Nano and camera, firmware and soldering on the hardware side, and sim-to-real preparation on the software side.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new and not on the Miro board yet. In simulation the robot now walks and trots with a smooth Bezier gait, turns left or right by any angle we type in, and walks circles of a chosen size. The turn lands within about two and a half degrees, and a 1 metre circle comes out at 1.00 metre. The reinforcement learning pipeline that tunes the gait is set up and running, and automated tests check the turning on every change.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four brings everything together. The Jetson Nano and camera and the LED head are already in progress. Next comes testing movement on the real robot and the full end-to-end integration. For the movement, our plan is: reinforcement learning finds the best gait numbers, we check them in the simulator, then move them together with the turning logic into the ESP32 firmware and test on the real robot.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still ahead: on the software side, the ROS 2 framework, finishing the robot model, and camera selection. In January, final testing, remote control and the head, and the final presentation. In short: the robot already walks, trots and steers in simulation, and phase four brings that onto the real hardware.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502920"/>
            <a:ext cx="9875520" cy="731520"/>
          </a:xfrm>
          <a:prstGeom prst="rect">
            <a:avLst/>
          </a:prstGeom>
          <a:noFill/>
        </p:spPr>
        <p:txBody>
          <a:bodyPr wrap="square" lIns="0" rIns="0" tIns="0" bIns="0" anchor="t">
            <a:spAutoFit/>
          </a:bodyPr>
          <a:lstStyle/>
          <a:p>
            <a:pPr algn="l"/>
            <a:r>
              <a:rPr sz="3600" b="1" i="0">
                <a:solidFill>
                  <a:srgbClr val="111111"/>
                </a:solidFill>
                <a:latin typeface="Open Sans"/>
              </a:rPr>
              <a:t>Mini-SPOT: where we are now</a:t>
            </a:r>
          </a:p>
        </p:txBody>
      </p:sp>
      <p:sp>
        <p:nvSpPr>
          <p:cNvPr id="3" name="Subtitle"/>
          <p:cNvSpPr txBox="1"/>
          <p:nvPr/>
        </p:nvSpPr>
        <p:spPr>
          <a:xfrm>
            <a:off x="704088" y="1207008"/>
            <a:ext cx="9875520" cy="365760"/>
          </a:xfrm>
          <a:prstGeom prst="rect">
            <a:avLst/>
          </a:prstGeom>
          <a:noFill/>
        </p:spPr>
        <p:txBody>
          <a:bodyPr wrap="square" lIns="0" rIns="0" tIns="0" bIns="0" anchor="t">
            <a:spAutoFit/>
          </a:bodyPr>
          <a:lstStyle/>
          <a:p>
            <a:pPr algn="l"/>
            <a:r>
              <a:rPr sz="1600" b="0" i="0">
                <a:solidFill>
                  <a:srgbClr val="6B7280"/>
                </a:solidFill>
                <a:latin typeface="Open Sans"/>
              </a:rPr>
              <a:t>Project status update · 5 phases · now moving into Phase 4</a:t>
            </a:r>
          </a:p>
        </p:txBody>
      </p:sp>
      <p:sp>
        <p:nvSpPr>
          <p:cNvPr id="4" name="Logo"/>
          <p:cNvSpPr txBox="1"/>
          <p:nvPr/>
        </p:nvSpPr>
        <p:spPr>
          <a:xfrm>
            <a:off x="10058400" y="502920"/>
            <a:ext cx="1463040" cy="548640"/>
          </a:xfrm>
          <a:prstGeom prst="rect">
            <a:avLst/>
          </a:prstGeom>
          <a:noFill/>
        </p:spPr>
        <p:txBody>
          <a:bodyPr wrap="square" lIns="0" rIns="0" tIns="0" bIns="0" anchor="t">
            <a:spAutoFit/>
          </a:bodyPr>
          <a:lstStyle/>
          <a:p>
            <a:pPr algn="r"/>
            <a:r>
              <a:rPr sz="2800" b="1" i="0">
                <a:solidFill>
                  <a:srgbClr val="E2783A"/>
                </a:solidFill>
                <a:latin typeface="Open Sans"/>
              </a:rPr>
              <a:t>thws</a:t>
            </a:r>
          </a:p>
        </p:txBody>
      </p:sp>
      <p:sp>
        <p:nvSpPr>
          <p:cNvPr id="5" name="Oval 4"/>
          <p:cNvSpPr/>
          <p:nvPr/>
        </p:nvSpPr>
        <p:spPr>
          <a:xfrm>
            <a:off x="704088" y="6281928"/>
            <a:ext cx="237744" cy="237744"/>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 name="Presenter"/>
          <p:cNvSpPr txBox="1"/>
          <p:nvPr/>
        </p:nvSpPr>
        <p:spPr>
          <a:xfrm>
            <a:off x="1051560" y="6272784"/>
            <a:ext cx="3657600" cy="274320"/>
          </a:xfrm>
          <a:prstGeom prst="rect">
            <a:avLst/>
          </a:prstGeom>
          <a:noFill/>
        </p:spPr>
        <p:txBody>
          <a:bodyPr wrap="square" lIns="0" rIns="0" tIns="0" bIns="0" anchor="t">
            <a:spAutoFit/>
          </a:bodyPr>
          <a:lstStyle/>
          <a:p>
            <a:pPr algn="l"/>
            <a:r>
              <a:rPr sz="1300" b="0" i="0">
                <a:solidFill>
                  <a:srgbClr val="6B7280"/>
                </a:solidFill>
                <a:latin typeface="Open Sans"/>
              </a:rPr>
              <a:t>Aditya Srivatsa</a:t>
            </a:r>
          </a:p>
        </p:txBody>
      </p:sp>
      <p:cxnSp>
        <p:nvCxnSpPr>
          <p:cNvPr id="7" name="Connector 6"/>
          <p:cNvCxnSpPr/>
          <p:nvPr/>
        </p:nvCxnSpPr>
        <p:spPr>
          <a:xfrm>
            <a:off x="1371600" y="2788920"/>
            <a:ext cx="9464040" cy="0"/>
          </a:xfrm>
          <a:prstGeom prst="line">
            <a:avLst/>
          </a:prstGeom>
          <a:ln w="50800">
            <a:solidFill>
              <a:srgbClr val="E5E7E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42416" y="2459736"/>
            <a:ext cx="658368" cy="658368"/>
          </a:xfrm>
          <a:prstGeom prst="ellipse">
            <a:avLst/>
          </a:prstGeom>
          <a:solidFill>
            <a:srgbClr val="3F8F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9" name="TextBox 8"/>
          <p:cNvSpPr txBox="1"/>
          <p:nvPr/>
        </p:nvSpPr>
        <p:spPr>
          <a:xfrm>
            <a:off x="1042416" y="2459736"/>
            <a:ext cx="658368" cy="658368"/>
          </a:xfrm>
          <a:prstGeom prst="rect">
            <a:avLst/>
          </a:prstGeom>
          <a:noFill/>
        </p:spPr>
        <p:txBody>
          <a:bodyPr wrap="square" lIns="0" rIns="0" tIns="0" bIns="0" anchor="ctr">
            <a:spAutoFit/>
          </a:bodyPr>
          <a:lstStyle/>
          <a:p>
            <a:pPr algn="ctr"/>
            <a:r>
              <a:rPr sz="1800" b="1" i="0">
                <a:solidFill>
                  <a:srgbClr val="FFFFFF"/>
                </a:solidFill>
                <a:latin typeface="Open Sans"/>
              </a:rPr>
              <a:t>01</a:t>
            </a:r>
          </a:p>
        </p:txBody>
      </p:sp>
      <p:sp>
        <p:nvSpPr>
          <p:cNvPr id="10" name="TextBox 9"/>
          <p:cNvSpPr txBox="1"/>
          <p:nvPr/>
        </p:nvSpPr>
        <p:spPr>
          <a:xfrm>
            <a:off x="365759" y="3355848"/>
            <a:ext cx="2011680" cy="640080"/>
          </a:xfrm>
          <a:prstGeom prst="rect">
            <a:avLst/>
          </a:prstGeom>
          <a:noFill/>
        </p:spPr>
        <p:txBody>
          <a:bodyPr wrap="square" lIns="0" rIns="0" tIns="0" bIns="0" anchor="t">
            <a:spAutoFit/>
          </a:bodyPr>
          <a:lstStyle/>
          <a:p>
            <a:pPr algn="ctr"/>
            <a:r>
              <a:rPr sz="1500" b="1" i="0">
                <a:solidFill>
                  <a:srgbClr val="111111"/>
                </a:solidFill>
                <a:latin typeface="Open Sans"/>
              </a:rPr>
              <a:t>Research &amp;</a:t>
            </a:r>
          </a:p>
          <a:p>
            <a:pPr algn="ctr"/>
            <a:r>
              <a:rPr sz="1500" b="1" i="0">
                <a:solidFill>
                  <a:srgbClr val="111111"/>
                </a:solidFill>
                <a:latin typeface="Open Sans"/>
              </a:rPr>
              <a:t>Planning</a:t>
            </a:r>
          </a:p>
        </p:txBody>
      </p:sp>
      <p:sp>
        <p:nvSpPr>
          <p:cNvPr id="11" name="TextBox 10"/>
          <p:cNvSpPr txBox="1"/>
          <p:nvPr/>
        </p:nvSpPr>
        <p:spPr>
          <a:xfrm>
            <a:off x="365759" y="3995928"/>
            <a:ext cx="2011680" cy="274320"/>
          </a:xfrm>
          <a:prstGeom prst="rect">
            <a:avLst/>
          </a:prstGeom>
          <a:noFill/>
        </p:spPr>
        <p:txBody>
          <a:bodyPr wrap="square" lIns="0" rIns="0" tIns="0" bIns="0" anchor="t">
            <a:spAutoFit/>
          </a:bodyPr>
          <a:lstStyle/>
          <a:p>
            <a:pPr algn="ctr"/>
            <a:r>
              <a:rPr sz="1100" b="0" i="0">
                <a:solidFill>
                  <a:srgbClr val="6B7280"/>
                </a:solidFill>
                <a:latin typeface="Open Sans"/>
              </a:rPr>
              <a:t>May 1 – Jul 30</a:t>
            </a:r>
          </a:p>
        </p:txBody>
      </p:sp>
      <p:sp>
        <p:nvSpPr>
          <p:cNvPr id="12" name="TextBox 11"/>
          <p:cNvSpPr txBox="1"/>
          <p:nvPr/>
        </p:nvSpPr>
        <p:spPr>
          <a:xfrm>
            <a:off x="365759" y="4251960"/>
            <a:ext cx="2011680" cy="274320"/>
          </a:xfrm>
          <a:prstGeom prst="rect">
            <a:avLst/>
          </a:prstGeom>
          <a:noFill/>
        </p:spPr>
        <p:txBody>
          <a:bodyPr wrap="square" lIns="0" rIns="0" tIns="0" bIns="0" anchor="t">
            <a:spAutoFit/>
          </a:bodyPr>
          <a:lstStyle/>
          <a:p>
            <a:pPr algn="ctr"/>
            <a:r>
              <a:rPr sz="1100" b="1" i="0">
                <a:solidFill>
                  <a:srgbClr val="3F8F5A"/>
                </a:solidFill>
                <a:latin typeface="Open Sans"/>
              </a:rPr>
              <a:t>complete</a:t>
            </a:r>
          </a:p>
        </p:txBody>
      </p:sp>
      <p:sp>
        <p:nvSpPr>
          <p:cNvPr id="13" name="Oval 12"/>
          <p:cNvSpPr/>
          <p:nvPr/>
        </p:nvSpPr>
        <p:spPr>
          <a:xfrm>
            <a:off x="3408426" y="2459736"/>
            <a:ext cx="658368" cy="658368"/>
          </a:xfrm>
          <a:prstGeom prst="ellipse">
            <a:avLst/>
          </a:prstGeom>
          <a:solidFill>
            <a:srgbClr val="4A7BB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4" name="TextBox 13"/>
          <p:cNvSpPr txBox="1"/>
          <p:nvPr/>
        </p:nvSpPr>
        <p:spPr>
          <a:xfrm>
            <a:off x="3408426" y="2459736"/>
            <a:ext cx="658368" cy="658368"/>
          </a:xfrm>
          <a:prstGeom prst="rect">
            <a:avLst/>
          </a:prstGeom>
          <a:noFill/>
        </p:spPr>
        <p:txBody>
          <a:bodyPr wrap="square" lIns="0" rIns="0" tIns="0" bIns="0" anchor="ctr">
            <a:spAutoFit/>
          </a:bodyPr>
          <a:lstStyle/>
          <a:p>
            <a:pPr algn="ctr"/>
            <a:r>
              <a:rPr sz="1800" b="1" i="0">
                <a:solidFill>
                  <a:srgbClr val="FFFFFF"/>
                </a:solidFill>
                <a:latin typeface="Open Sans"/>
              </a:rPr>
              <a:t>02</a:t>
            </a:r>
          </a:p>
        </p:txBody>
      </p:sp>
      <p:sp>
        <p:nvSpPr>
          <p:cNvPr id="15" name="TextBox 14"/>
          <p:cNvSpPr txBox="1"/>
          <p:nvPr/>
        </p:nvSpPr>
        <p:spPr>
          <a:xfrm>
            <a:off x="2731770" y="3355848"/>
            <a:ext cx="2011680" cy="640080"/>
          </a:xfrm>
          <a:prstGeom prst="rect">
            <a:avLst/>
          </a:prstGeom>
          <a:noFill/>
        </p:spPr>
        <p:txBody>
          <a:bodyPr wrap="square" lIns="0" rIns="0" tIns="0" bIns="0" anchor="t">
            <a:spAutoFit/>
          </a:bodyPr>
          <a:lstStyle/>
          <a:p>
            <a:pPr algn="ctr"/>
            <a:r>
              <a:rPr sz="1500" b="1" i="0">
                <a:solidFill>
                  <a:srgbClr val="111111"/>
                </a:solidFill>
                <a:latin typeface="Open Sans"/>
              </a:rPr>
              <a:t>Hardware</a:t>
            </a:r>
          </a:p>
          <a:p>
            <a:pPr algn="ctr"/>
            <a:r>
              <a:rPr sz="1500" b="1" i="0">
                <a:solidFill>
                  <a:srgbClr val="111111"/>
                </a:solidFill>
                <a:latin typeface="Open Sans"/>
              </a:rPr>
              <a:t>Dev</a:t>
            </a:r>
          </a:p>
        </p:txBody>
      </p:sp>
      <p:sp>
        <p:nvSpPr>
          <p:cNvPr id="16" name="TextBox 15"/>
          <p:cNvSpPr txBox="1"/>
          <p:nvPr/>
        </p:nvSpPr>
        <p:spPr>
          <a:xfrm>
            <a:off x="2731770" y="3995928"/>
            <a:ext cx="2011680" cy="274320"/>
          </a:xfrm>
          <a:prstGeom prst="rect">
            <a:avLst/>
          </a:prstGeom>
          <a:noFill/>
        </p:spPr>
        <p:txBody>
          <a:bodyPr wrap="square" lIns="0" rIns="0" tIns="0" bIns="0" anchor="t">
            <a:spAutoFit/>
          </a:bodyPr>
          <a:lstStyle/>
          <a:p>
            <a:pPr algn="ctr"/>
            <a:r>
              <a:rPr sz="1100" b="0" i="0">
                <a:solidFill>
                  <a:srgbClr val="6B7280"/>
                </a:solidFill>
                <a:latin typeface="Open Sans"/>
              </a:rPr>
              <a:t>Sep 16 – Oct 30</a:t>
            </a:r>
          </a:p>
        </p:txBody>
      </p:sp>
      <p:sp>
        <p:nvSpPr>
          <p:cNvPr id="17" name="TextBox 16"/>
          <p:cNvSpPr txBox="1"/>
          <p:nvPr/>
        </p:nvSpPr>
        <p:spPr>
          <a:xfrm>
            <a:off x="2731770" y="4251960"/>
            <a:ext cx="2011680" cy="274320"/>
          </a:xfrm>
          <a:prstGeom prst="rect">
            <a:avLst/>
          </a:prstGeom>
          <a:noFill/>
        </p:spPr>
        <p:txBody>
          <a:bodyPr wrap="square" lIns="0" rIns="0" tIns="0" bIns="0" anchor="t">
            <a:spAutoFit/>
          </a:bodyPr>
          <a:lstStyle/>
          <a:p>
            <a:pPr algn="ctr"/>
            <a:r>
              <a:rPr sz="1100" b="1" i="0">
                <a:solidFill>
                  <a:srgbClr val="4A7BB7"/>
                </a:solidFill>
                <a:latin typeface="Open Sans"/>
              </a:rPr>
              <a:t>in progress</a:t>
            </a:r>
          </a:p>
        </p:txBody>
      </p:sp>
      <p:sp>
        <p:nvSpPr>
          <p:cNvPr id="18" name="Oval 17"/>
          <p:cNvSpPr/>
          <p:nvPr/>
        </p:nvSpPr>
        <p:spPr>
          <a:xfrm>
            <a:off x="5774436" y="2459736"/>
            <a:ext cx="658368" cy="658368"/>
          </a:xfrm>
          <a:prstGeom prst="ellipse">
            <a:avLst/>
          </a:prstGeom>
          <a:solidFill>
            <a:srgbClr val="4A7BB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9" name="TextBox 18"/>
          <p:cNvSpPr txBox="1"/>
          <p:nvPr/>
        </p:nvSpPr>
        <p:spPr>
          <a:xfrm>
            <a:off x="5774436" y="2459736"/>
            <a:ext cx="658368" cy="658368"/>
          </a:xfrm>
          <a:prstGeom prst="rect">
            <a:avLst/>
          </a:prstGeom>
          <a:noFill/>
        </p:spPr>
        <p:txBody>
          <a:bodyPr wrap="square" lIns="0" rIns="0" tIns="0" bIns="0" anchor="ctr">
            <a:spAutoFit/>
          </a:bodyPr>
          <a:lstStyle/>
          <a:p>
            <a:pPr algn="ctr"/>
            <a:r>
              <a:rPr sz="1800" b="1" i="0">
                <a:solidFill>
                  <a:srgbClr val="FFFFFF"/>
                </a:solidFill>
                <a:latin typeface="Open Sans"/>
              </a:rPr>
              <a:t>03</a:t>
            </a:r>
          </a:p>
        </p:txBody>
      </p:sp>
      <p:sp>
        <p:nvSpPr>
          <p:cNvPr id="20" name="TextBox 19"/>
          <p:cNvSpPr txBox="1"/>
          <p:nvPr/>
        </p:nvSpPr>
        <p:spPr>
          <a:xfrm>
            <a:off x="5097780" y="3355848"/>
            <a:ext cx="2011680" cy="640080"/>
          </a:xfrm>
          <a:prstGeom prst="rect">
            <a:avLst/>
          </a:prstGeom>
          <a:noFill/>
        </p:spPr>
        <p:txBody>
          <a:bodyPr wrap="square" lIns="0" rIns="0" tIns="0" bIns="0" anchor="t">
            <a:spAutoFit/>
          </a:bodyPr>
          <a:lstStyle/>
          <a:p>
            <a:pPr algn="ctr"/>
            <a:r>
              <a:rPr sz="1500" b="1" i="0">
                <a:solidFill>
                  <a:srgbClr val="111111"/>
                </a:solidFill>
                <a:latin typeface="Open Sans"/>
              </a:rPr>
              <a:t>Software</a:t>
            </a:r>
          </a:p>
          <a:p>
            <a:pPr algn="ctr"/>
            <a:r>
              <a:rPr sz="1500" b="1" i="0">
                <a:solidFill>
                  <a:srgbClr val="111111"/>
                </a:solidFill>
                <a:latin typeface="Open Sans"/>
              </a:rPr>
              <a:t>&amp; Sim</a:t>
            </a:r>
          </a:p>
        </p:txBody>
      </p:sp>
      <p:sp>
        <p:nvSpPr>
          <p:cNvPr id="21" name="TextBox 20"/>
          <p:cNvSpPr txBox="1"/>
          <p:nvPr/>
        </p:nvSpPr>
        <p:spPr>
          <a:xfrm>
            <a:off x="5097780" y="3995928"/>
            <a:ext cx="2011680" cy="274320"/>
          </a:xfrm>
          <a:prstGeom prst="rect">
            <a:avLst/>
          </a:prstGeom>
          <a:noFill/>
        </p:spPr>
        <p:txBody>
          <a:bodyPr wrap="square" lIns="0" rIns="0" tIns="0" bIns="0" anchor="t">
            <a:spAutoFit/>
          </a:bodyPr>
          <a:lstStyle/>
          <a:p>
            <a:pPr algn="ctr"/>
            <a:r>
              <a:rPr sz="1100" b="0" i="0">
                <a:solidFill>
                  <a:srgbClr val="6B7280"/>
                </a:solidFill>
                <a:latin typeface="Open Sans"/>
              </a:rPr>
              <a:t>Sep 1 – Nov 15</a:t>
            </a:r>
          </a:p>
        </p:txBody>
      </p:sp>
      <p:sp>
        <p:nvSpPr>
          <p:cNvPr id="22" name="TextBox 21"/>
          <p:cNvSpPr txBox="1"/>
          <p:nvPr/>
        </p:nvSpPr>
        <p:spPr>
          <a:xfrm>
            <a:off x="5097780" y="4251960"/>
            <a:ext cx="2011680" cy="274320"/>
          </a:xfrm>
          <a:prstGeom prst="rect">
            <a:avLst/>
          </a:prstGeom>
          <a:noFill/>
        </p:spPr>
        <p:txBody>
          <a:bodyPr wrap="square" lIns="0" rIns="0" tIns="0" bIns="0" anchor="t">
            <a:spAutoFit/>
          </a:bodyPr>
          <a:lstStyle/>
          <a:p>
            <a:pPr algn="ctr"/>
            <a:r>
              <a:rPr sz="1100" b="1" i="0">
                <a:solidFill>
                  <a:srgbClr val="4A7BB7"/>
                </a:solidFill>
                <a:latin typeface="Open Sans"/>
              </a:rPr>
              <a:t>in progress</a:t>
            </a:r>
          </a:p>
        </p:txBody>
      </p:sp>
      <p:sp>
        <p:nvSpPr>
          <p:cNvPr id="23" name="Oval 22"/>
          <p:cNvSpPr/>
          <p:nvPr/>
        </p:nvSpPr>
        <p:spPr>
          <a:xfrm>
            <a:off x="8012430" y="2331720"/>
            <a:ext cx="914400" cy="914400"/>
          </a:xfrm>
          <a:prstGeom prst="ellipse">
            <a:avLst/>
          </a:prstGeom>
          <a:solidFill>
            <a:srgbClr val="FBEDE3"/>
          </a:solidFill>
          <a:ln w="2540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4" name="Oval 23"/>
          <p:cNvSpPr/>
          <p:nvPr/>
        </p:nvSpPr>
        <p:spPr>
          <a:xfrm>
            <a:off x="8140446" y="2459736"/>
            <a:ext cx="658368" cy="658368"/>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5" name="TextBox 24"/>
          <p:cNvSpPr txBox="1"/>
          <p:nvPr/>
        </p:nvSpPr>
        <p:spPr>
          <a:xfrm>
            <a:off x="8140446" y="2459736"/>
            <a:ext cx="658368" cy="658368"/>
          </a:xfrm>
          <a:prstGeom prst="rect">
            <a:avLst/>
          </a:prstGeom>
          <a:noFill/>
        </p:spPr>
        <p:txBody>
          <a:bodyPr wrap="square" lIns="0" rIns="0" tIns="0" bIns="0" anchor="ctr">
            <a:spAutoFit/>
          </a:bodyPr>
          <a:lstStyle/>
          <a:p>
            <a:pPr algn="ctr"/>
            <a:r>
              <a:rPr sz="1800" b="1" i="0">
                <a:solidFill>
                  <a:srgbClr val="FFFFFF"/>
                </a:solidFill>
                <a:latin typeface="Open Sans"/>
              </a:rPr>
              <a:t>04</a:t>
            </a:r>
          </a:p>
        </p:txBody>
      </p:sp>
      <p:sp>
        <p:nvSpPr>
          <p:cNvPr id="26" name="TextBox 25"/>
          <p:cNvSpPr txBox="1"/>
          <p:nvPr/>
        </p:nvSpPr>
        <p:spPr>
          <a:xfrm>
            <a:off x="7463790" y="3355848"/>
            <a:ext cx="2011680" cy="640080"/>
          </a:xfrm>
          <a:prstGeom prst="rect">
            <a:avLst/>
          </a:prstGeom>
          <a:noFill/>
        </p:spPr>
        <p:txBody>
          <a:bodyPr wrap="square" lIns="0" rIns="0" tIns="0" bIns="0" anchor="t">
            <a:spAutoFit/>
          </a:bodyPr>
          <a:lstStyle/>
          <a:p>
            <a:pPr algn="ctr"/>
            <a:r>
              <a:rPr sz="1500" b="1" i="0">
                <a:solidFill>
                  <a:srgbClr val="111111"/>
                </a:solidFill>
                <a:latin typeface="Open Sans"/>
              </a:rPr>
              <a:t>Integration</a:t>
            </a:r>
          </a:p>
          <a:p>
            <a:pPr algn="ctr"/>
            <a:r>
              <a:rPr sz="1500" b="1" i="0">
                <a:solidFill>
                  <a:srgbClr val="111111"/>
                </a:solidFill>
                <a:latin typeface="Open Sans"/>
              </a:rPr>
              <a:t>&amp; Testing</a:t>
            </a:r>
          </a:p>
        </p:txBody>
      </p:sp>
      <p:sp>
        <p:nvSpPr>
          <p:cNvPr id="27" name="TextBox 26"/>
          <p:cNvSpPr txBox="1"/>
          <p:nvPr/>
        </p:nvSpPr>
        <p:spPr>
          <a:xfrm>
            <a:off x="7463790" y="3995928"/>
            <a:ext cx="2011680" cy="274320"/>
          </a:xfrm>
          <a:prstGeom prst="rect">
            <a:avLst/>
          </a:prstGeom>
          <a:noFill/>
        </p:spPr>
        <p:txBody>
          <a:bodyPr wrap="square" lIns="0" rIns="0" tIns="0" bIns="0" anchor="t">
            <a:spAutoFit/>
          </a:bodyPr>
          <a:lstStyle/>
          <a:p>
            <a:pPr algn="ctr"/>
            <a:r>
              <a:rPr sz="1100" b="0" i="0">
                <a:solidFill>
                  <a:srgbClr val="6B7280"/>
                </a:solidFill>
                <a:latin typeface="Open Sans"/>
              </a:rPr>
              <a:t>Nov 16 – Dec 31</a:t>
            </a:r>
          </a:p>
        </p:txBody>
      </p:sp>
      <p:sp>
        <p:nvSpPr>
          <p:cNvPr id="28" name="TextBox 27"/>
          <p:cNvSpPr txBox="1"/>
          <p:nvPr/>
        </p:nvSpPr>
        <p:spPr>
          <a:xfrm>
            <a:off x="7463790" y="4251960"/>
            <a:ext cx="2011680" cy="274320"/>
          </a:xfrm>
          <a:prstGeom prst="rect">
            <a:avLst/>
          </a:prstGeom>
          <a:noFill/>
        </p:spPr>
        <p:txBody>
          <a:bodyPr wrap="square" lIns="0" rIns="0" tIns="0" bIns="0" anchor="t">
            <a:spAutoFit/>
          </a:bodyPr>
          <a:lstStyle/>
          <a:p>
            <a:pPr algn="ctr"/>
            <a:r>
              <a:rPr sz="1100" b="1" i="0">
                <a:solidFill>
                  <a:srgbClr val="E2783A"/>
                </a:solidFill>
                <a:latin typeface="Open Sans"/>
              </a:rPr>
              <a:t>WE ARE HERE</a:t>
            </a:r>
          </a:p>
        </p:txBody>
      </p:sp>
      <p:sp>
        <p:nvSpPr>
          <p:cNvPr id="29" name="Oval 28"/>
          <p:cNvSpPr/>
          <p:nvPr/>
        </p:nvSpPr>
        <p:spPr>
          <a:xfrm>
            <a:off x="10506456" y="2459736"/>
            <a:ext cx="658368" cy="658368"/>
          </a:xfrm>
          <a:prstGeom prst="ellipse">
            <a:avLst/>
          </a:prstGeom>
          <a:solidFill>
            <a:srgbClr val="FFFFFF"/>
          </a:solidFill>
          <a:ln w="317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0" name="TextBox 29"/>
          <p:cNvSpPr txBox="1"/>
          <p:nvPr/>
        </p:nvSpPr>
        <p:spPr>
          <a:xfrm>
            <a:off x="10506456" y="2459736"/>
            <a:ext cx="658368" cy="658368"/>
          </a:xfrm>
          <a:prstGeom prst="rect">
            <a:avLst/>
          </a:prstGeom>
          <a:noFill/>
        </p:spPr>
        <p:txBody>
          <a:bodyPr wrap="square" lIns="0" rIns="0" tIns="0" bIns="0" anchor="ctr">
            <a:spAutoFit/>
          </a:bodyPr>
          <a:lstStyle/>
          <a:p>
            <a:pPr algn="ctr"/>
            <a:r>
              <a:rPr sz="1800" b="1" i="0">
                <a:solidFill>
                  <a:srgbClr val="6B7280"/>
                </a:solidFill>
                <a:latin typeface="Open Sans"/>
              </a:rPr>
              <a:t>05</a:t>
            </a:r>
          </a:p>
        </p:txBody>
      </p:sp>
      <p:sp>
        <p:nvSpPr>
          <p:cNvPr id="31" name="TextBox 30"/>
          <p:cNvSpPr txBox="1"/>
          <p:nvPr/>
        </p:nvSpPr>
        <p:spPr>
          <a:xfrm>
            <a:off x="9829800" y="3355848"/>
            <a:ext cx="2011680" cy="640080"/>
          </a:xfrm>
          <a:prstGeom prst="rect">
            <a:avLst/>
          </a:prstGeom>
          <a:noFill/>
        </p:spPr>
        <p:txBody>
          <a:bodyPr wrap="square" lIns="0" rIns="0" tIns="0" bIns="0" anchor="t">
            <a:spAutoFit/>
          </a:bodyPr>
          <a:lstStyle/>
          <a:p>
            <a:pPr algn="ctr"/>
            <a:r>
              <a:rPr sz="1500" b="1" i="0">
                <a:solidFill>
                  <a:srgbClr val="111111"/>
                </a:solidFill>
                <a:latin typeface="Open Sans"/>
              </a:rPr>
              <a:t>Finalization</a:t>
            </a:r>
          </a:p>
        </p:txBody>
      </p:sp>
      <p:sp>
        <p:nvSpPr>
          <p:cNvPr id="32" name="TextBox 31"/>
          <p:cNvSpPr txBox="1"/>
          <p:nvPr/>
        </p:nvSpPr>
        <p:spPr>
          <a:xfrm>
            <a:off x="9829800" y="3995928"/>
            <a:ext cx="2011680" cy="274320"/>
          </a:xfrm>
          <a:prstGeom prst="rect">
            <a:avLst/>
          </a:prstGeom>
          <a:noFill/>
        </p:spPr>
        <p:txBody>
          <a:bodyPr wrap="square" lIns="0" rIns="0" tIns="0" bIns="0" anchor="t">
            <a:spAutoFit/>
          </a:bodyPr>
          <a:lstStyle/>
          <a:p>
            <a:pPr algn="ctr"/>
            <a:r>
              <a:rPr sz="1100" b="0" i="0">
                <a:solidFill>
                  <a:srgbClr val="6B7280"/>
                </a:solidFill>
                <a:latin typeface="Open Sans"/>
              </a:rPr>
              <a:t>Jan 1 – Jan 30</a:t>
            </a:r>
          </a:p>
        </p:txBody>
      </p:sp>
      <p:sp>
        <p:nvSpPr>
          <p:cNvPr id="33" name="TextBox 32"/>
          <p:cNvSpPr txBox="1"/>
          <p:nvPr/>
        </p:nvSpPr>
        <p:spPr>
          <a:xfrm>
            <a:off x="9829800" y="4251960"/>
            <a:ext cx="2011680" cy="274320"/>
          </a:xfrm>
          <a:prstGeom prst="rect">
            <a:avLst/>
          </a:prstGeom>
          <a:noFill/>
        </p:spPr>
        <p:txBody>
          <a:bodyPr wrap="square" lIns="0" rIns="0" tIns="0" bIns="0" anchor="t">
            <a:spAutoFit/>
          </a:bodyPr>
          <a:lstStyle/>
          <a:p>
            <a:pPr algn="ctr"/>
            <a:r>
              <a:rPr sz="1100" b="1" i="0">
                <a:solidFill>
                  <a:srgbClr val="6B7280"/>
                </a:solidFill>
                <a:latin typeface="Open Sans"/>
              </a:rPr>
              <a:t>upcoming</a:t>
            </a:r>
          </a:p>
        </p:txBody>
      </p:sp>
      <p:sp>
        <p:nvSpPr>
          <p:cNvPr id="34" name="Rounded Rectangle 33"/>
          <p:cNvSpPr/>
          <p:nvPr/>
        </p:nvSpPr>
        <p:spPr>
          <a:xfrm>
            <a:off x="822960" y="4800600"/>
            <a:ext cx="2468880" cy="1097280"/>
          </a:xfrm>
          <a:prstGeom prst="roundRect">
            <a:avLst>
              <a:gd name="adj" fmla="val 125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5" name="TextBox 34"/>
          <p:cNvSpPr txBox="1"/>
          <p:nvPr/>
        </p:nvSpPr>
        <p:spPr>
          <a:xfrm>
            <a:off x="1051560" y="4873752"/>
            <a:ext cx="914400" cy="685800"/>
          </a:xfrm>
          <a:prstGeom prst="rect">
            <a:avLst/>
          </a:prstGeom>
          <a:noFill/>
        </p:spPr>
        <p:txBody>
          <a:bodyPr wrap="square" lIns="0" rIns="0" tIns="0" bIns="0" anchor="t">
            <a:spAutoFit/>
          </a:bodyPr>
          <a:lstStyle/>
          <a:p>
            <a:pPr algn="l"/>
            <a:r>
              <a:rPr sz="3600" b="1" i="0">
                <a:solidFill>
                  <a:srgbClr val="3F8F5A"/>
                </a:solidFill>
                <a:latin typeface="Open Sans"/>
              </a:rPr>
              <a:t>6</a:t>
            </a:r>
          </a:p>
        </p:txBody>
      </p:sp>
      <p:sp>
        <p:nvSpPr>
          <p:cNvPr id="36" name="TextBox 35"/>
          <p:cNvSpPr txBox="1"/>
          <p:nvPr/>
        </p:nvSpPr>
        <p:spPr>
          <a:xfrm>
            <a:off x="1920240" y="5074920"/>
            <a:ext cx="1234440" cy="548640"/>
          </a:xfrm>
          <a:prstGeom prst="rect">
            <a:avLst/>
          </a:prstGeom>
          <a:noFill/>
        </p:spPr>
        <p:txBody>
          <a:bodyPr wrap="square" lIns="0" rIns="0" tIns="0" bIns="0" anchor="ctr">
            <a:spAutoFit/>
          </a:bodyPr>
          <a:lstStyle/>
          <a:p>
            <a:pPr algn="l"/>
            <a:r>
              <a:rPr sz="1300" b="1" i="0">
                <a:solidFill>
                  <a:srgbClr val="111111"/>
                </a:solidFill>
                <a:latin typeface="Open Sans"/>
              </a:rPr>
              <a:t>tasks done</a:t>
            </a:r>
          </a:p>
        </p:txBody>
      </p:sp>
      <p:sp>
        <p:nvSpPr>
          <p:cNvPr id="37" name="Rounded Rectangle 36"/>
          <p:cNvSpPr/>
          <p:nvPr/>
        </p:nvSpPr>
        <p:spPr>
          <a:xfrm>
            <a:off x="3520440" y="4800600"/>
            <a:ext cx="2468880" cy="1097280"/>
          </a:xfrm>
          <a:prstGeom prst="roundRect">
            <a:avLst>
              <a:gd name="adj" fmla="val 125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8" name="TextBox 37"/>
          <p:cNvSpPr txBox="1"/>
          <p:nvPr/>
        </p:nvSpPr>
        <p:spPr>
          <a:xfrm>
            <a:off x="3749039" y="4873752"/>
            <a:ext cx="914400" cy="685800"/>
          </a:xfrm>
          <a:prstGeom prst="rect">
            <a:avLst/>
          </a:prstGeom>
          <a:noFill/>
        </p:spPr>
        <p:txBody>
          <a:bodyPr wrap="square" lIns="0" rIns="0" tIns="0" bIns="0" anchor="t">
            <a:spAutoFit/>
          </a:bodyPr>
          <a:lstStyle/>
          <a:p>
            <a:pPr algn="l"/>
            <a:r>
              <a:rPr sz="3600" b="1" i="0">
                <a:solidFill>
                  <a:srgbClr val="4A7BB7"/>
                </a:solidFill>
                <a:latin typeface="Open Sans"/>
              </a:rPr>
              <a:t>7</a:t>
            </a:r>
          </a:p>
        </p:txBody>
      </p:sp>
      <p:sp>
        <p:nvSpPr>
          <p:cNvPr id="39" name="TextBox 38"/>
          <p:cNvSpPr txBox="1"/>
          <p:nvPr/>
        </p:nvSpPr>
        <p:spPr>
          <a:xfrm>
            <a:off x="4617720" y="5074920"/>
            <a:ext cx="1234440" cy="548640"/>
          </a:xfrm>
          <a:prstGeom prst="rect">
            <a:avLst/>
          </a:prstGeom>
          <a:noFill/>
        </p:spPr>
        <p:txBody>
          <a:bodyPr wrap="square" lIns="0" rIns="0" tIns="0" bIns="0" anchor="ctr">
            <a:spAutoFit/>
          </a:bodyPr>
          <a:lstStyle/>
          <a:p>
            <a:pPr algn="l"/>
            <a:r>
              <a:rPr sz="1300" b="1" i="0">
                <a:solidFill>
                  <a:srgbClr val="111111"/>
                </a:solidFill>
                <a:latin typeface="Open Sans"/>
              </a:rPr>
              <a:t>in progress</a:t>
            </a:r>
          </a:p>
        </p:txBody>
      </p:sp>
      <p:sp>
        <p:nvSpPr>
          <p:cNvPr id="40" name="Rounded Rectangle 39"/>
          <p:cNvSpPr/>
          <p:nvPr/>
        </p:nvSpPr>
        <p:spPr>
          <a:xfrm>
            <a:off x="6217920" y="4800600"/>
            <a:ext cx="2468880" cy="1097280"/>
          </a:xfrm>
          <a:prstGeom prst="roundRect">
            <a:avLst>
              <a:gd name="adj" fmla="val 125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1" name="TextBox 40"/>
          <p:cNvSpPr txBox="1"/>
          <p:nvPr/>
        </p:nvSpPr>
        <p:spPr>
          <a:xfrm>
            <a:off x="6446520" y="4873752"/>
            <a:ext cx="914400" cy="685800"/>
          </a:xfrm>
          <a:prstGeom prst="rect">
            <a:avLst/>
          </a:prstGeom>
          <a:noFill/>
        </p:spPr>
        <p:txBody>
          <a:bodyPr wrap="square" lIns="0" rIns="0" tIns="0" bIns="0" anchor="t">
            <a:spAutoFit/>
          </a:bodyPr>
          <a:lstStyle/>
          <a:p>
            <a:pPr algn="l"/>
            <a:r>
              <a:rPr sz="3600" b="1" i="0">
                <a:solidFill>
                  <a:srgbClr val="6B7280"/>
                </a:solidFill>
                <a:latin typeface="Open Sans"/>
              </a:rPr>
              <a:t>8</a:t>
            </a:r>
          </a:p>
        </p:txBody>
      </p:sp>
      <p:sp>
        <p:nvSpPr>
          <p:cNvPr id="42" name="TextBox 41"/>
          <p:cNvSpPr txBox="1"/>
          <p:nvPr/>
        </p:nvSpPr>
        <p:spPr>
          <a:xfrm>
            <a:off x="7315200" y="5074920"/>
            <a:ext cx="1234440" cy="548640"/>
          </a:xfrm>
          <a:prstGeom prst="rect">
            <a:avLst/>
          </a:prstGeom>
          <a:noFill/>
        </p:spPr>
        <p:txBody>
          <a:bodyPr wrap="square" lIns="0" rIns="0" tIns="0" bIns="0" anchor="ctr">
            <a:spAutoFit/>
          </a:bodyPr>
          <a:lstStyle/>
          <a:p>
            <a:pPr algn="l"/>
            <a:r>
              <a:rPr sz="1300" b="1" i="0">
                <a:solidFill>
                  <a:srgbClr val="111111"/>
                </a:solidFill>
                <a:latin typeface="Open Sans"/>
              </a:rPr>
              <a:t>not started</a:t>
            </a:r>
          </a:p>
        </p:txBody>
      </p:sp>
      <p:sp>
        <p:nvSpPr>
          <p:cNvPr id="43" name="Rounded Rectangle 42"/>
          <p:cNvSpPr/>
          <p:nvPr/>
        </p:nvSpPr>
        <p:spPr>
          <a:xfrm>
            <a:off x="8915400" y="4800600"/>
            <a:ext cx="2468880" cy="1097280"/>
          </a:xfrm>
          <a:prstGeom prst="roundRect">
            <a:avLst>
              <a:gd name="adj" fmla="val 125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4" name="TextBox 43"/>
          <p:cNvSpPr txBox="1"/>
          <p:nvPr/>
        </p:nvSpPr>
        <p:spPr>
          <a:xfrm>
            <a:off x="9144000" y="4873752"/>
            <a:ext cx="914400" cy="685800"/>
          </a:xfrm>
          <a:prstGeom prst="rect">
            <a:avLst/>
          </a:prstGeom>
          <a:noFill/>
        </p:spPr>
        <p:txBody>
          <a:bodyPr wrap="square" lIns="0" rIns="0" tIns="0" bIns="0" anchor="t">
            <a:spAutoFit/>
          </a:bodyPr>
          <a:lstStyle/>
          <a:p>
            <a:pPr algn="l"/>
            <a:r>
              <a:rPr sz="3600" b="1" i="0">
                <a:solidFill>
                  <a:srgbClr val="E2783A"/>
                </a:solidFill>
                <a:latin typeface="Open Sans"/>
              </a:rPr>
              <a:t>+6</a:t>
            </a:r>
          </a:p>
        </p:txBody>
      </p:sp>
      <p:sp>
        <p:nvSpPr>
          <p:cNvPr id="45" name="TextBox 44"/>
          <p:cNvSpPr txBox="1"/>
          <p:nvPr/>
        </p:nvSpPr>
        <p:spPr>
          <a:xfrm>
            <a:off x="10012680" y="5074920"/>
            <a:ext cx="1234440" cy="548640"/>
          </a:xfrm>
          <a:prstGeom prst="rect">
            <a:avLst/>
          </a:prstGeom>
          <a:noFill/>
        </p:spPr>
        <p:txBody>
          <a:bodyPr wrap="square" lIns="0" rIns="0" tIns="0" bIns="0" anchor="ctr">
            <a:spAutoFit/>
          </a:bodyPr>
          <a:lstStyle/>
          <a:p>
            <a:pPr algn="l"/>
            <a:r>
              <a:rPr sz="1300" b="1" i="0">
                <a:solidFill>
                  <a:srgbClr val="111111"/>
                </a:solidFill>
                <a:latin typeface="Open Sans"/>
              </a:rPr>
              <a:t>new results not yet on the board</a:t>
            </a:r>
          </a:p>
        </p:txBody>
      </p:sp>
      <p:sp>
        <p:nvSpPr>
          <p:cNvPr id="46" name="TextBox 45"/>
          <p:cNvSpPr txBox="1"/>
          <p:nvPr/>
        </p:nvSpPr>
        <p:spPr>
          <a:xfrm>
            <a:off x="822960" y="5943600"/>
            <a:ext cx="10058400" cy="228600"/>
          </a:xfrm>
          <a:prstGeom prst="rect">
            <a:avLst/>
          </a:prstGeom>
          <a:noFill/>
        </p:spPr>
        <p:txBody>
          <a:bodyPr wrap="square" lIns="0" rIns="0" tIns="0" bIns="0" anchor="t">
            <a:spAutoFit/>
          </a:bodyPr>
          <a:lstStyle/>
          <a:p>
            <a:pPr algn="l"/>
            <a:r>
              <a:rPr sz="1000" b="0" i="1">
                <a:solidFill>
                  <a:srgbClr val="6B7280"/>
                </a:solidFill>
                <a:latin typeface="Open Sans"/>
              </a:rPr>
              <a:t>Counts from our Miro Kanban board · “new results” = simulation work shown on slide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502920"/>
            <a:ext cx="9875520" cy="731520"/>
          </a:xfrm>
          <a:prstGeom prst="rect">
            <a:avLst/>
          </a:prstGeom>
          <a:noFill/>
        </p:spPr>
        <p:txBody>
          <a:bodyPr wrap="square" lIns="0" rIns="0" tIns="0" bIns="0" anchor="t">
            <a:spAutoFit/>
          </a:bodyPr>
          <a:lstStyle/>
          <a:p>
            <a:pPr algn="l"/>
            <a:r>
              <a:rPr sz="3600" b="1" i="0">
                <a:solidFill>
                  <a:srgbClr val="111111"/>
                </a:solidFill>
                <a:latin typeface="Open Sans"/>
              </a:rPr>
              <a:t>How far we came</a:t>
            </a:r>
          </a:p>
        </p:txBody>
      </p:sp>
      <p:sp>
        <p:nvSpPr>
          <p:cNvPr id="3" name="Subtitle"/>
          <p:cNvSpPr txBox="1"/>
          <p:nvPr/>
        </p:nvSpPr>
        <p:spPr>
          <a:xfrm>
            <a:off x="704088" y="1207008"/>
            <a:ext cx="9875520" cy="365760"/>
          </a:xfrm>
          <a:prstGeom prst="rect">
            <a:avLst/>
          </a:prstGeom>
          <a:noFill/>
        </p:spPr>
        <p:txBody>
          <a:bodyPr wrap="square" lIns="0" rIns="0" tIns="0" bIns="0" anchor="t">
            <a:spAutoFit/>
          </a:bodyPr>
          <a:lstStyle/>
          <a:p>
            <a:pPr algn="l"/>
            <a:r>
              <a:rPr sz="1600" b="0" i="0">
                <a:solidFill>
                  <a:srgbClr val="6B7280"/>
                </a:solidFill>
                <a:latin typeface="Open Sans"/>
              </a:rPr>
              <a:t>Phases 1 – 3: what is finished and what is running</a:t>
            </a:r>
          </a:p>
        </p:txBody>
      </p:sp>
      <p:sp>
        <p:nvSpPr>
          <p:cNvPr id="4" name="Logo"/>
          <p:cNvSpPr txBox="1"/>
          <p:nvPr/>
        </p:nvSpPr>
        <p:spPr>
          <a:xfrm>
            <a:off x="10058400" y="502920"/>
            <a:ext cx="1463040" cy="548640"/>
          </a:xfrm>
          <a:prstGeom prst="rect">
            <a:avLst/>
          </a:prstGeom>
          <a:noFill/>
        </p:spPr>
        <p:txBody>
          <a:bodyPr wrap="square" lIns="0" rIns="0" tIns="0" bIns="0" anchor="t">
            <a:spAutoFit/>
          </a:bodyPr>
          <a:lstStyle/>
          <a:p>
            <a:pPr algn="r"/>
            <a:r>
              <a:rPr sz="2800" b="1" i="0">
                <a:solidFill>
                  <a:srgbClr val="E2783A"/>
                </a:solidFill>
                <a:latin typeface="Open Sans"/>
              </a:rPr>
              <a:t>thws</a:t>
            </a:r>
          </a:p>
        </p:txBody>
      </p:sp>
      <p:sp>
        <p:nvSpPr>
          <p:cNvPr id="5" name="Oval 4"/>
          <p:cNvSpPr/>
          <p:nvPr/>
        </p:nvSpPr>
        <p:spPr>
          <a:xfrm>
            <a:off x="704088" y="6281928"/>
            <a:ext cx="237744" cy="237744"/>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 name="Presenter"/>
          <p:cNvSpPr txBox="1"/>
          <p:nvPr/>
        </p:nvSpPr>
        <p:spPr>
          <a:xfrm>
            <a:off x="1051560" y="6272784"/>
            <a:ext cx="3657600" cy="274320"/>
          </a:xfrm>
          <a:prstGeom prst="rect">
            <a:avLst/>
          </a:prstGeom>
          <a:noFill/>
        </p:spPr>
        <p:txBody>
          <a:bodyPr wrap="square" lIns="0" rIns="0" tIns="0" bIns="0" anchor="t">
            <a:spAutoFit/>
          </a:bodyPr>
          <a:lstStyle/>
          <a:p>
            <a:pPr algn="l"/>
            <a:r>
              <a:rPr sz="1300" b="0" i="0">
                <a:solidFill>
                  <a:srgbClr val="6B7280"/>
                </a:solidFill>
                <a:latin typeface="Open Sans"/>
              </a:rPr>
              <a:t>Aditya Srivatsa</a:t>
            </a:r>
          </a:p>
        </p:txBody>
      </p:sp>
      <p:sp>
        <p:nvSpPr>
          <p:cNvPr id="7" name="Done card"/>
          <p:cNvSpPr/>
          <p:nvPr/>
        </p:nvSpPr>
        <p:spPr>
          <a:xfrm>
            <a:off x="685800" y="1828800"/>
            <a:ext cx="5394960" cy="4343400"/>
          </a:xfrm>
          <a:prstGeom prst="roundRect">
            <a:avLst>
              <a:gd name="adj" fmla="val 2526"/>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Oval 7"/>
          <p:cNvSpPr/>
          <p:nvPr/>
        </p:nvSpPr>
        <p:spPr>
          <a:xfrm>
            <a:off x="877824" y="2020824"/>
            <a:ext cx="438912" cy="438912"/>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Open Sans"/>
              </a:rPr>
              <a:t>1</a:t>
            </a:r>
          </a:p>
        </p:txBody>
      </p:sp>
      <p:sp>
        <p:nvSpPr>
          <p:cNvPr id="9" name="TextBox 8"/>
          <p:cNvSpPr txBox="1"/>
          <p:nvPr/>
        </p:nvSpPr>
        <p:spPr>
          <a:xfrm>
            <a:off x="1463040" y="2075688"/>
            <a:ext cx="6400800" cy="365760"/>
          </a:xfrm>
          <a:prstGeom prst="rect">
            <a:avLst/>
          </a:prstGeom>
          <a:noFill/>
        </p:spPr>
        <p:txBody>
          <a:bodyPr wrap="square" lIns="0" rIns="0" tIns="0" bIns="0" anchor="t">
            <a:spAutoFit/>
          </a:bodyPr>
          <a:lstStyle/>
          <a:p>
            <a:pPr algn="l"/>
            <a:r>
              <a:rPr sz="2000" b="1" i="0">
                <a:solidFill>
                  <a:srgbClr val="111111"/>
                </a:solidFill>
                <a:latin typeface="Open Sans"/>
              </a:rPr>
              <a:t>Completed</a:t>
            </a:r>
          </a:p>
        </p:txBody>
      </p:sp>
      <p:sp>
        <p:nvSpPr>
          <p:cNvPr id="10" name="Rounded Rectangle 9"/>
          <p:cNvSpPr/>
          <p:nvPr/>
        </p:nvSpPr>
        <p:spPr>
          <a:xfrm>
            <a:off x="914400" y="2606040"/>
            <a:ext cx="493776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1" name="TextBox 10"/>
          <p:cNvSpPr txBox="1"/>
          <p:nvPr/>
        </p:nvSpPr>
        <p:spPr>
          <a:xfrm>
            <a:off x="1078992" y="2670048"/>
            <a:ext cx="3474720" cy="228600"/>
          </a:xfrm>
          <a:prstGeom prst="rect">
            <a:avLst/>
          </a:prstGeom>
          <a:noFill/>
        </p:spPr>
        <p:txBody>
          <a:bodyPr wrap="square" lIns="0" rIns="0" tIns="0" bIns="0" anchor="t">
            <a:spAutoFit/>
          </a:bodyPr>
          <a:lstStyle/>
          <a:p>
            <a:pPr algn="l"/>
            <a:r>
              <a:rPr sz="1300" b="1" i="0">
                <a:solidFill>
                  <a:srgbClr val="111111"/>
                </a:solidFill>
                <a:latin typeface="Open Sans"/>
              </a:rPr>
              <a:t>Research on architecture &amp; final choice</a:t>
            </a:r>
          </a:p>
        </p:txBody>
      </p:sp>
      <p:sp>
        <p:nvSpPr>
          <p:cNvPr id="12" name="TextBox 11"/>
          <p:cNvSpPr txBox="1"/>
          <p:nvPr/>
        </p:nvSpPr>
        <p:spPr>
          <a:xfrm>
            <a:off x="1078992" y="2834640"/>
            <a:ext cx="3474720" cy="182880"/>
          </a:xfrm>
          <a:prstGeom prst="rect">
            <a:avLst/>
          </a:prstGeom>
          <a:noFill/>
        </p:spPr>
        <p:txBody>
          <a:bodyPr wrap="square" lIns="0" rIns="0" tIns="0" bIns="0" anchor="t">
            <a:spAutoFit/>
          </a:bodyPr>
          <a:lstStyle/>
          <a:p>
            <a:pPr algn="l"/>
            <a:r>
              <a:rPr sz="1000" b="0" i="0">
                <a:solidFill>
                  <a:srgbClr val="6B7280"/>
                </a:solidFill>
                <a:latin typeface="Open Sans"/>
              </a:rPr>
              <a:t>All</a:t>
            </a:r>
          </a:p>
        </p:txBody>
      </p:sp>
      <p:sp>
        <p:nvSpPr>
          <p:cNvPr id="13" name="Rounded Rectangle 12"/>
          <p:cNvSpPr/>
          <p:nvPr/>
        </p:nvSpPr>
        <p:spPr>
          <a:xfrm>
            <a:off x="4663440" y="2724912"/>
            <a:ext cx="1051560" cy="256032"/>
          </a:xfrm>
          <a:prstGeom prst="roundRect">
            <a:avLst>
              <a:gd name="adj" fmla="val 5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4" name="TextBox 13"/>
          <p:cNvSpPr txBox="1"/>
          <p:nvPr/>
        </p:nvSpPr>
        <p:spPr>
          <a:xfrm>
            <a:off x="4663440" y="2724912"/>
            <a:ext cx="1051560" cy="256032"/>
          </a:xfrm>
          <a:prstGeom prst="rect">
            <a:avLst/>
          </a:prstGeom>
          <a:noFill/>
        </p:spPr>
        <p:txBody>
          <a:bodyPr wrap="square" lIns="0" rIns="0" tIns="0" bIns="0" anchor="ctr">
            <a:spAutoFit/>
          </a:bodyPr>
          <a:lstStyle/>
          <a:p>
            <a:pPr algn="ctr"/>
            <a:r>
              <a:rPr sz="1000" b="1" i="0">
                <a:solidFill>
                  <a:srgbClr val="3F8F5A"/>
                </a:solidFill>
                <a:latin typeface="Open Sans"/>
              </a:rPr>
              <a:t>Done</a:t>
            </a:r>
          </a:p>
        </p:txBody>
      </p:sp>
      <p:sp>
        <p:nvSpPr>
          <p:cNvPr id="15" name="Rounded Rectangle 14"/>
          <p:cNvSpPr/>
          <p:nvPr/>
        </p:nvSpPr>
        <p:spPr>
          <a:xfrm>
            <a:off x="914400" y="3172968"/>
            <a:ext cx="493776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6" name="TextBox 15"/>
          <p:cNvSpPr txBox="1"/>
          <p:nvPr/>
        </p:nvSpPr>
        <p:spPr>
          <a:xfrm>
            <a:off x="1078992" y="3236976"/>
            <a:ext cx="3474720" cy="228600"/>
          </a:xfrm>
          <a:prstGeom prst="rect">
            <a:avLst/>
          </a:prstGeom>
          <a:noFill/>
        </p:spPr>
        <p:txBody>
          <a:bodyPr wrap="square" lIns="0" rIns="0" tIns="0" bIns="0" anchor="t">
            <a:spAutoFit/>
          </a:bodyPr>
          <a:lstStyle/>
          <a:p>
            <a:pPr algn="l"/>
            <a:r>
              <a:rPr sz="1300" b="1" i="0">
                <a:solidFill>
                  <a:srgbClr val="111111"/>
                </a:solidFill>
                <a:latin typeface="Open Sans"/>
              </a:rPr>
              <a:t>Parts research for Mini-SPOT</a:t>
            </a:r>
          </a:p>
        </p:txBody>
      </p:sp>
      <p:sp>
        <p:nvSpPr>
          <p:cNvPr id="17" name="TextBox 16"/>
          <p:cNvSpPr txBox="1"/>
          <p:nvPr/>
        </p:nvSpPr>
        <p:spPr>
          <a:xfrm>
            <a:off x="1078992" y="3401568"/>
            <a:ext cx="3474720" cy="182880"/>
          </a:xfrm>
          <a:prstGeom prst="rect">
            <a:avLst/>
          </a:prstGeom>
          <a:noFill/>
        </p:spPr>
        <p:txBody>
          <a:bodyPr wrap="square" lIns="0" rIns="0" tIns="0" bIns="0" anchor="t">
            <a:spAutoFit/>
          </a:bodyPr>
          <a:lstStyle/>
          <a:p>
            <a:pPr algn="l"/>
            <a:r>
              <a:rPr sz="1000" b="0" i="0">
                <a:solidFill>
                  <a:srgbClr val="6B7280"/>
                </a:solidFill>
                <a:latin typeface="Open Sans"/>
              </a:rPr>
              <a:t>All</a:t>
            </a:r>
          </a:p>
        </p:txBody>
      </p:sp>
      <p:sp>
        <p:nvSpPr>
          <p:cNvPr id="18" name="Rounded Rectangle 17"/>
          <p:cNvSpPr/>
          <p:nvPr/>
        </p:nvSpPr>
        <p:spPr>
          <a:xfrm>
            <a:off x="4663440" y="3291840"/>
            <a:ext cx="1051560" cy="256032"/>
          </a:xfrm>
          <a:prstGeom prst="roundRect">
            <a:avLst>
              <a:gd name="adj" fmla="val 5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9" name="TextBox 18"/>
          <p:cNvSpPr txBox="1"/>
          <p:nvPr/>
        </p:nvSpPr>
        <p:spPr>
          <a:xfrm>
            <a:off x="4663440" y="3291840"/>
            <a:ext cx="1051560" cy="256032"/>
          </a:xfrm>
          <a:prstGeom prst="rect">
            <a:avLst/>
          </a:prstGeom>
          <a:noFill/>
        </p:spPr>
        <p:txBody>
          <a:bodyPr wrap="square" lIns="0" rIns="0" tIns="0" bIns="0" anchor="ctr">
            <a:spAutoFit/>
          </a:bodyPr>
          <a:lstStyle/>
          <a:p>
            <a:pPr algn="ctr"/>
            <a:r>
              <a:rPr sz="1000" b="1" i="0">
                <a:solidFill>
                  <a:srgbClr val="3F8F5A"/>
                </a:solidFill>
                <a:latin typeface="Open Sans"/>
              </a:rPr>
              <a:t>Done</a:t>
            </a:r>
          </a:p>
        </p:txBody>
      </p:sp>
      <p:sp>
        <p:nvSpPr>
          <p:cNvPr id="20" name="Rounded Rectangle 19"/>
          <p:cNvSpPr/>
          <p:nvPr/>
        </p:nvSpPr>
        <p:spPr>
          <a:xfrm>
            <a:off x="914400" y="3739896"/>
            <a:ext cx="493776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1" name="TextBox 20"/>
          <p:cNvSpPr txBox="1"/>
          <p:nvPr/>
        </p:nvSpPr>
        <p:spPr>
          <a:xfrm>
            <a:off x="1078992" y="3803904"/>
            <a:ext cx="3474720" cy="228600"/>
          </a:xfrm>
          <a:prstGeom prst="rect">
            <a:avLst/>
          </a:prstGeom>
          <a:noFill/>
        </p:spPr>
        <p:txBody>
          <a:bodyPr wrap="square" lIns="0" rIns="0" tIns="0" bIns="0" anchor="t">
            <a:spAutoFit/>
          </a:bodyPr>
          <a:lstStyle/>
          <a:p>
            <a:pPr algn="l"/>
            <a:r>
              <a:rPr sz="1300" b="1" i="0">
                <a:solidFill>
                  <a:srgbClr val="111111"/>
                </a:solidFill>
                <a:latin typeface="Open Sans"/>
              </a:rPr>
              <a:t>MuJoCo simulation setup</a:t>
            </a:r>
          </a:p>
        </p:txBody>
      </p:sp>
      <p:sp>
        <p:nvSpPr>
          <p:cNvPr id="22" name="TextBox 21"/>
          <p:cNvSpPr txBox="1"/>
          <p:nvPr/>
        </p:nvSpPr>
        <p:spPr>
          <a:xfrm>
            <a:off x="1078992" y="3968496"/>
            <a:ext cx="3474720" cy="182880"/>
          </a:xfrm>
          <a:prstGeom prst="rect">
            <a:avLst/>
          </a:prstGeom>
          <a:noFill/>
        </p:spPr>
        <p:txBody>
          <a:bodyPr wrap="square" lIns="0" rIns="0" tIns="0" bIns="0" anchor="t">
            <a:spAutoFit/>
          </a:bodyPr>
          <a:lstStyle/>
          <a:p>
            <a:pPr algn="l"/>
            <a:r>
              <a:rPr sz="1000" b="0" i="0">
                <a:solidFill>
                  <a:srgbClr val="6B7280"/>
                </a:solidFill>
                <a:latin typeface="Open Sans"/>
              </a:rPr>
              <a:t>All</a:t>
            </a:r>
          </a:p>
        </p:txBody>
      </p:sp>
      <p:sp>
        <p:nvSpPr>
          <p:cNvPr id="23" name="Rounded Rectangle 22"/>
          <p:cNvSpPr/>
          <p:nvPr/>
        </p:nvSpPr>
        <p:spPr>
          <a:xfrm>
            <a:off x="4663440" y="3858768"/>
            <a:ext cx="1051560" cy="256032"/>
          </a:xfrm>
          <a:prstGeom prst="roundRect">
            <a:avLst>
              <a:gd name="adj" fmla="val 5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4" name="TextBox 23"/>
          <p:cNvSpPr txBox="1"/>
          <p:nvPr/>
        </p:nvSpPr>
        <p:spPr>
          <a:xfrm>
            <a:off x="4663440" y="3858768"/>
            <a:ext cx="1051560" cy="256032"/>
          </a:xfrm>
          <a:prstGeom prst="rect">
            <a:avLst/>
          </a:prstGeom>
          <a:noFill/>
        </p:spPr>
        <p:txBody>
          <a:bodyPr wrap="square" lIns="0" rIns="0" tIns="0" bIns="0" anchor="ctr">
            <a:spAutoFit/>
          </a:bodyPr>
          <a:lstStyle/>
          <a:p>
            <a:pPr algn="ctr"/>
            <a:r>
              <a:rPr sz="1000" b="1" i="0">
                <a:solidFill>
                  <a:srgbClr val="3F8F5A"/>
                </a:solidFill>
                <a:latin typeface="Open Sans"/>
              </a:rPr>
              <a:t>Done</a:t>
            </a:r>
          </a:p>
        </p:txBody>
      </p:sp>
      <p:sp>
        <p:nvSpPr>
          <p:cNvPr id="25" name="Rounded Rectangle 24"/>
          <p:cNvSpPr/>
          <p:nvPr/>
        </p:nvSpPr>
        <p:spPr>
          <a:xfrm>
            <a:off x="914400" y="4306824"/>
            <a:ext cx="493776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6" name="TextBox 25"/>
          <p:cNvSpPr txBox="1"/>
          <p:nvPr/>
        </p:nvSpPr>
        <p:spPr>
          <a:xfrm>
            <a:off x="1078992" y="4370832"/>
            <a:ext cx="3474720" cy="228600"/>
          </a:xfrm>
          <a:prstGeom prst="rect">
            <a:avLst/>
          </a:prstGeom>
          <a:noFill/>
        </p:spPr>
        <p:txBody>
          <a:bodyPr wrap="square" lIns="0" rIns="0" tIns="0" bIns="0" anchor="t">
            <a:spAutoFit/>
          </a:bodyPr>
          <a:lstStyle/>
          <a:p>
            <a:pPr algn="l"/>
            <a:r>
              <a:rPr sz="1300" b="1" i="0">
                <a:solidFill>
                  <a:srgbClr val="111111"/>
                </a:solidFill>
                <a:latin typeface="Open Sans"/>
              </a:rPr>
              <a:t>Arduino hard-coded walking &amp; movement</a:t>
            </a:r>
          </a:p>
        </p:txBody>
      </p:sp>
      <p:sp>
        <p:nvSpPr>
          <p:cNvPr id="27" name="TextBox 26"/>
          <p:cNvSpPr txBox="1"/>
          <p:nvPr/>
        </p:nvSpPr>
        <p:spPr>
          <a:xfrm>
            <a:off x="1078992" y="4535424"/>
            <a:ext cx="3474720" cy="182880"/>
          </a:xfrm>
          <a:prstGeom prst="rect">
            <a:avLst/>
          </a:prstGeom>
          <a:noFill/>
        </p:spPr>
        <p:txBody>
          <a:bodyPr wrap="square" lIns="0" rIns="0" tIns="0" bIns="0" anchor="t">
            <a:spAutoFit/>
          </a:bodyPr>
          <a:lstStyle/>
          <a:p>
            <a:pPr algn="l"/>
            <a:r>
              <a:rPr sz="1000" b="0" i="0">
                <a:solidFill>
                  <a:srgbClr val="6B7280"/>
                </a:solidFill>
                <a:latin typeface="Open Sans"/>
              </a:rPr>
              <a:t>All</a:t>
            </a:r>
          </a:p>
        </p:txBody>
      </p:sp>
      <p:sp>
        <p:nvSpPr>
          <p:cNvPr id="28" name="Rounded Rectangle 27"/>
          <p:cNvSpPr/>
          <p:nvPr/>
        </p:nvSpPr>
        <p:spPr>
          <a:xfrm>
            <a:off x="4663440" y="4425696"/>
            <a:ext cx="1051560" cy="256032"/>
          </a:xfrm>
          <a:prstGeom prst="roundRect">
            <a:avLst>
              <a:gd name="adj" fmla="val 5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9" name="TextBox 28"/>
          <p:cNvSpPr txBox="1"/>
          <p:nvPr/>
        </p:nvSpPr>
        <p:spPr>
          <a:xfrm>
            <a:off x="4663440" y="4425696"/>
            <a:ext cx="1051560" cy="256032"/>
          </a:xfrm>
          <a:prstGeom prst="rect">
            <a:avLst/>
          </a:prstGeom>
          <a:noFill/>
        </p:spPr>
        <p:txBody>
          <a:bodyPr wrap="square" lIns="0" rIns="0" tIns="0" bIns="0" anchor="ctr">
            <a:spAutoFit/>
          </a:bodyPr>
          <a:lstStyle/>
          <a:p>
            <a:pPr algn="ctr"/>
            <a:r>
              <a:rPr sz="1000" b="1" i="0">
                <a:solidFill>
                  <a:srgbClr val="3F8F5A"/>
                </a:solidFill>
                <a:latin typeface="Open Sans"/>
              </a:rPr>
              <a:t>Done</a:t>
            </a:r>
          </a:p>
        </p:txBody>
      </p:sp>
      <p:sp>
        <p:nvSpPr>
          <p:cNvPr id="30" name="Rounded Rectangle 29"/>
          <p:cNvSpPr/>
          <p:nvPr/>
        </p:nvSpPr>
        <p:spPr>
          <a:xfrm>
            <a:off x="914400" y="4873752"/>
            <a:ext cx="493776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1" name="TextBox 30"/>
          <p:cNvSpPr txBox="1"/>
          <p:nvPr/>
        </p:nvSpPr>
        <p:spPr>
          <a:xfrm>
            <a:off x="1078992" y="4937760"/>
            <a:ext cx="3474720" cy="228600"/>
          </a:xfrm>
          <a:prstGeom prst="rect">
            <a:avLst/>
          </a:prstGeom>
          <a:noFill/>
        </p:spPr>
        <p:txBody>
          <a:bodyPr wrap="square" lIns="0" rIns="0" tIns="0" bIns="0" anchor="t">
            <a:spAutoFit/>
          </a:bodyPr>
          <a:lstStyle/>
          <a:p>
            <a:pPr algn="l"/>
            <a:r>
              <a:rPr sz="1300" b="1" i="0">
                <a:solidFill>
                  <a:srgbClr val="111111"/>
                </a:solidFill>
                <a:latin typeface="Open Sans"/>
              </a:rPr>
              <a:t>Milestone 1 presentation</a:t>
            </a:r>
          </a:p>
        </p:txBody>
      </p:sp>
      <p:sp>
        <p:nvSpPr>
          <p:cNvPr id="32" name="TextBox 31"/>
          <p:cNvSpPr txBox="1"/>
          <p:nvPr/>
        </p:nvSpPr>
        <p:spPr>
          <a:xfrm>
            <a:off x="1078992" y="5102352"/>
            <a:ext cx="3474720" cy="182880"/>
          </a:xfrm>
          <a:prstGeom prst="rect">
            <a:avLst/>
          </a:prstGeom>
          <a:noFill/>
        </p:spPr>
        <p:txBody>
          <a:bodyPr wrap="square" lIns="0" rIns="0" tIns="0" bIns="0" anchor="t">
            <a:spAutoFit/>
          </a:bodyPr>
          <a:lstStyle/>
          <a:p>
            <a:pPr algn="l"/>
            <a:r>
              <a:rPr sz="1000" b="0" i="0">
                <a:solidFill>
                  <a:srgbClr val="6B7280"/>
                </a:solidFill>
                <a:latin typeface="Open Sans"/>
              </a:rPr>
              <a:t>All</a:t>
            </a:r>
          </a:p>
        </p:txBody>
      </p:sp>
      <p:sp>
        <p:nvSpPr>
          <p:cNvPr id="33" name="Rounded Rectangle 32"/>
          <p:cNvSpPr/>
          <p:nvPr/>
        </p:nvSpPr>
        <p:spPr>
          <a:xfrm>
            <a:off x="4663440" y="4992624"/>
            <a:ext cx="1051560" cy="256032"/>
          </a:xfrm>
          <a:prstGeom prst="roundRect">
            <a:avLst>
              <a:gd name="adj" fmla="val 5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4" name="TextBox 33"/>
          <p:cNvSpPr txBox="1"/>
          <p:nvPr/>
        </p:nvSpPr>
        <p:spPr>
          <a:xfrm>
            <a:off x="4663440" y="4992624"/>
            <a:ext cx="1051560" cy="256032"/>
          </a:xfrm>
          <a:prstGeom prst="rect">
            <a:avLst/>
          </a:prstGeom>
          <a:noFill/>
        </p:spPr>
        <p:txBody>
          <a:bodyPr wrap="square" lIns="0" rIns="0" tIns="0" bIns="0" anchor="ctr">
            <a:spAutoFit/>
          </a:bodyPr>
          <a:lstStyle/>
          <a:p>
            <a:pPr algn="ctr"/>
            <a:r>
              <a:rPr sz="1000" b="1" i="0">
                <a:solidFill>
                  <a:srgbClr val="3F8F5A"/>
                </a:solidFill>
                <a:latin typeface="Open Sans"/>
              </a:rPr>
              <a:t>Done</a:t>
            </a:r>
          </a:p>
        </p:txBody>
      </p:sp>
      <p:sp>
        <p:nvSpPr>
          <p:cNvPr id="35" name="Running card"/>
          <p:cNvSpPr/>
          <p:nvPr/>
        </p:nvSpPr>
        <p:spPr>
          <a:xfrm>
            <a:off x="6263640" y="1828800"/>
            <a:ext cx="5257800" cy="4343400"/>
          </a:xfrm>
          <a:prstGeom prst="roundRect">
            <a:avLst>
              <a:gd name="adj" fmla="val 2526"/>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6" name="Oval 35"/>
          <p:cNvSpPr/>
          <p:nvPr/>
        </p:nvSpPr>
        <p:spPr>
          <a:xfrm>
            <a:off x="6455664" y="2020824"/>
            <a:ext cx="438912" cy="438912"/>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Open Sans"/>
              </a:rPr>
              <a:t>2</a:t>
            </a:r>
          </a:p>
        </p:txBody>
      </p:sp>
      <p:sp>
        <p:nvSpPr>
          <p:cNvPr id="37" name="TextBox 36"/>
          <p:cNvSpPr txBox="1"/>
          <p:nvPr/>
        </p:nvSpPr>
        <p:spPr>
          <a:xfrm>
            <a:off x="7040879" y="2075688"/>
            <a:ext cx="6400800" cy="365760"/>
          </a:xfrm>
          <a:prstGeom prst="rect">
            <a:avLst/>
          </a:prstGeom>
          <a:noFill/>
        </p:spPr>
        <p:txBody>
          <a:bodyPr wrap="square" lIns="0" rIns="0" tIns="0" bIns="0" anchor="t">
            <a:spAutoFit/>
          </a:bodyPr>
          <a:lstStyle/>
          <a:p>
            <a:pPr algn="l"/>
            <a:r>
              <a:rPr sz="2000" b="1" i="0">
                <a:solidFill>
                  <a:srgbClr val="111111"/>
                </a:solidFill>
                <a:latin typeface="Open Sans"/>
              </a:rPr>
              <a:t>In progress</a:t>
            </a:r>
          </a:p>
        </p:txBody>
      </p:sp>
      <p:sp>
        <p:nvSpPr>
          <p:cNvPr id="38" name="Rounded Rectangle 37"/>
          <p:cNvSpPr/>
          <p:nvPr/>
        </p:nvSpPr>
        <p:spPr>
          <a:xfrm>
            <a:off x="6492240" y="2606040"/>
            <a:ext cx="4800600" cy="411480"/>
          </a:xfrm>
          <a:prstGeom prst="roundRect">
            <a:avLst>
              <a:gd name="adj" fmla="val 17777"/>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9" name="TextBox 38"/>
          <p:cNvSpPr txBox="1"/>
          <p:nvPr/>
        </p:nvSpPr>
        <p:spPr>
          <a:xfrm>
            <a:off x="6656831" y="2670048"/>
            <a:ext cx="3337560" cy="228600"/>
          </a:xfrm>
          <a:prstGeom prst="rect">
            <a:avLst/>
          </a:prstGeom>
          <a:noFill/>
        </p:spPr>
        <p:txBody>
          <a:bodyPr wrap="square" lIns="0" rIns="0" tIns="0" bIns="0" anchor="t">
            <a:spAutoFit/>
          </a:bodyPr>
          <a:lstStyle/>
          <a:p>
            <a:pPr algn="l"/>
            <a:r>
              <a:rPr sz="1300" b="1" i="0">
                <a:solidFill>
                  <a:srgbClr val="111111"/>
                </a:solidFill>
                <a:latin typeface="Open Sans"/>
              </a:rPr>
              <a:t>Head CAD finalization</a:t>
            </a:r>
          </a:p>
        </p:txBody>
      </p:sp>
      <p:sp>
        <p:nvSpPr>
          <p:cNvPr id="40" name="TextBox 39"/>
          <p:cNvSpPr txBox="1"/>
          <p:nvPr/>
        </p:nvSpPr>
        <p:spPr>
          <a:xfrm>
            <a:off x="6656831" y="2834640"/>
            <a:ext cx="3337560" cy="182880"/>
          </a:xfrm>
          <a:prstGeom prst="rect">
            <a:avLst/>
          </a:prstGeom>
          <a:noFill/>
        </p:spPr>
        <p:txBody>
          <a:bodyPr wrap="square" lIns="0" rIns="0" tIns="0" bIns="0" anchor="t">
            <a:spAutoFit/>
          </a:bodyPr>
          <a:lstStyle/>
          <a:p>
            <a:pPr algn="l"/>
            <a:r>
              <a:rPr sz="1000" b="0" i="0">
                <a:solidFill>
                  <a:srgbClr val="6B7280"/>
                </a:solidFill>
                <a:latin typeface="Open Sans"/>
              </a:rPr>
              <a:t>Harsh · Bhavishya · Sravan</a:t>
            </a:r>
          </a:p>
        </p:txBody>
      </p:sp>
      <p:sp>
        <p:nvSpPr>
          <p:cNvPr id="41" name="Rounded Rectangle 40"/>
          <p:cNvSpPr/>
          <p:nvPr/>
        </p:nvSpPr>
        <p:spPr>
          <a:xfrm>
            <a:off x="10104119" y="2683764"/>
            <a:ext cx="1051560" cy="256032"/>
          </a:xfrm>
          <a:prstGeom prst="roundRect">
            <a:avLst>
              <a:gd name="adj" fmla="val 500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2" name="TextBox 41"/>
          <p:cNvSpPr txBox="1"/>
          <p:nvPr/>
        </p:nvSpPr>
        <p:spPr>
          <a:xfrm>
            <a:off x="10104119" y="2683764"/>
            <a:ext cx="1051560" cy="256032"/>
          </a:xfrm>
          <a:prstGeom prst="rect">
            <a:avLst/>
          </a:prstGeom>
          <a:noFill/>
        </p:spPr>
        <p:txBody>
          <a:bodyPr wrap="square" lIns="0" rIns="0" tIns="0" bIns="0" anchor="ctr">
            <a:spAutoFit/>
          </a:bodyPr>
          <a:lstStyle/>
          <a:p>
            <a:pPr algn="ctr"/>
            <a:r>
              <a:rPr sz="1000" b="1" i="0">
                <a:solidFill>
                  <a:srgbClr val="4A7BB7"/>
                </a:solidFill>
                <a:latin typeface="Open Sans"/>
              </a:rPr>
              <a:t>In progress</a:t>
            </a:r>
          </a:p>
        </p:txBody>
      </p:sp>
      <p:sp>
        <p:nvSpPr>
          <p:cNvPr id="43" name="Rounded Rectangle 42"/>
          <p:cNvSpPr/>
          <p:nvPr/>
        </p:nvSpPr>
        <p:spPr>
          <a:xfrm>
            <a:off x="6492240" y="3090672"/>
            <a:ext cx="4800600" cy="411480"/>
          </a:xfrm>
          <a:prstGeom prst="roundRect">
            <a:avLst>
              <a:gd name="adj" fmla="val 17777"/>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4" name="TextBox 43"/>
          <p:cNvSpPr txBox="1"/>
          <p:nvPr/>
        </p:nvSpPr>
        <p:spPr>
          <a:xfrm>
            <a:off x="6656831" y="3154679"/>
            <a:ext cx="3337560" cy="228600"/>
          </a:xfrm>
          <a:prstGeom prst="rect">
            <a:avLst/>
          </a:prstGeom>
          <a:noFill/>
        </p:spPr>
        <p:txBody>
          <a:bodyPr wrap="square" lIns="0" rIns="0" tIns="0" bIns="0" anchor="t">
            <a:spAutoFit/>
          </a:bodyPr>
          <a:lstStyle/>
          <a:p>
            <a:pPr algn="l"/>
            <a:r>
              <a:rPr sz="1300" b="1" i="0">
                <a:solidFill>
                  <a:srgbClr val="111111"/>
                </a:solidFill>
                <a:latin typeface="Open Sans"/>
              </a:rPr>
              <a:t>Jetson Nano setup &amp; camera</a:t>
            </a:r>
          </a:p>
        </p:txBody>
      </p:sp>
      <p:sp>
        <p:nvSpPr>
          <p:cNvPr id="45" name="TextBox 44"/>
          <p:cNvSpPr txBox="1"/>
          <p:nvPr/>
        </p:nvSpPr>
        <p:spPr>
          <a:xfrm>
            <a:off x="6656831" y="3319272"/>
            <a:ext cx="3337560" cy="182880"/>
          </a:xfrm>
          <a:prstGeom prst="rect">
            <a:avLst/>
          </a:prstGeom>
          <a:noFill/>
        </p:spPr>
        <p:txBody>
          <a:bodyPr wrap="square" lIns="0" rIns="0" tIns="0" bIns="0" anchor="t">
            <a:spAutoFit/>
          </a:bodyPr>
          <a:lstStyle/>
          <a:p>
            <a:pPr algn="l"/>
            <a:r>
              <a:rPr sz="1000" b="0" i="0">
                <a:solidFill>
                  <a:srgbClr val="6B7280"/>
                </a:solidFill>
                <a:latin typeface="Open Sans"/>
              </a:rPr>
              <a:t>Harsh · Bhavishya · Sravan</a:t>
            </a:r>
          </a:p>
        </p:txBody>
      </p:sp>
      <p:sp>
        <p:nvSpPr>
          <p:cNvPr id="46" name="Rounded Rectangle 45"/>
          <p:cNvSpPr/>
          <p:nvPr/>
        </p:nvSpPr>
        <p:spPr>
          <a:xfrm>
            <a:off x="10104119" y="3168396"/>
            <a:ext cx="1051560" cy="256032"/>
          </a:xfrm>
          <a:prstGeom prst="roundRect">
            <a:avLst>
              <a:gd name="adj" fmla="val 500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7" name="TextBox 46"/>
          <p:cNvSpPr txBox="1"/>
          <p:nvPr/>
        </p:nvSpPr>
        <p:spPr>
          <a:xfrm>
            <a:off x="10104119" y="3168396"/>
            <a:ext cx="1051560" cy="256032"/>
          </a:xfrm>
          <a:prstGeom prst="rect">
            <a:avLst/>
          </a:prstGeom>
          <a:noFill/>
        </p:spPr>
        <p:txBody>
          <a:bodyPr wrap="square" lIns="0" rIns="0" tIns="0" bIns="0" anchor="ctr">
            <a:spAutoFit/>
          </a:bodyPr>
          <a:lstStyle/>
          <a:p>
            <a:pPr algn="ctr"/>
            <a:r>
              <a:rPr sz="1000" b="1" i="0">
                <a:solidFill>
                  <a:srgbClr val="4A7BB7"/>
                </a:solidFill>
                <a:latin typeface="Open Sans"/>
              </a:rPr>
              <a:t>In progress</a:t>
            </a:r>
          </a:p>
        </p:txBody>
      </p:sp>
      <p:sp>
        <p:nvSpPr>
          <p:cNvPr id="48" name="Rounded Rectangle 47"/>
          <p:cNvSpPr/>
          <p:nvPr/>
        </p:nvSpPr>
        <p:spPr>
          <a:xfrm>
            <a:off x="6492240" y="3575304"/>
            <a:ext cx="4800600" cy="411480"/>
          </a:xfrm>
          <a:prstGeom prst="roundRect">
            <a:avLst>
              <a:gd name="adj" fmla="val 17777"/>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9" name="TextBox 48"/>
          <p:cNvSpPr txBox="1"/>
          <p:nvPr/>
        </p:nvSpPr>
        <p:spPr>
          <a:xfrm>
            <a:off x="6656831" y="3639312"/>
            <a:ext cx="3337560" cy="228600"/>
          </a:xfrm>
          <a:prstGeom prst="rect">
            <a:avLst/>
          </a:prstGeom>
          <a:noFill/>
        </p:spPr>
        <p:txBody>
          <a:bodyPr wrap="square" lIns="0" rIns="0" tIns="0" bIns="0" anchor="t">
            <a:spAutoFit/>
          </a:bodyPr>
          <a:lstStyle/>
          <a:p>
            <a:pPr algn="l"/>
            <a:r>
              <a:rPr sz="1300" b="1" i="0">
                <a:solidFill>
                  <a:srgbClr val="111111"/>
                </a:solidFill>
                <a:latin typeface="Open Sans"/>
              </a:rPr>
              <a:t>Sim-to-real transfer prep</a:t>
            </a:r>
          </a:p>
        </p:txBody>
      </p:sp>
      <p:sp>
        <p:nvSpPr>
          <p:cNvPr id="50" name="TextBox 49"/>
          <p:cNvSpPr txBox="1"/>
          <p:nvPr/>
        </p:nvSpPr>
        <p:spPr>
          <a:xfrm>
            <a:off x="6656831" y="3803904"/>
            <a:ext cx="3337560" cy="182880"/>
          </a:xfrm>
          <a:prstGeom prst="rect">
            <a:avLst/>
          </a:prstGeom>
          <a:noFill/>
        </p:spPr>
        <p:txBody>
          <a:bodyPr wrap="square" lIns="0" rIns="0" tIns="0" bIns="0" anchor="t">
            <a:spAutoFit/>
          </a:bodyPr>
          <a:lstStyle/>
          <a:p>
            <a:pPr algn="l"/>
            <a:r>
              <a:rPr sz="1000" b="0" i="0">
                <a:solidFill>
                  <a:srgbClr val="6B7280"/>
                </a:solidFill>
                <a:latin typeface="Open Sans"/>
              </a:rPr>
              <a:t>Aditya · Thejasvi</a:t>
            </a:r>
          </a:p>
        </p:txBody>
      </p:sp>
      <p:sp>
        <p:nvSpPr>
          <p:cNvPr id="51" name="Rounded Rectangle 50"/>
          <p:cNvSpPr/>
          <p:nvPr/>
        </p:nvSpPr>
        <p:spPr>
          <a:xfrm>
            <a:off x="10104119" y="3653028"/>
            <a:ext cx="1051560" cy="256032"/>
          </a:xfrm>
          <a:prstGeom prst="roundRect">
            <a:avLst>
              <a:gd name="adj" fmla="val 500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2" name="TextBox 51"/>
          <p:cNvSpPr txBox="1"/>
          <p:nvPr/>
        </p:nvSpPr>
        <p:spPr>
          <a:xfrm>
            <a:off x="10104119" y="3653028"/>
            <a:ext cx="1051560" cy="256032"/>
          </a:xfrm>
          <a:prstGeom prst="rect">
            <a:avLst/>
          </a:prstGeom>
          <a:noFill/>
        </p:spPr>
        <p:txBody>
          <a:bodyPr wrap="square" lIns="0" rIns="0" tIns="0" bIns="0" anchor="ctr">
            <a:spAutoFit/>
          </a:bodyPr>
          <a:lstStyle/>
          <a:p>
            <a:pPr algn="ctr"/>
            <a:r>
              <a:rPr sz="1000" b="1" i="0">
                <a:solidFill>
                  <a:srgbClr val="4A7BB7"/>
                </a:solidFill>
                <a:latin typeface="Open Sans"/>
              </a:rPr>
              <a:t>In progress</a:t>
            </a:r>
          </a:p>
        </p:txBody>
      </p:sp>
      <p:sp>
        <p:nvSpPr>
          <p:cNvPr id="53" name="Rounded Rectangle 52"/>
          <p:cNvSpPr/>
          <p:nvPr/>
        </p:nvSpPr>
        <p:spPr>
          <a:xfrm>
            <a:off x="6492240" y="4059936"/>
            <a:ext cx="4800600" cy="411480"/>
          </a:xfrm>
          <a:prstGeom prst="roundRect">
            <a:avLst>
              <a:gd name="adj" fmla="val 17777"/>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4" name="TextBox 53"/>
          <p:cNvSpPr txBox="1"/>
          <p:nvPr/>
        </p:nvSpPr>
        <p:spPr>
          <a:xfrm>
            <a:off x="6656831" y="4123944"/>
            <a:ext cx="3337560" cy="228600"/>
          </a:xfrm>
          <a:prstGeom prst="rect">
            <a:avLst/>
          </a:prstGeom>
          <a:noFill/>
        </p:spPr>
        <p:txBody>
          <a:bodyPr wrap="square" lIns="0" rIns="0" tIns="0" bIns="0" anchor="t">
            <a:spAutoFit/>
          </a:bodyPr>
          <a:lstStyle/>
          <a:p>
            <a:pPr algn="l"/>
            <a:r>
              <a:rPr sz="1300" b="1" i="0">
                <a:solidFill>
                  <a:srgbClr val="111111"/>
                </a:solidFill>
                <a:latin typeface="Open Sans"/>
              </a:rPr>
              <a:t>Writing firmware</a:t>
            </a:r>
          </a:p>
        </p:txBody>
      </p:sp>
      <p:sp>
        <p:nvSpPr>
          <p:cNvPr id="55" name="TextBox 54"/>
          <p:cNvSpPr txBox="1"/>
          <p:nvPr/>
        </p:nvSpPr>
        <p:spPr>
          <a:xfrm>
            <a:off x="6656831" y="4288536"/>
            <a:ext cx="3337560" cy="182880"/>
          </a:xfrm>
          <a:prstGeom prst="rect">
            <a:avLst/>
          </a:prstGeom>
          <a:noFill/>
        </p:spPr>
        <p:txBody>
          <a:bodyPr wrap="square" lIns="0" rIns="0" tIns="0" bIns="0" anchor="t">
            <a:spAutoFit/>
          </a:bodyPr>
          <a:lstStyle/>
          <a:p>
            <a:pPr algn="l"/>
            <a:r>
              <a:rPr sz="1000" b="0" i="0">
                <a:solidFill>
                  <a:srgbClr val="6B7280"/>
                </a:solidFill>
                <a:latin typeface="Open Sans"/>
              </a:rPr>
              <a:t>Harsh · Bhavishya · Sravan</a:t>
            </a:r>
          </a:p>
        </p:txBody>
      </p:sp>
      <p:sp>
        <p:nvSpPr>
          <p:cNvPr id="56" name="Rounded Rectangle 55"/>
          <p:cNvSpPr/>
          <p:nvPr/>
        </p:nvSpPr>
        <p:spPr>
          <a:xfrm>
            <a:off x="10104119" y="4137660"/>
            <a:ext cx="1051560" cy="256032"/>
          </a:xfrm>
          <a:prstGeom prst="roundRect">
            <a:avLst>
              <a:gd name="adj" fmla="val 500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7" name="TextBox 56"/>
          <p:cNvSpPr txBox="1"/>
          <p:nvPr/>
        </p:nvSpPr>
        <p:spPr>
          <a:xfrm>
            <a:off x="10104119" y="4137660"/>
            <a:ext cx="1051560" cy="256032"/>
          </a:xfrm>
          <a:prstGeom prst="rect">
            <a:avLst/>
          </a:prstGeom>
          <a:noFill/>
        </p:spPr>
        <p:txBody>
          <a:bodyPr wrap="square" lIns="0" rIns="0" tIns="0" bIns="0" anchor="ctr">
            <a:spAutoFit/>
          </a:bodyPr>
          <a:lstStyle/>
          <a:p>
            <a:pPr algn="ctr"/>
            <a:r>
              <a:rPr sz="1000" b="1" i="0">
                <a:solidFill>
                  <a:srgbClr val="4A7BB7"/>
                </a:solidFill>
                <a:latin typeface="Open Sans"/>
              </a:rPr>
              <a:t>In progress</a:t>
            </a:r>
          </a:p>
        </p:txBody>
      </p:sp>
      <p:sp>
        <p:nvSpPr>
          <p:cNvPr id="58" name="Rounded Rectangle 57"/>
          <p:cNvSpPr/>
          <p:nvPr/>
        </p:nvSpPr>
        <p:spPr>
          <a:xfrm>
            <a:off x="6492240" y="4544568"/>
            <a:ext cx="4800600" cy="411480"/>
          </a:xfrm>
          <a:prstGeom prst="roundRect">
            <a:avLst>
              <a:gd name="adj" fmla="val 17777"/>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9" name="TextBox 58"/>
          <p:cNvSpPr txBox="1"/>
          <p:nvPr/>
        </p:nvSpPr>
        <p:spPr>
          <a:xfrm>
            <a:off x="6656831" y="4608576"/>
            <a:ext cx="3337560" cy="228600"/>
          </a:xfrm>
          <a:prstGeom prst="rect">
            <a:avLst/>
          </a:prstGeom>
          <a:noFill/>
        </p:spPr>
        <p:txBody>
          <a:bodyPr wrap="square" lIns="0" rIns="0" tIns="0" bIns="0" anchor="t">
            <a:spAutoFit/>
          </a:bodyPr>
          <a:lstStyle/>
          <a:p>
            <a:pPr algn="l"/>
            <a:r>
              <a:rPr sz="1300" b="1" i="0">
                <a:solidFill>
                  <a:srgbClr val="111111"/>
                </a:solidFill>
                <a:latin typeface="Open Sans"/>
              </a:rPr>
              <a:t>Soldering new components</a:t>
            </a:r>
          </a:p>
        </p:txBody>
      </p:sp>
      <p:sp>
        <p:nvSpPr>
          <p:cNvPr id="60" name="Rounded Rectangle 59"/>
          <p:cNvSpPr/>
          <p:nvPr/>
        </p:nvSpPr>
        <p:spPr>
          <a:xfrm>
            <a:off x="10104119" y="4622292"/>
            <a:ext cx="1051560" cy="256032"/>
          </a:xfrm>
          <a:prstGeom prst="roundRect">
            <a:avLst>
              <a:gd name="adj" fmla="val 500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1" name="TextBox 60"/>
          <p:cNvSpPr txBox="1"/>
          <p:nvPr/>
        </p:nvSpPr>
        <p:spPr>
          <a:xfrm>
            <a:off x="10104119" y="4622292"/>
            <a:ext cx="1051560" cy="256032"/>
          </a:xfrm>
          <a:prstGeom prst="rect">
            <a:avLst/>
          </a:prstGeom>
          <a:noFill/>
        </p:spPr>
        <p:txBody>
          <a:bodyPr wrap="square" lIns="0" rIns="0" tIns="0" bIns="0" anchor="ctr">
            <a:spAutoFit/>
          </a:bodyPr>
          <a:lstStyle/>
          <a:p>
            <a:pPr algn="ctr"/>
            <a:r>
              <a:rPr sz="1000" b="1" i="0">
                <a:solidFill>
                  <a:srgbClr val="4A7BB7"/>
                </a:solidFill>
                <a:latin typeface="Open Sans"/>
              </a:rPr>
              <a:t>In progress</a:t>
            </a:r>
          </a:p>
        </p:txBody>
      </p:sp>
      <p:sp>
        <p:nvSpPr>
          <p:cNvPr id="62" name="Rounded Rectangle 61"/>
          <p:cNvSpPr/>
          <p:nvPr/>
        </p:nvSpPr>
        <p:spPr>
          <a:xfrm>
            <a:off x="6492240" y="5029200"/>
            <a:ext cx="4800600" cy="411480"/>
          </a:xfrm>
          <a:prstGeom prst="roundRect">
            <a:avLst>
              <a:gd name="adj" fmla="val 17777"/>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3" name="TextBox 62"/>
          <p:cNvSpPr txBox="1"/>
          <p:nvPr/>
        </p:nvSpPr>
        <p:spPr>
          <a:xfrm>
            <a:off x="6656831" y="5093208"/>
            <a:ext cx="3337560" cy="228600"/>
          </a:xfrm>
          <a:prstGeom prst="rect">
            <a:avLst/>
          </a:prstGeom>
          <a:noFill/>
        </p:spPr>
        <p:txBody>
          <a:bodyPr wrap="square" lIns="0" rIns="0" tIns="0" bIns="0" anchor="t">
            <a:spAutoFit/>
          </a:bodyPr>
          <a:lstStyle/>
          <a:p>
            <a:pPr algn="l"/>
            <a:r>
              <a:rPr sz="1300" b="1" i="0">
                <a:solidFill>
                  <a:srgbClr val="111111"/>
                </a:solidFill>
                <a:latin typeface="Open Sans"/>
              </a:rPr>
              <a:t>Integrating the head (LED)</a:t>
            </a:r>
          </a:p>
        </p:txBody>
      </p:sp>
      <p:sp>
        <p:nvSpPr>
          <p:cNvPr id="64" name="Rounded Rectangle 63"/>
          <p:cNvSpPr/>
          <p:nvPr/>
        </p:nvSpPr>
        <p:spPr>
          <a:xfrm>
            <a:off x="10104119" y="5106924"/>
            <a:ext cx="1051560" cy="256032"/>
          </a:xfrm>
          <a:prstGeom prst="roundRect">
            <a:avLst>
              <a:gd name="adj" fmla="val 500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5" name="TextBox 64"/>
          <p:cNvSpPr txBox="1"/>
          <p:nvPr/>
        </p:nvSpPr>
        <p:spPr>
          <a:xfrm>
            <a:off x="10104119" y="5106924"/>
            <a:ext cx="1051560" cy="256032"/>
          </a:xfrm>
          <a:prstGeom prst="rect">
            <a:avLst/>
          </a:prstGeom>
          <a:noFill/>
        </p:spPr>
        <p:txBody>
          <a:bodyPr wrap="square" lIns="0" rIns="0" tIns="0" bIns="0" anchor="ctr">
            <a:spAutoFit/>
          </a:bodyPr>
          <a:lstStyle/>
          <a:p>
            <a:pPr algn="ctr"/>
            <a:r>
              <a:rPr sz="1000" b="1" i="0">
                <a:solidFill>
                  <a:srgbClr val="4A7BB7"/>
                </a:solidFill>
                <a:latin typeface="Open Sans"/>
              </a:rPr>
              <a:t>In progress</a:t>
            </a:r>
          </a:p>
        </p:txBody>
      </p:sp>
      <p:sp>
        <p:nvSpPr>
          <p:cNvPr id="66" name="Rounded Rectangle 65"/>
          <p:cNvSpPr/>
          <p:nvPr/>
        </p:nvSpPr>
        <p:spPr>
          <a:xfrm>
            <a:off x="6492240" y="5513832"/>
            <a:ext cx="4800600" cy="411480"/>
          </a:xfrm>
          <a:prstGeom prst="roundRect">
            <a:avLst>
              <a:gd name="adj" fmla="val 17777"/>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7" name="TextBox 66"/>
          <p:cNvSpPr txBox="1"/>
          <p:nvPr/>
        </p:nvSpPr>
        <p:spPr>
          <a:xfrm>
            <a:off x="6656831" y="5577840"/>
            <a:ext cx="3337560" cy="228600"/>
          </a:xfrm>
          <a:prstGeom prst="rect">
            <a:avLst/>
          </a:prstGeom>
          <a:noFill/>
        </p:spPr>
        <p:txBody>
          <a:bodyPr wrap="square" lIns="0" rIns="0" tIns="0" bIns="0" anchor="t">
            <a:spAutoFit/>
          </a:bodyPr>
          <a:lstStyle/>
          <a:p>
            <a:pPr algn="l"/>
            <a:r>
              <a:rPr sz="1300" b="1" i="0">
                <a:solidFill>
                  <a:srgbClr val="111111"/>
                </a:solidFill>
                <a:latin typeface="Open Sans"/>
              </a:rPr>
              <a:t>Architecture &amp; responsibility PPT</a:t>
            </a:r>
          </a:p>
        </p:txBody>
      </p:sp>
      <p:sp>
        <p:nvSpPr>
          <p:cNvPr id="68" name="TextBox 67"/>
          <p:cNvSpPr txBox="1"/>
          <p:nvPr/>
        </p:nvSpPr>
        <p:spPr>
          <a:xfrm>
            <a:off x="6656831" y="5742432"/>
            <a:ext cx="3337560" cy="182880"/>
          </a:xfrm>
          <a:prstGeom prst="rect">
            <a:avLst/>
          </a:prstGeom>
          <a:noFill/>
        </p:spPr>
        <p:txBody>
          <a:bodyPr wrap="square" lIns="0" rIns="0" tIns="0" bIns="0" anchor="t">
            <a:spAutoFit/>
          </a:bodyPr>
          <a:lstStyle/>
          <a:p>
            <a:pPr algn="l"/>
            <a:r>
              <a:rPr sz="1000" b="0" i="0">
                <a:solidFill>
                  <a:srgbClr val="6B7280"/>
                </a:solidFill>
                <a:latin typeface="Open Sans"/>
              </a:rPr>
              <a:t>Bhavishya · Sravan · Harsh</a:t>
            </a:r>
          </a:p>
        </p:txBody>
      </p:sp>
      <p:sp>
        <p:nvSpPr>
          <p:cNvPr id="69" name="Rounded Rectangle 68"/>
          <p:cNvSpPr/>
          <p:nvPr/>
        </p:nvSpPr>
        <p:spPr>
          <a:xfrm>
            <a:off x="10104119" y="5591556"/>
            <a:ext cx="1051560" cy="256032"/>
          </a:xfrm>
          <a:prstGeom prst="roundRect">
            <a:avLst>
              <a:gd name="adj" fmla="val 500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70" name="TextBox 69"/>
          <p:cNvSpPr txBox="1"/>
          <p:nvPr/>
        </p:nvSpPr>
        <p:spPr>
          <a:xfrm>
            <a:off x="10104119" y="5591556"/>
            <a:ext cx="1051560" cy="256032"/>
          </a:xfrm>
          <a:prstGeom prst="rect">
            <a:avLst/>
          </a:prstGeom>
          <a:noFill/>
        </p:spPr>
        <p:txBody>
          <a:bodyPr wrap="square" lIns="0" rIns="0" tIns="0" bIns="0" anchor="ctr">
            <a:spAutoFit/>
          </a:bodyPr>
          <a:lstStyle/>
          <a:p>
            <a:pPr algn="ctr"/>
            <a:r>
              <a:rPr sz="1000" b="1" i="0">
                <a:solidFill>
                  <a:srgbClr val="4A7BB7"/>
                </a:solidFill>
                <a:latin typeface="Open Sans"/>
              </a:rPr>
              <a:t>In progress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502920"/>
            <a:ext cx="9875520" cy="731520"/>
          </a:xfrm>
          <a:prstGeom prst="rect">
            <a:avLst/>
          </a:prstGeom>
          <a:noFill/>
        </p:spPr>
        <p:txBody>
          <a:bodyPr wrap="square" lIns="0" rIns="0" tIns="0" bIns="0" anchor="t">
            <a:spAutoFit/>
          </a:bodyPr>
          <a:lstStyle/>
          <a:p>
            <a:pPr algn="l"/>
            <a:r>
              <a:rPr sz="3600" b="1" i="0">
                <a:solidFill>
                  <a:srgbClr val="111111"/>
                </a:solidFill>
                <a:latin typeface="Open Sans"/>
              </a:rPr>
              <a:t>New: walking and steering in simulation</a:t>
            </a:r>
          </a:p>
        </p:txBody>
      </p:sp>
      <p:sp>
        <p:nvSpPr>
          <p:cNvPr id="3" name="Subtitle"/>
          <p:cNvSpPr txBox="1"/>
          <p:nvPr/>
        </p:nvSpPr>
        <p:spPr>
          <a:xfrm>
            <a:off x="704088" y="1207008"/>
            <a:ext cx="9875520" cy="365760"/>
          </a:xfrm>
          <a:prstGeom prst="rect">
            <a:avLst/>
          </a:prstGeom>
          <a:noFill/>
        </p:spPr>
        <p:txBody>
          <a:bodyPr wrap="square" lIns="0" rIns="0" tIns="0" bIns="0" anchor="t">
            <a:spAutoFit/>
          </a:bodyPr>
          <a:lstStyle/>
          <a:p>
            <a:pPr algn="l"/>
            <a:r>
              <a:rPr sz="1600" b="0" i="0">
                <a:solidFill>
                  <a:srgbClr val="6B7280"/>
                </a:solidFill>
                <a:latin typeface="Open Sans"/>
              </a:rPr>
              <a:t>Part of Phase 3 · “Sim-to-real prep” and “Perfecting spot movements”</a:t>
            </a:r>
          </a:p>
        </p:txBody>
      </p:sp>
      <p:sp>
        <p:nvSpPr>
          <p:cNvPr id="4" name="Logo"/>
          <p:cNvSpPr txBox="1"/>
          <p:nvPr/>
        </p:nvSpPr>
        <p:spPr>
          <a:xfrm>
            <a:off x="10058400" y="502920"/>
            <a:ext cx="1463040" cy="548640"/>
          </a:xfrm>
          <a:prstGeom prst="rect">
            <a:avLst/>
          </a:prstGeom>
          <a:noFill/>
        </p:spPr>
        <p:txBody>
          <a:bodyPr wrap="square" lIns="0" rIns="0" tIns="0" bIns="0" anchor="t">
            <a:spAutoFit/>
          </a:bodyPr>
          <a:lstStyle/>
          <a:p>
            <a:pPr algn="r"/>
            <a:r>
              <a:rPr sz="2800" b="1" i="0">
                <a:solidFill>
                  <a:srgbClr val="E2783A"/>
                </a:solidFill>
                <a:latin typeface="Open Sans"/>
              </a:rPr>
              <a:t>thws</a:t>
            </a:r>
          </a:p>
        </p:txBody>
      </p:sp>
      <p:sp>
        <p:nvSpPr>
          <p:cNvPr id="5" name="Oval 4"/>
          <p:cNvSpPr/>
          <p:nvPr/>
        </p:nvSpPr>
        <p:spPr>
          <a:xfrm>
            <a:off x="704088" y="6281928"/>
            <a:ext cx="237744" cy="237744"/>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 name="Presenter"/>
          <p:cNvSpPr txBox="1"/>
          <p:nvPr/>
        </p:nvSpPr>
        <p:spPr>
          <a:xfrm>
            <a:off x="1051560" y="6272784"/>
            <a:ext cx="3657600" cy="274320"/>
          </a:xfrm>
          <a:prstGeom prst="rect">
            <a:avLst/>
          </a:prstGeom>
          <a:noFill/>
        </p:spPr>
        <p:txBody>
          <a:bodyPr wrap="square" lIns="0" rIns="0" tIns="0" bIns="0" anchor="t">
            <a:spAutoFit/>
          </a:bodyPr>
          <a:lstStyle/>
          <a:p>
            <a:pPr algn="l"/>
            <a:r>
              <a:rPr sz="1300" b="0" i="0">
                <a:solidFill>
                  <a:srgbClr val="6B7280"/>
                </a:solidFill>
                <a:latin typeface="Open Sans"/>
              </a:rPr>
              <a:t>Aditya Srivatsa</a:t>
            </a:r>
          </a:p>
        </p:txBody>
      </p:sp>
      <p:sp>
        <p:nvSpPr>
          <p:cNvPr id="7" name="New results card"/>
          <p:cNvSpPr/>
          <p:nvPr/>
        </p:nvSpPr>
        <p:spPr>
          <a:xfrm>
            <a:off x="685800" y="1828800"/>
            <a:ext cx="7315200" cy="4343400"/>
          </a:xfrm>
          <a:prstGeom prst="roundRect">
            <a:avLst>
              <a:gd name="adj" fmla="val 2526"/>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Oval 7"/>
          <p:cNvSpPr/>
          <p:nvPr/>
        </p:nvSpPr>
        <p:spPr>
          <a:xfrm>
            <a:off x="877824" y="2020824"/>
            <a:ext cx="438912" cy="438912"/>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Open Sans"/>
              </a:rPr>
              <a:t>3</a:t>
            </a:r>
          </a:p>
        </p:txBody>
      </p:sp>
      <p:sp>
        <p:nvSpPr>
          <p:cNvPr id="9" name="TextBox 8"/>
          <p:cNvSpPr txBox="1"/>
          <p:nvPr/>
        </p:nvSpPr>
        <p:spPr>
          <a:xfrm>
            <a:off x="1463040" y="2075688"/>
            <a:ext cx="6400800" cy="365760"/>
          </a:xfrm>
          <a:prstGeom prst="rect">
            <a:avLst/>
          </a:prstGeom>
          <a:noFill/>
        </p:spPr>
        <p:txBody>
          <a:bodyPr wrap="square" lIns="0" rIns="0" tIns="0" bIns="0" anchor="t">
            <a:spAutoFit/>
          </a:bodyPr>
          <a:lstStyle/>
          <a:p>
            <a:pPr algn="l"/>
            <a:r>
              <a:rPr sz="2000" b="1" i="0">
                <a:solidFill>
                  <a:srgbClr val="111111"/>
                </a:solidFill>
                <a:latin typeface="Open Sans"/>
              </a:rPr>
              <a:t>What we built</a:t>
            </a:r>
          </a:p>
        </p:txBody>
      </p:sp>
      <p:sp>
        <p:nvSpPr>
          <p:cNvPr id="10" name="Rounded Rectangle 9"/>
          <p:cNvSpPr/>
          <p:nvPr/>
        </p:nvSpPr>
        <p:spPr>
          <a:xfrm>
            <a:off x="914400" y="2606040"/>
            <a:ext cx="685800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1" name="TextBox 10"/>
          <p:cNvSpPr txBox="1"/>
          <p:nvPr/>
        </p:nvSpPr>
        <p:spPr>
          <a:xfrm>
            <a:off x="1078992" y="2670048"/>
            <a:ext cx="5394960" cy="228600"/>
          </a:xfrm>
          <a:prstGeom prst="rect">
            <a:avLst/>
          </a:prstGeom>
          <a:noFill/>
        </p:spPr>
        <p:txBody>
          <a:bodyPr wrap="square" lIns="0" rIns="0" tIns="0" bIns="0" anchor="t">
            <a:spAutoFit/>
          </a:bodyPr>
          <a:lstStyle/>
          <a:p>
            <a:pPr algn="l"/>
            <a:r>
              <a:rPr sz="1300" b="1" i="0">
                <a:solidFill>
                  <a:srgbClr val="111111"/>
                </a:solidFill>
                <a:latin typeface="Open Sans"/>
              </a:rPr>
              <a:t>Smooth Bézier gait for all 4 legs</a:t>
            </a:r>
          </a:p>
        </p:txBody>
      </p:sp>
      <p:sp>
        <p:nvSpPr>
          <p:cNvPr id="12" name="TextBox 11"/>
          <p:cNvSpPr txBox="1"/>
          <p:nvPr/>
        </p:nvSpPr>
        <p:spPr>
          <a:xfrm>
            <a:off x="1078992" y="2834640"/>
            <a:ext cx="5394960" cy="182880"/>
          </a:xfrm>
          <a:prstGeom prst="rect">
            <a:avLst/>
          </a:prstGeom>
          <a:noFill/>
        </p:spPr>
        <p:txBody>
          <a:bodyPr wrap="square" lIns="0" rIns="0" tIns="0" bIns="0" anchor="t">
            <a:spAutoFit/>
          </a:bodyPr>
          <a:lstStyle/>
          <a:p>
            <a:pPr algn="l"/>
            <a:r>
              <a:rPr sz="1000" b="0" i="0">
                <a:solidFill>
                  <a:srgbClr val="6B7280"/>
                </a:solidFill>
                <a:latin typeface="Open Sans"/>
              </a:rPr>
              <a:t>every leg follows a smooth curve, 50× per second</a:t>
            </a:r>
          </a:p>
        </p:txBody>
      </p:sp>
      <p:sp>
        <p:nvSpPr>
          <p:cNvPr id="13" name="Rounded Rectangle 12"/>
          <p:cNvSpPr/>
          <p:nvPr/>
        </p:nvSpPr>
        <p:spPr>
          <a:xfrm>
            <a:off x="6583680" y="2724912"/>
            <a:ext cx="1051560" cy="256032"/>
          </a:xfrm>
          <a:prstGeom prst="roundRect">
            <a:avLst>
              <a:gd name="adj" fmla="val 500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4" name="TextBox 13"/>
          <p:cNvSpPr txBox="1"/>
          <p:nvPr/>
        </p:nvSpPr>
        <p:spPr>
          <a:xfrm>
            <a:off x="6583680" y="2724912"/>
            <a:ext cx="1051560" cy="256032"/>
          </a:xfrm>
          <a:prstGeom prst="rect">
            <a:avLst/>
          </a:prstGeom>
          <a:noFill/>
        </p:spPr>
        <p:txBody>
          <a:bodyPr wrap="square" lIns="0" rIns="0" tIns="0" bIns="0" anchor="ctr">
            <a:spAutoFit/>
          </a:bodyPr>
          <a:lstStyle/>
          <a:p>
            <a:pPr algn="ctr"/>
            <a:r>
              <a:rPr sz="1000" b="1" i="0">
                <a:solidFill>
                  <a:srgbClr val="E2783A"/>
                </a:solidFill>
                <a:latin typeface="Open Sans"/>
              </a:rPr>
              <a:t>New · done</a:t>
            </a:r>
          </a:p>
        </p:txBody>
      </p:sp>
      <p:sp>
        <p:nvSpPr>
          <p:cNvPr id="15" name="Rounded Rectangle 14"/>
          <p:cNvSpPr/>
          <p:nvPr/>
        </p:nvSpPr>
        <p:spPr>
          <a:xfrm>
            <a:off x="914400" y="3172968"/>
            <a:ext cx="685800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6" name="TextBox 15"/>
          <p:cNvSpPr txBox="1"/>
          <p:nvPr/>
        </p:nvSpPr>
        <p:spPr>
          <a:xfrm>
            <a:off x="1078992" y="3236976"/>
            <a:ext cx="5394960" cy="228600"/>
          </a:xfrm>
          <a:prstGeom prst="rect">
            <a:avLst/>
          </a:prstGeom>
          <a:noFill/>
        </p:spPr>
        <p:txBody>
          <a:bodyPr wrap="square" lIns="0" rIns="0" tIns="0" bIns="0" anchor="t">
            <a:spAutoFit/>
          </a:bodyPr>
          <a:lstStyle/>
          <a:p>
            <a:pPr algn="l"/>
            <a:r>
              <a:rPr sz="1300" b="1" i="0">
                <a:solidFill>
                  <a:srgbClr val="111111"/>
                </a:solidFill>
                <a:latin typeface="Open Sans"/>
              </a:rPr>
              <a:t>Walk and trot on command</a:t>
            </a:r>
          </a:p>
        </p:txBody>
      </p:sp>
      <p:sp>
        <p:nvSpPr>
          <p:cNvPr id="17" name="TextBox 16"/>
          <p:cNvSpPr txBox="1"/>
          <p:nvPr/>
        </p:nvSpPr>
        <p:spPr>
          <a:xfrm>
            <a:off x="1078992" y="3401568"/>
            <a:ext cx="5394960" cy="182880"/>
          </a:xfrm>
          <a:prstGeom prst="rect">
            <a:avLst/>
          </a:prstGeom>
          <a:noFill/>
        </p:spPr>
        <p:txBody>
          <a:bodyPr wrap="square" lIns="0" rIns="0" tIns="0" bIns="0" anchor="t">
            <a:spAutoFit/>
          </a:bodyPr>
          <a:lstStyle/>
          <a:p>
            <a:pPr algn="l"/>
            <a:r>
              <a:rPr sz="1000" b="0" i="0">
                <a:solidFill>
                  <a:srgbClr val="6B7280"/>
                </a:solidFill>
                <a:latin typeface="Open Sans"/>
              </a:rPr>
              <a:t>one leg at a time, or diagonal pairs</a:t>
            </a:r>
          </a:p>
        </p:txBody>
      </p:sp>
      <p:sp>
        <p:nvSpPr>
          <p:cNvPr id="18" name="Rounded Rectangle 17"/>
          <p:cNvSpPr/>
          <p:nvPr/>
        </p:nvSpPr>
        <p:spPr>
          <a:xfrm>
            <a:off x="6583680" y="3291840"/>
            <a:ext cx="1051560" cy="256032"/>
          </a:xfrm>
          <a:prstGeom prst="roundRect">
            <a:avLst>
              <a:gd name="adj" fmla="val 500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9" name="TextBox 18"/>
          <p:cNvSpPr txBox="1"/>
          <p:nvPr/>
        </p:nvSpPr>
        <p:spPr>
          <a:xfrm>
            <a:off x="6583680" y="3291840"/>
            <a:ext cx="1051560" cy="256032"/>
          </a:xfrm>
          <a:prstGeom prst="rect">
            <a:avLst/>
          </a:prstGeom>
          <a:noFill/>
        </p:spPr>
        <p:txBody>
          <a:bodyPr wrap="square" lIns="0" rIns="0" tIns="0" bIns="0" anchor="ctr">
            <a:spAutoFit/>
          </a:bodyPr>
          <a:lstStyle/>
          <a:p>
            <a:pPr algn="ctr"/>
            <a:r>
              <a:rPr sz="1000" b="1" i="0">
                <a:solidFill>
                  <a:srgbClr val="E2783A"/>
                </a:solidFill>
                <a:latin typeface="Open Sans"/>
              </a:rPr>
              <a:t>New · done</a:t>
            </a:r>
          </a:p>
        </p:txBody>
      </p:sp>
      <p:sp>
        <p:nvSpPr>
          <p:cNvPr id="20" name="Rounded Rectangle 19"/>
          <p:cNvSpPr/>
          <p:nvPr/>
        </p:nvSpPr>
        <p:spPr>
          <a:xfrm>
            <a:off x="914400" y="3739896"/>
            <a:ext cx="685800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1" name="TextBox 20"/>
          <p:cNvSpPr txBox="1"/>
          <p:nvPr/>
        </p:nvSpPr>
        <p:spPr>
          <a:xfrm>
            <a:off x="1078992" y="3803904"/>
            <a:ext cx="5394960" cy="228600"/>
          </a:xfrm>
          <a:prstGeom prst="rect">
            <a:avLst/>
          </a:prstGeom>
          <a:noFill/>
        </p:spPr>
        <p:txBody>
          <a:bodyPr wrap="square" lIns="0" rIns="0" tIns="0" bIns="0" anchor="t">
            <a:spAutoFit/>
          </a:bodyPr>
          <a:lstStyle/>
          <a:p>
            <a:pPr algn="l"/>
            <a:r>
              <a:rPr sz="1300" b="1" i="0">
                <a:solidFill>
                  <a:srgbClr val="111111"/>
                </a:solidFill>
                <a:latin typeface="Open Sans"/>
              </a:rPr>
              <a:t>Turn left / right by any angle</a:t>
            </a:r>
          </a:p>
        </p:txBody>
      </p:sp>
      <p:sp>
        <p:nvSpPr>
          <p:cNvPr id="22" name="TextBox 21"/>
          <p:cNvSpPr txBox="1"/>
          <p:nvPr/>
        </p:nvSpPr>
        <p:spPr>
          <a:xfrm>
            <a:off x="1078992" y="3968496"/>
            <a:ext cx="5394960" cy="182880"/>
          </a:xfrm>
          <a:prstGeom prst="rect">
            <a:avLst/>
          </a:prstGeom>
          <a:noFill/>
        </p:spPr>
        <p:txBody>
          <a:bodyPr wrap="square" lIns="0" rIns="0" tIns="0" bIns="0" anchor="t">
            <a:spAutoFit/>
          </a:bodyPr>
          <a:lstStyle/>
          <a:p>
            <a:pPr algn="l"/>
            <a:r>
              <a:rPr sz="1000" b="0" i="0">
                <a:solidFill>
                  <a:srgbClr val="6B7280"/>
                </a:solidFill>
                <a:latin typeface="Open Sans"/>
              </a:rPr>
              <a:t>rotates on the spot, stops at the requested angle</a:t>
            </a:r>
          </a:p>
        </p:txBody>
      </p:sp>
      <p:sp>
        <p:nvSpPr>
          <p:cNvPr id="23" name="Rounded Rectangle 22"/>
          <p:cNvSpPr/>
          <p:nvPr/>
        </p:nvSpPr>
        <p:spPr>
          <a:xfrm>
            <a:off x="6583680" y="3858768"/>
            <a:ext cx="1051560" cy="256032"/>
          </a:xfrm>
          <a:prstGeom prst="roundRect">
            <a:avLst>
              <a:gd name="adj" fmla="val 500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4" name="TextBox 23"/>
          <p:cNvSpPr txBox="1"/>
          <p:nvPr/>
        </p:nvSpPr>
        <p:spPr>
          <a:xfrm>
            <a:off x="6583680" y="3858768"/>
            <a:ext cx="1051560" cy="256032"/>
          </a:xfrm>
          <a:prstGeom prst="rect">
            <a:avLst/>
          </a:prstGeom>
          <a:noFill/>
        </p:spPr>
        <p:txBody>
          <a:bodyPr wrap="square" lIns="0" rIns="0" tIns="0" bIns="0" anchor="ctr">
            <a:spAutoFit/>
          </a:bodyPr>
          <a:lstStyle/>
          <a:p>
            <a:pPr algn="ctr"/>
            <a:r>
              <a:rPr sz="1000" b="1" i="0">
                <a:solidFill>
                  <a:srgbClr val="E2783A"/>
                </a:solidFill>
                <a:latin typeface="Open Sans"/>
              </a:rPr>
              <a:t>New · done</a:t>
            </a:r>
          </a:p>
        </p:txBody>
      </p:sp>
      <p:sp>
        <p:nvSpPr>
          <p:cNvPr id="25" name="Rounded Rectangle 24"/>
          <p:cNvSpPr/>
          <p:nvPr/>
        </p:nvSpPr>
        <p:spPr>
          <a:xfrm>
            <a:off x="914400" y="4306824"/>
            <a:ext cx="685800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6" name="TextBox 25"/>
          <p:cNvSpPr txBox="1"/>
          <p:nvPr/>
        </p:nvSpPr>
        <p:spPr>
          <a:xfrm>
            <a:off x="1078992" y="4370832"/>
            <a:ext cx="5394960" cy="228600"/>
          </a:xfrm>
          <a:prstGeom prst="rect">
            <a:avLst/>
          </a:prstGeom>
          <a:noFill/>
        </p:spPr>
        <p:txBody>
          <a:bodyPr wrap="square" lIns="0" rIns="0" tIns="0" bIns="0" anchor="t">
            <a:spAutoFit/>
          </a:bodyPr>
          <a:lstStyle/>
          <a:p>
            <a:pPr algn="l"/>
            <a:r>
              <a:rPr sz="1300" b="1" i="0">
                <a:solidFill>
                  <a:srgbClr val="111111"/>
                </a:solidFill>
                <a:latin typeface="Open Sans"/>
              </a:rPr>
              <a:t>Walk in a circle (left / right)</a:t>
            </a:r>
          </a:p>
        </p:txBody>
      </p:sp>
      <p:sp>
        <p:nvSpPr>
          <p:cNvPr id="27" name="TextBox 26"/>
          <p:cNvSpPr txBox="1"/>
          <p:nvPr/>
        </p:nvSpPr>
        <p:spPr>
          <a:xfrm>
            <a:off x="1078992" y="4535424"/>
            <a:ext cx="5394960" cy="182880"/>
          </a:xfrm>
          <a:prstGeom prst="rect">
            <a:avLst/>
          </a:prstGeom>
          <a:noFill/>
        </p:spPr>
        <p:txBody>
          <a:bodyPr wrap="square" lIns="0" rIns="0" tIns="0" bIns="0" anchor="t">
            <a:spAutoFit/>
          </a:bodyPr>
          <a:lstStyle/>
          <a:p>
            <a:pPr algn="l"/>
            <a:r>
              <a:rPr sz="1000" b="0" i="0">
                <a:solidFill>
                  <a:srgbClr val="6B7280"/>
                </a:solidFill>
                <a:latin typeface="Open Sans"/>
              </a:rPr>
              <a:t>chosen radius, from 0.6 m upwards</a:t>
            </a:r>
          </a:p>
        </p:txBody>
      </p:sp>
      <p:sp>
        <p:nvSpPr>
          <p:cNvPr id="28" name="Rounded Rectangle 27"/>
          <p:cNvSpPr/>
          <p:nvPr/>
        </p:nvSpPr>
        <p:spPr>
          <a:xfrm>
            <a:off x="6583680" y="4425696"/>
            <a:ext cx="1051560" cy="256032"/>
          </a:xfrm>
          <a:prstGeom prst="roundRect">
            <a:avLst>
              <a:gd name="adj" fmla="val 500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9" name="TextBox 28"/>
          <p:cNvSpPr txBox="1"/>
          <p:nvPr/>
        </p:nvSpPr>
        <p:spPr>
          <a:xfrm>
            <a:off x="6583680" y="4425696"/>
            <a:ext cx="1051560" cy="256032"/>
          </a:xfrm>
          <a:prstGeom prst="rect">
            <a:avLst/>
          </a:prstGeom>
          <a:noFill/>
        </p:spPr>
        <p:txBody>
          <a:bodyPr wrap="square" lIns="0" rIns="0" tIns="0" bIns="0" anchor="ctr">
            <a:spAutoFit/>
          </a:bodyPr>
          <a:lstStyle/>
          <a:p>
            <a:pPr algn="ctr"/>
            <a:r>
              <a:rPr sz="1000" b="1" i="0">
                <a:solidFill>
                  <a:srgbClr val="E2783A"/>
                </a:solidFill>
                <a:latin typeface="Open Sans"/>
              </a:rPr>
              <a:t>New · done</a:t>
            </a:r>
          </a:p>
        </p:txBody>
      </p:sp>
      <p:sp>
        <p:nvSpPr>
          <p:cNvPr id="30" name="Rounded Rectangle 29"/>
          <p:cNvSpPr/>
          <p:nvPr/>
        </p:nvSpPr>
        <p:spPr>
          <a:xfrm>
            <a:off x="914400" y="4873752"/>
            <a:ext cx="685800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1" name="TextBox 30"/>
          <p:cNvSpPr txBox="1"/>
          <p:nvPr/>
        </p:nvSpPr>
        <p:spPr>
          <a:xfrm>
            <a:off x="1078992" y="4937760"/>
            <a:ext cx="5394960" cy="228600"/>
          </a:xfrm>
          <a:prstGeom prst="rect">
            <a:avLst/>
          </a:prstGeom>
          <a:noFill/>
        </p:spPr>
        <p:txBody>
          <a:bodyPr wrap="square" lIns="0" rIns="0" tIns="0" bIns="0" anchor="t">
            <a:spAutoFit/>
          </a:bodyPr>
          <a:lstStyle/>
          <a:p>
            <a:pPr algn="l"/>
            <a:r>
              <a:rPr sz="1300" b="1" i="0">
                <a:solidFill>
                  <a:srgbClr val="111111"/>
                </a:solidFill>
                <a:latin typeface="Open Sans"/>
              </a:rPr>
              <a:t>RL training pipeline running</a:t>
            </a:r>
          </a:p>
        </p:txBody>
      </p:sp>
      <p:sp>
        <p:nvSpPr>
          <p:cNvPr id="32" name="TextBox 31"/>
          <p:cNvSpPr txBox="1"/>
          <p:nvPr/>
        </p:nvSpPr>
        <p:spPr>
          <a:xfrm>
            <a:off x="1078992" y="5102352"/>
            <a:ext cx="5394960" cy="182880"/>
          </a:xfrm>
          <a:prstGeom prst="rect">
            <a:avLst/>
          </a:prstGeom>
          <a:noFill/>
        </p:spPr>
        <p:txBody>
          <a:bodyPr wrap="square" lIns="0" rIns="0" tIns="0" bIns="0" anchor="t">
            <a:spAutoFit/>
          </a:bodyPr>
          <a:lstStyle/>
          <a:p>
            <a:pPr algn="l"/>
            <a:r>
              <a:rPr sz="1000" b="0" i="0">
                <a:solidFill>
                  <a:srgbClr val="6B7280"/>
                </a:solidFill>
                <a:latin typeface="Open Sans"/>
              </a:rPr>
              <a:t>PPO tunes the 6 gait numbers · training crash fixed</a:t>
            </a:r>
          </a:p>
        </p:txBody>
      </p:sp>
      <p:sp>
        <p:nvSpPr>
          <p:cNvPr id="33" name="Rounded Rectangle 32"/>
          <p:cNvSpPr/>
          <p:nvPr/>
        </p:nvSpPr>
        <p:spPr>
          <a:xfrm>
            <a:off x="6583680" y="4992624"/>
            <a:ext cx="1051560" cy="256032"/>
          </a:xfrm>
          <a:prstGeom prst="roundRect">
            <a:avLst>
              <a:gd name="adj" fmla="val 500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4" name="TextBox 33"/>
          <p:cNvSpPr txBox="1"/>
          <p:nvPr/>
        </p:nvSpPr>
        <p:spPr>
          <a:xfrm>
            <a:off x="6583680" y="4992624"/>
            <a:ext cx="1051560" cy="256032"/>
          </a:xfrm>
          <a:prstGeom prst="rect">
            <a:avLst/>
          </a:prstGeom>
          <a:noFill/>
        </p:spPr>
        <p:txBody>
          <a:bodyPr wrap="square" lIns="0" rIns="0" tIns="0" bIns="0" anchor="ctr">
            <a:spAutoFit/>
          </a:bodyPr>
          <a:lstStyle/>
          <a:p>
            <a:pPr algn="ctr"/>
            <a:r>
              <a:rPr sz="1000" b="1" i="0">
                <a:solidFill>
                  <a:srgbClr val="E2783A"/>
                </a:solidFill>
                <a:latin typeface="Open Sans"/>
              </a:rPr>
              <a:t>New · done</a:t>
            </a:r>
          </a:p>
        </p:txBody>
      </p:sp>
      <p:sp>
        <p:nvSpPr>
          <p:cNvPr id="35" name="Rounded Rectangle 34"/>
          <p:cNvSpPr/>
          <p:nvPr/>
        </p:nvSpPr>
        <p:spPr>
          <a:xfrm>
            <a:off x="914400" y="5440680"/>
            <a:ext cx="6858000" cy="493776"/>
          </a:xfrm>
          <a:prstGeom prst="roundRect">
            <a:avLst>
              <a:gd name="adj" fmla="val 14814"/>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6" name="TextBox 35"/>
          <p:cNvSpPr txBox="1"/>
          <p:nvPr/>
        </p:nvSpPr>
        <p:spPr>
          <a:xfrm>
            <a:off x="1078992" y="5504688"/>
            <a:ext cx="5394960" cy="228600"/>
          </a:xfrm>
          <a:prstGeom prst="rect">
            <a:avLst/>
          </a:prstGeom>
          <a:noFill/>
        </p:spPr>
        <p:txBody>
          <a:bodyPr wrap="square" lIns="0" rIns="0" tIns="0" bIns="0" anchor="t">
            <a:spAutoFit/>
          </a:bodyPr>
          <a:lstStyle/>
          <a:p>
            <a:pPr algn="l"/>
            <a:r>
              <a:rPr sz="1300" b="1" i="0">
                <a:solidFill>
                  <a:srgbClr val="111111"/>
                </a:solidFill>
                <a:latin typeface="Open Sans"/>
              </a:rPr>
              <a:t>Automated tests</a:t>
            </a:r>
          </a:p>
        </p:txBody>
      </p:sp>
      <p:sp>
        <p:nvSpPr>
          <p:cNvPr id="37" name="TextBox 36"/>
          <p:cNvSpPr txBox="1"/>
          <p:nvPr/>
        </p:nvSpPr>
        <p:spPr>
          <a:xfrm>
            <a:off x="1078992" y="5669280"/>
            <a:ext cx="5394960" cy="182880"/>
          </a:xfrm>
          <a:prstGeom prst="rect">
            <a:avLst/>
          </a:prstGeom>
          <a:noFill/>
        </p:spPr>
        <p:txBody>
          <a:bodyPr wrap="square" lIns="0" rIns="0" tIns="0" bIns="0" anchor="t">
            <a:spAutoFit/>
          </a:bodyPr>
          <a:lstStyle/>
          <a:p>
            <a:pPr algn="l"/>
            <a:r>
              <a:rPr sz="1000" b="0" i="0">
                <a:solidFill>
                  <a:srgbClr val="6B7280"/>
                </a:solidFill>
                <a:latin typeface="Open Sans"/>
              </a:rPr>
              <a:t>5 checks for turning and circles, all passing</a:t>
            </a:r>
          </a:p>
        </p:txBody>
      </p:sp>
      <p:sp>
        <p:nvSpPr>
          <p:cNvPr id="38" name="Rounded Rectangle 37"/>
          <p:cNvSpPr/>
          <p:nvPr/>
        </p:nvSpPr>
        <p:spPr>
          <a:xfrm>
            <a:off x="6583680" y="5559552"/>
            <a:ext cx="1051560" cy="256032"/>
          </a:xfrm>
          <a:prstGeom prst="roundRect">
            <a:avLst>
              <a:gd name="adj" fmla="val 50000"/>
            </a:avLst>
          </a:prstGeom>
          <a:solidFill>
            <a:srgbClr val="FBED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9" name="TextBox 38"/>
          <p:cNvSpPr txBox="1"/>
          <p:nvPr/>
        </p:nvSpPr>
        <p:spPr>
          <a:xfrm>
            <a:off x="6583680" y="5559552"/>
            <a:ext cx="1051560" cy="256032"/>
          </a:xfrm>
          <a:prstGeom prst="rect">
            <a:avLst/>
          </a:prstGeom>
          <a:noFill/>
        </p:spPr>
        <p:txBody>
          <a:bodyPr wrap="square" lIns="0" rIns="0" tIns="0" bIns="0" anchor="ctr">
            <a:spAutoFit/>
          </a:bodyPr>
          <a:lstStyle/>
          <a:p>
            <a:pPr algn="ctr"/>
            <a:r>
              <a:rPr sz="1000" b="1" i="0">
                <a:solidFill>
                  <a:srgbClr val="E2783A"/>
                </a:solidFill>
                <a:latin typeface="Open Sans"/>
              </a:rPr>
              <a:t>New · done</a:t>
            </a:r>
          </a:p>
        </p:txBody>
      </p:sp>
      <p:sp>
        <p:nvSpPr>
          <p:cNvPr id="40" name="Results panel"/>
          <p:cNvSpPr/>
          <p:nvPr/>
        </p:nvSpPr>
        <p:spPr>
          <a:xfrm>
            <a:off x="8275320" y="1828800"/>
            <a:ext cx="3246120" cy="4343400"/>
          </a:xfrm>
          <a:prstGeom prst="roundRect">
            <a:avLst>
              <a:gd name="adj" fmla="val 5070"/>
            </a:avLst>
          </a:prstGeom>
          <a:solidFill>
            <a:srgbClr val="FBEDE3"/>
          </a:solidFill>
          <a:ln w="3175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1" name="TextBox 40"/>
          <p:cNvSpPr txBox="1"/>
          <p:nvPr/>
        </p:nvSpPr>
        <p:spPr>
          <a:xfrm>
            <a:off x="8531352" y="2057400"/>
            <a:ext cx="2788920" cy="365760"/>
          </a:xfrm>
          <a:prstGeom prst="rect">
            <a:avLst/>
          </a:prstGeom>
          <a:noFill/>
        </p:spPr>
        <p:txBody>
          <a:bodyPr wrap="square" lIns="0" rIns="0" tIns="0" bIns="0" anchor="t">
            <a:spAutoFit/>
          </a:bodyPr>
          <a:lstStyle/>
          <a:p>
            <a:pPr algn="l"/>
            <a:r>
              <a:rPr sz="1800" b="1" i="0">
                <a:solidFill>
                  <a:srgbClr val="111111"/>
                </a:solidFill>
                <a:latin typeface="Open Sans"/>
              </a:rPr>
              <a:t>Measured in simulation</a:t>
            </a:r>
          </a:p>
        </p:txBody>
      </p:sp>
      <p:sp>
        <p:nvSpPr>
          <p:cNvPr id="42" name="Rounded Rectangle 41"/>
          <p:cNvSpPr/>
          <p:nvPr/>
        </p:nvSpPr>
        <p:spPr>
          <a:xfrm>
            <a:off x="8458200" y="2606040"/>
            <a:ext cx="2880360" cy="1005840"/>
          </a:xfrm>
          <a:prstGeom prst="roundRect">
            <a:avLst>
              <a:gd name="adj" fmla="val 909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3" name="TextBox 42"/>
          <p:cNvSpPr txBox="1"/>
          <p:nvPr/>
        </p:nvSpPr>
        <p:spPr>
          <a:xfrm>
            <a:off x="8622792" y="2679192"/>
            <a:ext cx="2606039" cy="502920"/>
          </a:xfrm>
          <a:prstGeom prst="rect">
            <a:avLst/>
          </a:prstGeom>
          <a:noFill/>
        </p:spPr>
        <p:txBody>
          <a:bodyPr wrap="square" lIns="0" rIns="0" tIns="0" bIns="0" anchor="t">
            <a:spAutoFit/>
          </a:bodyPr>
          <a:lstStyle/>
          <a:p>
            <a:pPr algn="l"/>
            <a:r>
              <a:rPr sz="2800" b="1" i="0">
                <a:solidFill>
                  <a:srgbClr val="E2783A"/>
                </a:solidFill>
                <a:latin typeface="Open Sans"/>
              </a:rPr>
              <a:t>±2.5°</a:t>
            </a:r>
          </a:p>
        </p:txBody>
      </p:sp>
      <p:sp>
        <p:nvSpPr>
          <p:cNvPr id="44" name="TextBox 43"/>
          <p:cNvSpPr txBox="1"/>
          <p:nvPr/>
        </p:nvSpPr>
        <p:spPr>
          <a:xfrm>
            <a:off x="8622792" y="3154680"/>
            <a:ext cx="2606039" cy="228600"/>
          </a:xfrm>
          <a:prstGeom prst="rect">
            <a:avLst/>
          </a:prstGeom>
          <a:noFill/>
        </p:spPr>
        <p:txBody>
          <a:bodyPr wrap="square" lIns="0" rIns="0" tIns="0" bIns="0" anchor="t">
            <a:spAutoFit/>
          </a:bodyPr>
          <a:lstStyle/>
          <a:p>
            <a:pPr algn="l"/>
            <a:r>
              <a:rPr sz="1300" b="1" i="0">
                <a:solidFill>
                  <a:srgbClr val="343F4E"/>
                </a:solidFill>
                <a:latin typeface="Open Sans"/>
              </a:rPr>
              <a:t>turn accuracy</a:t>
            </a:r>
          </a:p>
        </p:txBody>
      </p:sp>
      <p:sp>
        <p:nvSpPr>
          <p:cNvPr id="45" name="TextBox 44"/>
          <p:cNvSpPr txBox="1"/>
          <p:nvPr/>
        </p:nvSpPr>
        <p:spPr>
          <a:xfrm>
            <a:off x="8622792" y="3355848"/>
            <a:ext cx="2606039" cy="201168"/>
          </a:xfrm>
          <a:prstGeom prst="rect">
            <a:avLst/>
          </a:prstGeom>
          <a:noFill/>
        </p:spPr>
        <p:txBody>
          <a:bodyPr wrap="square" lIns="0" rIns="0" tIns="0" bIns="0" anchor="t">
            <a:spAutoFit/>
          </a:bodyPr>
          <a:lstStyle/>
          <a:p>
            <a:pPr algn="l"/>
            <a:r>
              <a:rPr sz="1000" b="0" i="0">
                <a:solidFill>
                  <a:srgbClr val="6B7280"/>
                </a:solidFill>
                <a:latin typeface="Open Sans"/>
              </a:rPr>
              <a:t>30°, 90°, 180° · both directions</a:t>
            </a:r>
          </a:p>
        </p:txBody>
      </p:sp>
      <p:sp>
        <p:nvSpPr>
          <p:cNvPr id="46" name="Rounded Rectangle 45"/>
          <p:cNvSpPr/>
          <p:nvPr/>
        </p:nvSpPr>
        <p:spPr>
          <a:xfrm>
            <a:off x="8458200" y="3749039"/>
            <a:ext cx="2880360" cy="1005840"/>
          </a:xfrm>
          <a:prstGeom prst="roundRect">
            <a:avLst>
              <a:gd name="adj" fmla="val 909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7" name="TextBox 46"/>
          <p:cNvSpPr txBox="1"/>
          <p:nvPr/>
        </p:nvSpPr>
        <p:spPr>
          <a:xfrm>
            <a:off x="8622792" y="3822191"/>
            <a:ext cx="2606039" cy="502920"/>
          </a:xfrm>
          <a:prstGeom prst="rect">
            <a:avLst/>
          </a:prstGeom>
          <a:noFill/>
        </p:spPr>
        <p:txBody>
          <a:bodyPr wrap="square" lIns="0" rIns="0" tIns="0" bIns="0" anchor="t">
            <a:spAutoFit/>
          </a:bodyPr>
          <a:lstStyle/>
          <a:p>
            <a:pPr algn="l"/>
            <a:r>
              <a:rPr sz="2800" b="1" i="0">
                <a:solidFill>
                  <a:srgbClr val="E2783A"/>
                </a:solidFill>
                <a:latin typeface="Open Sans"/>
              </a:rPr>
              <a:t>&lt; 20 cm</a:t>
            </a:r>
          </a:p>
        </p:txBody>
      </p:sp>
      <p:sp>
        <p:nvSpPr>
          <p:cNvPr id="48" name="TextBox 47"/>
          <p:cNvSpPr txBox="1"/>
          <p:nvPr/>
        </p:nvSpPr>
        <p:spPr>
          <a:xfrm>
            <a:off x="8622792" y="4297679"/>
            <a:ext cx="2606039" cy="228600"/>
          </a:xfrm>
          <a:prstGeom prst="rect">
            <a:avLst/>
          </a:prstGeom>
          <a:noFill/>
        </p:spPr>
        <p:txBody>
          <a:bodyPr wrap="square" lIns="0" rIns="0" tIns="0" bIns="0" anchor="t">
            <a:spAutoFit/>
          </a:bodyPr>
          <a:lstStyle/>
          <a:p>
            <a:pPr algn="l"/>
            <a:r>
              <a:rPr sz="1300" b="1" i="0">
                <a:solidFill>
                  <a:srgbClr val="343F4E"/>
                </a:solidFill>
                <a:latin typeface="Open Sans"/>
              </a:rPr>
              <a:t>drift while turning</a:t>
            </a:r>
          </a:p>
        </p:txBody>
      </p:sp>
      <p:sp>
        <p:nvSpPr>
          <p:cNvPr id="49" name="TextBox 48"/>
          <p:cNvSpPr txBox="1"/>
          <p:nvPr/>
        </p:nvSpPr>
        <p:spPr>
          <a:xfrm>
            <a:off x="8622792" y="4498848"/>
            <a:ext cx="2606039" cy="201168"/>
          </a:xfrm>
          <a:prstGeom prst="rect">
            <a:avLst/>
          </a:prstGeom>
          <a:noFill/>
        </p:spPr>
        <p:txBody>
          <a:bodyPr wrap="square" lIns="0" rIns="0" tIns="0" bIns="0" anchor="t">
            <a:spAutoFit/>
          </a:bodyPr>
          <a:lstStyle/>
          <a:p>
            <a:pPr algn="l"/>
            <a:r>
              <a:rPr sz="1000" b="0" i="0">
                <a:solidFill>
                  <a:srgbClr val="6B7280"/>
                </a:solidFill>
                <a:latin typeface="Open Sans"/>
              </a:rPr>
              <a:t>turns on the spot</a:t>
            </a:r>
          </a:p>
        </p:txBody>
      </p:sp>
      <p:sp>
        <p:nvSpPr>
          <p:cNvPr id="50" name="Rounded Rectangle 49"/>
          <p:cNvSpPr/>
          <p:nvPr/>
        </p:nvSpPr>
        <p:spPr>
          <a:xfrm>
            <a:off x="8458200" y="4892040"/>
            <a:ext cx="2880360" cy="1005840"/>
          </a:xfrm>
          <a:prstGeom prst="roundRect">
            <a:avLst>
              <a:gd name="adj" fmla="val 909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1" name="TextBox 50"/>
          <p:cNvSpPr txBox="1"/>
          <p:nvPr/>
        </p:nvSpPr>
        <p:spPr>
          <a:xfrm>
            <a:off x="8622792" y="4965192"/>
            <a:ext cx="2606039" cy="502920"/>
          </a:xfrm>
          <a:prstGeom prst="rect">
            <a:avLst/>
          </a:prstGeom>
          <a:noFill/>
        </p:spPr>
        <p:txBody>
          <a:bodyPr wrap="square" lIns="0" rIns="0" tIns="0" bIns="0" anchor="t">
            <a:spAutoFit/>
          </a:bodyPr>
          <a:lstStyle/>
          <a:p>
            <a:pPr algn="l"/>
            <a:r>
              <a:rPr sz="2800" b="1" i="0">
                <a:solidFill>
                  <a:srgbClr val="E2783A"/>
                </a:solidFill>
                <a:latin typeface="Open Sans"/>
              </a:rPr>
              <a:t>1.00 m</a:t>
            </a:r>
          </a:p>
        </p:txBody>
      </p:sp>
      <p:sp>
        <p:nvSpPr>
          <p:cNvPr id="52" name="TextBox 51"/>
          <p:cNvSpPr txBox="1"/>
          <p:nvPr/>
        </p:nvSpPr>
        <p:spPr>
          <a:xfrm>
            <a:off x="8622792" y="5440679"/>
            <a:ext cx="2606039" cy="228600"/>
          </a:xfrm>
          <a:prstGeom prst="rect">
            <a:avLst/>
          </a:prstGeom>
          <a:noFill/>
        </p:spPr>
        <p:txBody>
          <a:bodyPr wrap="square" lIns="0" rIns="0" tIns="0" bIns="0" anchor="t">
            <a:spAutoFit/>
          </a:bodyPr>
          <a:lstStyle/>
          <a:p>
            <a:pPr algn="l"/>
            <a:r>
              <a:rPr sz="1300" b="1" i="0">
                <a:solidFill>
                  <a:srgbClr val="343F4E"/>
                </a:solidFill>
                <a:latin typeface="Open Sans"/>
              </a:rPr>
              <a:t>circle when asked for 1 m</a:t>
            </a:r>
          </a:p>
        </p:txBody>
      </p:sp>
      <p:sp>
        <p:nvSpPr>
          <p:cNvPr id="53" name="TextBox 52"/>
          <p:cNvSpPr txBox="1"/>
          <p:nvPr/>
        </p:nvSpPr>
        <p:spPr>
          <a:xfrm>
            <a:off x="8622792" y="5641848"/>
            <a:ext cx="2606039" cy="201168"/>
          </a:xfrm>
          <a:prstGeom prst="rect">
            <a:avLst/>
          </a:prstGeom>
          <a:noFill/>
        </p:spPr>
        <p:txBody>
          <a:bodyPr wrap="square" lIns="0" rIns="0" tIns="0" bIns="0" anchor="t">
            <a:spAutoFit/>
          </a:bodyPr>
          <a:lstStyle/>
          <a:p>
            <a:pPr algn="l"/>
            <a:r>
              <a:rPr sz="1000" b="0" i="0">
                <a:solidFill>
                  <a:srgbClr val="6B7280"/>
                </a:solidFill>
                <a:latin typeface="Open Sans"/>
              </a:rPr>
              <a:t>2 m → 1.96–1.99 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502920"/>
            <a:ext cx="9875520" cy="731520"/>
          </a:xfrm>
          <a:prstGeom prst="rect">
            <a:avLst/>
          </a:prstGeom>
          <a:noFill/>
        </p:spPr>
        <p:txBody>
          <a:bodyPr wrap="square" lIns="0" rIns="0" tIns="0" bIns="0" anchor="t">
            <a:spAutoFit/>
          </a:bodyPr>
          <a:lstStyle/>
          <a:p>
            <a:pPr algn="l"/>
            <a:r>
              <a:rPr sz="3600" b="1" i="0">
                <a:solidFill>
                  <a:srgbClr val="111111"/>
                </a:solidFill>
                <a:latin typeface="Open Sans"/>
              </a:rPr>
              <a:t>Phase 4: Integration &amp; Testing</a:t>
            </a:r>
          </a:p>
        </p:txBody>
      </p:sp>
      <p:sp>
        <p:nvSpPr>
          <p:cNvPr id="3" name="Subtitle"/>
          <p:cNvSpPr txBox="1"/>
          <p:nvPr/>
        </p:nvSpPr>
        <p:spPr>
          <a:xfrm>
            <a:off x="704088" y="1207008"/>
            <a:ext cx="9875520" cy="365760"/>
          </a:xfrm>
          <a:prstGeom prst="rect">
            <a:avLst/>
          </a:prstGeom>
          <a:noFill/>
        </p:spPr>
        <p:txBody>
          <a:bodyPr wrap="square" lIns="0" rIns="0" tIns="0" bIns="0" anchor="t">
            <a:spAutoFit/>
          </a:bodyPr>
          <a:lstStyle/>
          <a:p>
            <a:pPr algn="l"/>
            <a:r>
              <a:rPr sz="1600" b="0" i="0">
                <a:solidFill>
                  <a:srgbClr val="6B7280"/>
                </a:solidFill>
                <a:latin typeface="Open Sans"/>
              </a:rPr>
              <a:t>Nov 16 – Dec 31 · bringing simulation and hardware together</a:t>
            </a:r>
          </a:p>
        </p:txBody>
      </p:sp>
      <p:sp>
        <p:nvSpPr>
          <p:cNvPr id="4" name="Logo"/>
          <p:cNvSpPr txBox="1"/>
          <p:nvPr/>
        </p:nvSpPr>
        <p:spPr>
          <a:xfrm>
            <a:off x="10058400" y="502920"/>
            <a:ext cx="1463040" cy="548640"/>
          </a:xfrm>
          <a:prstGeom prst="rect">
            <a:avLst/>
          </a:prstGeom>
          <a:noFill/>
        </p:spPr>
        <p:txBody>
          <a:bodyPr wrap="square" lIns="0" rIns="0" tIns="0" bIns="0" anchor="t">
            <a:spAutoFit/>
          </a:bodyPr>
          <a:lstStyle/>
          <a:p>
            <a:pPr algn="r"/>
            <a:r>
              <a:rPr sz="2800" b="1" i="0">
                <a:solidFill>
                  <a:srgbClr val="E2783A"/>
                </a:solidFill>
                <a:latin typeface="Open Sans"/>
              </a:rPr>
              <a:t>thws</a:t>
            </a:r>
          </a:p>
        </p:txBody>
      </p:sp>
      <p:sp>
        <p:nvSpPr>
          <p:cNvPr id="5" name="Oval 4"/>
          <p:cNvSpPr/>
          <p:nvPr/>
        </p:nvSpPr>
        <p:spPr>
          <a:xfrm>
            <a:off x="704088" y="6281928"/>
            <a:ext cx="237744" cy="237744"/>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 name="Presenter"/>
          <p:cNvSpPr txBox="1"/>
          <p:nvPr/>
        </p:nvSpPr>
        <p:spPr>
          <a:xfrm>
            <a:off x="1051560" y="6272784"/>
            <a:ext cx="3657600" cy="274320"/>
          </a:xfrm>
          <a:prstGeom prst="rect">
            <a:avLst/>
          </a:prstGeom>
          <a:noFill/>
        </p:spPr>
        <p:txBody>
          <a:bodyPr wrap="square" lIns="0" rIns="0" tIns="0" bIns="0" anchor="t">
            <a:spAutoFit/>
          </a:bodyPr>
          <a:lstStyle/>
          <a:p>
            <a:pPr algn="l"/>
            <a:r>
              <a:rPr sz="1300" b="0" i="0">
                <a:solidFill>
                  <a:srgbClr val="6B7280"/>
                </a:solidFill>
                <a:latin typeface="Open Sans"/>
              </a:rPr>
              <a:t>Aditya Srivatsa</a:t>
            </a:r>
          </a:p>
        </p:txBody>
      </p:sp>
      <p:sp>
        <p:nvSpPr>
          <p:cNvPr id="7" name="Phase 4 card"/>
          <p:cNvSpPr/>
          <p:nvPr/>
        </p:nvSpPr>
        <p:spPr>
          <a:xfrm>
            <a:off x="685800" y="1828800"/>
            <a:ext cx="7315200" cy="4343400"/>
          </a:xfrm>
          <a:prstGeom prst="roundRect">
            <a:avLst>
              <a:gd name="adj" fmla="val 2526"/>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Oval 7"/>
          <p:cNvSpPr/>
          <p:nvPr/>
        </p:nvSpPr>
        <p:spPr>
          <a:xfrm>
            <a:off x="877824" y="2020824"/>
            <a:ext cx="438912" cy="438912"/>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Open Sans"/>
              </a:rPr>
              <a:t>4</a:t>
            </a:r>
          </a:p>
        </p:txBody>
      </p:sp>
      <p:sp>
        <p:nvSpPr>
          <p:cNvPr id="9" name="TextBox 8"/>
          <p:cNvSpPr txBox="1"/>
          <p:nvPr/>
        </p:nvSpPr>
        <p:spPr>
          <a:xfrm>
            <a:off x="1463040" y="2075688"/>
            <a:ext cx="6400800" cy="365760"/>
          </a:xfrm>
          <a:prstGeom prst="rect">
            <a:avLst/>
          </a:prstGeom>
          <a:noFill/>
        </p:spPr>
        <p:txBody>
          <a:bodyPr wrap="square" lIns="0" rIns="0" tIns="0" bIns="0" anchor="t">
            <a:spAutoFit/>
          </a:bodyPr>
          <a:lstStyle/>
          <a:p>
            <a:pPr algn="l"/>
            <a:r>
              <a:rPr sz="2000" b="1" i="0">
                <a:solidFill>
                  <a:srgbClr val="111111"/>
                </a:solidFill>
                <a:latin typeface="Open Sans"/>
              </a:rPr>
              <a:t>Phase 4 tasks</a:t>
            </a:r>
          </a:p>
        </p:txBody>
      </p:sp>
      <p:sp>
        <p:nvSpPr>
          <p:cNvPr id="10" name="Rounded Rectangle 9"/>
          <p:cNvSpPr/>
          <p:nvPr/>
        </p:nvSpPr>
        <p:spPr>
          <a:xfrm>
            <a:off x="914400" y="2606040"/>
            <a:ext cx="6858000" cy="530352"/>
          </a:xfrm>
          <a:prstGeom prst="roundRect">
            <a:avLst>
              <a:gd name="adj" fmla="val 13793"/>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1" name="TextBox 10"/>
          <p:cNvSpPr txBox="1"/>
          <p:nvPr/>
        </p:nvSpPr>
        <p:spPr>
          <a:xfrm>
            <a:off x="1078992" y="2670048"/>
            <a:ext cx="5394960" cy="228600"/>
          </a:xfrm>
          <a:prstGeom prst="rect">
            <a:avLst/>
          </a:prstGeom>
          <a:noFill/>
        </p:spPr>
        <p:txBody>
          <a:bodyPr wrap="square" lIns="0" rIns="0" tIns="0" bIns="0" anchor="t">
            <a:spAutoFit/>
          </a:bodyPr>
          <a:lstStyle/>
          <a:p>
            <a:pPr algn="l"/>
            <a:r>
              <a:rPr sz="1300" b="1" i="0">
                <a:solidFill>
                  <a:srgbClr val="111111"/>
                </a:solidFill>
                <a:latin typeface="Open Sans"/>
              </a:rPr>
              <a:t>Jetson Nano &amp; camera integration + testing</a:t>
            </a:r>
          </a:p>
        </p:txBody>
      </p:sp>
      <p:sp>
        <p:nvSpPr>
          <p:cNvPr id="12" name="TextBox 11"/>
          <p:cNvSpPr txBox="1"/>
          <p:nvPr/>
        </p:nvSpPr>
        <p:spPr>
          <a:xfrm>
            <a:off x="1078992" y="2834640"/>
            <a:ext cx="5394960" cy="182880"/>
          </a:xfrm>
          <a:prstGeom prst="rect">
            <a:avLst/>
          </a:prstGeom>
          <a:noFill/>
        </p:spPr>
        <p:txBody>
          <a:bodyPr wrap="square" lIns="0" rIns="0" tIns="0" bIns="0" anchor="t">
            <a:spAutoFit/>
          </a:bodyPr>
          <a:lstStyle/>
          <a:p>
            <a:pPr algn="l"/>
            <a:r>
              <a:rPr sz="1000" b="0" i="0">
                <a:solidFill>
                  <a:srgbClr val="6B7280"/>
                </a:solidFill>
                <a:latin typeface="Open Sans"/>
              </a:rPr>
              <a:t>Nov 16–30 · Harsh · Bhavishya · Sravan</a:t>
            </a:r>
          </a:p>
        </p:txBody>
      </p:sp>
      <p:sp>
        <p:nvSpPr>
          <p:cNvPr id="13" name="Rounded Rectangle 12"/>
          <p:cNvSpPr/>
          <p:nvPr/>
        </p:nvSpPr>
        <p:spPr>
          <a:xfrm>
            <a:off x="6583680" y="2743200"/>
            <a:ext cx="1051560" cy="256032"/>
          </a:xfrm>
          <a:prstGeom prst="roundRect">
            <a:avLst>
              <a:gd name="adj" fmla="val 500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4" name="TextBox 13"/>
          <p:cNvSpPr txBox="1"/>
          <p:nvPr/>
        </p:nvSpPr>
        <p:spPr>
          <a:xfrm>
            <a:off x="6583680" y="2743200"/>
            <a:ext cx="1051560" cy="256032"/>
          </a:xfrm>
          <a:prstGeom prst="rect">
            <a:avLst/>
          </a:prstGeom>
          <a:noFill/>
        </p:spPr>
        <p:txBody>
          <a:bodyPr wrap="square" lIns="0" rIns="0" tIns="0" bIns="0" anchor="ctr">
            <a:spAutoFit/>
          </a:bodyPr>
          <a:lstStyle/>
          <a:p>
            <a:pPr algn="ctr"/>
            <a:r>
              <a:rPr sz="1000" b="1" i="0">
                <a:solidFill>
                  <a:srgbClr val="4A7BB7"/>
                </a:solidFill>
                <a:latin typeface="Open Sans"/>
              </a:rPr>
              <a:t>In progress</a:t>
            </a:r>
          </a:p>
        </p:txBody>
      </p:sp>
      <p:sp>
        <p:nvSpPr>
          <p:cNvPr id="15" name="Rounded Rectangle 14"/>
          <p:cNvSpPr/>
          <p:nvPr/>
        </p:nvSpPr>
        <p:spPr>
          <a:xfrm>
            <a:off x="914400" y="3209544"/>
            <a:ext cx="6858000" cy="530352"/>
          </a:xfrm>
          <a:prstGeom prst="roundRect">
            <a:avLst>
              <a:gd name="adj" fmla="val 13793"/>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6" name="TextBox 15"/>
          <p:cNvSpPr txBox="1"/>
          <p:nvPr/>
        </p:nvSpPr>
        <p:spPr>
          <a:xfrm>
            <a:off x="1078992" y="3273552"/>
            <a:ext cx="5394960" cy="228600"/>
          </a:xfrm>
          <a:prstGeom prst="rect">
            <a:avLst/>
          </a:prstGeom>
          <a:noFill/>
        </p:spPr>
        <p:txBody>
          <a:bodyPr wrap="square" lIns="0" rIns="0" tIns="0" bIns="0" anchor="t">
            <a:spAutoFit/>
          </a:bodyPr>
          <a:lstStyle/>
          <a:p>
            <a:pPr algn="l"/>
            <a:r>
              <a:rPr sz="1300" b="1" i="0">
                <a:solidFill>
                  <a:srgbClr val="111111"/>
                </a:solidFill>
                <a:latin typeface="Open Sans"/>
              </a:rPr>
              <a:t>Integrating the head (LED only)</a:t>
            </a:r>
          </a:p>
        </p:txBody>
      </p:sp>
      <p:sp>
        <p:nvSpPr>
          <p:cNvPr id="17" name="TextBox 16"/>
          <p:cNvSpPr txBox="1"/>
          <p:nvPr/>
        </p:nvSpPr>
        <p:spPr>
          <a:xfrm>
            <a:off x="1078992" y="3438144"/>
            <a:ext cx="5394960" cy="182880"/>
          </a:xfrm>
          <a:prstGeom prst="rect">
            <a:avLst/>
          </a:prstGeom>
          <a:noFill/>
        </p:spPr>
        <p:txBody>
          <a:bodyPr wrap="square" lIns="0" rIns="0" tIns="0" bIns="0" anchor="t">
            <a:spAutoFit/>
          </a:bodyPr>
          <a:lstStyle/>
          <a:p>
            <a:pPr algn="l"/>
            <a:r>
              <a:rPr sz="1000" b="0" i="0">
                <a:solidFill>
                  <a:srgbClr val="6B7280"/>
                </a:solidFill>
                <a:latin typeface="Open Sans"/>
              </a:rPr>
              <a:t>Dec 1–15 · Bhavishya · Harsh · Sravan</a:t>
            </a:r>
          </a:p>
        </p:txBody>
      </p:sp>
      <p:sp>
        <p:nvSpPr>
          <p:cNvPr id="18" name="Rounded Rectangle 17"/>
          <p:cNvSpPr/>
          <p:nvPr/>
        </p:nvSpPr>
        <p:spPr>
          <a:xfrm>
            <a:off x="6583680" y="3346704"/>
            <a:ext cx="1051560" cy="256032"/>
          </a:xfrm>
          <a:prstGeom prst="roundRect">
            <a:avLst>
              <a:gd name="adj" fmla="val 50000"/>
            </a:avLst>
          </a:prstGeom>
          <a:solidFill>
            <a:srgbClr val="E3EC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9" name="TextBox 18"/>
          <p:cNvSpPr txBox="1"/>
          <p:nvPr/>
        </p:nvSpPr>
        <p:spPr>
          <a:xfrm>
            <a:off x="6583680" y="3346704"/>
            <a:ext cx="1051560" cy="256032"/>
          </a:xfrm>
          <a:prstGeom prst="rect">
            <a:avLst/>
          </a:prstGeom>
          <a:noFill/>
        </p:spPr>
        <p:txBody>
          <a:bodyPr wrap="square" lIns="0" rIns="0" tIns="0" bIns="0" anchor="ctr">
            <a:spAutoFit/>
          </a:bodyPr>
          <a:lstStyle/>
          <a:p>
            <a:pPr algn="ctr"/>
            <a:r>
              <a:rPr sz="1000" b="1" i="0">
                <a:solidFill>
                  <a:srgbClr val="4A7BB7"/>
                </a:solidFill>
                <a:latin typeface="Open Sans"/>
              </a:rPr>
              <a:t>In progress</a:t>
            </a:r>
          </a:p>
        </p:txBody>
      </p:sp>
      <p:sp>
        <p:nvSpPr>
          <p:cNvPr id="20" name="Rounded Rectangle 19"/>
          <p:cNvSpPr/>
          <p:nvPr/>
        </p:nvSpPr>
        <p:spPr>
          <a:xfrm>
            <a:off x="914400" y="3813048"/>
            <a:ext cx="6858000" cy="530352"/>
          </a:xfrm>
          <a:prstGeom prst="roundRect">
            <a:avLst>
              <a:gd name="adj" fmla="val 13793"/>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1" name="TextBox 20"/>
          <p:cNvSpPr txBox="1"/>
          <p:nvPr/>
        </p:nvSpPr>
        <p:spPr>
          <a:xfrm>
            <a:off x="1078992" y="3877056"/>
            <a:ext cx="5394960" cy="228600"/>
          </a:xfrm>
          <a:prstGeom prst="rect">
            <a:avLst/>
          </a:prstGeom>
          <a:noFill/>
        </p:spPr>
        <p:txBody>
          <a:bodyPr wrap="square" lIns="0" rIns="0" tIns="0" bIns="0" anchor="t">
            <a:spAutoFit/>
          </a:bodyPr>
          <a:lstStyle/>
          <a:p>
            <a:pPr algn="l"/>
            <a:r>
              <a:rPr sz="1300" b="1" i="0">
                <a:solidFill>
                  <a:srgbClr val="111111"/>
                </a:solidFill>
                <a:latin typeface="Open Sans"/>
              </a:rPr>
              <a:t>Real robot movement testing</a:t>
            </a:r>
          </a:p>
        </p:txBody>
      </p:sp>
      <p:sp>
        <p:nvSpPr>
          <p:cNvPr id="22" name="TextBox 21"/>
          <p:cNvSpPr txBox="1"/>
          <p:nvPr/>
        </p:nvSpPr>
        <p:spPr>
          <a:xfrm>
            <a:off x="1078992" y="4041648"/>
            <a:ext cx="5394960" cy="182880"/>
          </a:xfrm>
          <a:prstGeom prst="rect">
            <a:avLst/>
          </a:prstGeom>
          <a:noFill/>
        </p:spPr>
        <p:txBody>
          <a:bodyPr wrap="square" lIns="0" rIns="0" tIns="0" bIns="0" anchor="t">
            <a:spAutoFit/>
          </a:bodyPr>
          <a:lstStyle/>
          <a:p>
            <a:pPr algn="l"/>
            <a:r>
              <a:rPr sz="1000" b="0" i="0">
                <a:solidFill>
                  <a:srgbClr val="6B7280"/>
                </a:solidFill>
                <a:latin typeface="Open Sans"/>
              </a:rPr>
              <a:t>Dec 1–15 · Aditya · Thejasvi</a:t>
            </a:r>
          </a:p>
        </p:txBody>
      </p:sp>
      <p:sp>
        <p:nvSpPr>
          <p:cNvPr id="23" name="Rounded Rectangle 22"/>
          <p:cNvSpPr/>
          <p:nvPr/>
        </p:nvSpPr>
        <p:spPr>
          <a:xfrm>
            <a:off x="6583680" y="3950208"/>
            <a:ext cx="1051560" cy="256032"/>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4" name="TextBox 23"/>
          <p:cNvSpPr txBox="1"/>
          <p:nvPr/>
        </p:nvSpPr>
        <p:spPr>
          <a:xfrm>
            <a:off x="6583680" y="3950208"/>
            <a:ext cx="1051560" cy="256032"/>
          </a:xfrm>
          <a:prstGeom prst="rect">
            <a:avLst/>
          </a:prstGeom>
          <a:noFill/>
        </p:spPr>
        <p:txBody>
          <a:bodyPr wrap="square" lIns="0" rIns="0" tIns="0" bIns="0" anchor="ctr">
            <a:spAutoFit/>
          </a:bodyPr>
          <a:lstStyle/>
          <a:p>
            <a:pPr algn="ctr"/>
            <a:r>
              <a:rPr sz="1000" b="1" i="0">
                <a:solidFill>
                  <a:srgbClr val="6B7280"/>
                </a:solidFill>
                <a:latin typeface="Open Sans"/>
              </a:rPr>
              <a:t>Not started</a:t>
            </a:r>
          </a:p>
        </p:txBody>
      </p:sp>
      <p:sp>
        <p:nvSpPr>
          <p:cNvPr id="25" name="Rounded Rectangle 24"/>
          <p:cNvSpPr/>
          <p:nvPr/>
        </p:nvSpPr>
        <p:spPr>
          <a:xfrm>
            <a:off x="914400" y="4416552"/>
            <a:ext cx="6858000" cy="530352"/>
          </a:xfrm>
          <a:prstGeom prst="roundRect">
            <a:avLst>
              <a:gd name="adj" fmla="val 13793"/>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6" name="TextBox 25"/>
          <p:cNvSpPr txBox="1"/>
          <p:nvPr/>
        </p:nvSpPr>
        <p:spPr>
          <a:xfrm>
            <a:off x="1078992" y="4480560"/>
            <a:ext cx="5394960" cy="228600"/>
          </a:xfrm>
          <a:prstGeom prst="rect">
            <a:avLst/>
          </a:prstGeom>
          <a:noFill/>
        </p:spPr>
        <p:txBody>
          <a:bodyPr wrap="square" lIns="0" rIns="0" tIns="0" bIns="0" anchor="t">
            <a:spAutoFit/>
          </a:bodyPr>
          <a:lstStyle/>
          <a:p>
            <a:pPr algn="l"/>
            <a:r>
              <a:rPr sz="1300" b="1" i="0">
                <a:solidFill>
                  <a:srgbClr val="111111"/>
                </a:solidFill>
                <a:latin typeface="Open Sans"/>
              </a:rPr>
              <a:t>End-to-end integration</a:t>
            </a:r>
          </a:p>
        </p:txBody>
      </p:sp>
      <p:sp>
        <p:nvSpPr>
          <p:cNvPr id="27" name="TextBox 26"/>
          <p:cNvSpPr txBox="1"/>
          <p:nvPr/>
        </p:nvSpPr>
        <p:spPr>
          <a:xfrm>
            <a:off x="1078992" y="4645152"/>
            <a:ext cx="5394960" cy="182880"/>
          </a:xfrm>
          <a:prstGeom prst="rect">
            <a:avLst/>
          </a:prstGeom>
          <a:noFill/>
        </p:spPr>
        <p:txBody>
          <a:bodyPr wrap="square" lIns="0" rIns="0" tIns="0" bIns="0" anchor="t">
            <a:spAutoFit/>
          </a:bodyPr>
          <a:lstStyle/>
          <a:p>
            <a:pPr algn="l"/>
            <a:r>
              <a:rPr sz="1000" b="0" i="0">
                <a:solidFill>
                  <a:srgbClr val="6B7280"/>
                </a:solidFill>
                <a:latin typeface="Open Sans"/>
              </a:rPr>
              <a:t>Dec 16–31 · All team</a:t>
            </a:r>
          </a:p>
        </p:txBody>
      </p:sp>
      <p:sp>
        <p:nvSpPr>
          <p:cNvPr id="28" name="Rounded Rectangle 27"/>
          <p:cNvSpPr/>
          <p:nvPr/>
        </p:nvSpPr>
        <p:spPr>
          <a:xfrm>
            <a:off x="6583680" y="4553712"/>
            <a:ext cx="1051560" cy="256032"/>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9" name="TextBox 28"/>
          <p:cNvSpPr txBox="1"/>
          <p:nvPr/>
        </p:nvSpPr>
        <p:spPr>
          <a:xfrm>
            <a:off x="6583680" y="4553712"/>
            <a:ext cx="1051560" cy="256032"/>
          </a:xfrm>
          <a:prstGeom prst="rect">
            <a:avLst/>
          </a:prstGeom>
          <a:noFill/>
        </p:spPr>
        <p:txBody>
          <a:bodyPr wrap="square" lIns="0" rIns="0" tIns="0" bIns="0" anchor="ctr">
            <a:spAutoFit/>
          </a:bodyPr>
          <a:lstStyle/>
          <a:p>
            <a:pPr algn="ctr"/>
            <a:r>
              <a:rPr sz="1000" b="1" i="0">
                <a:solidFill>
                  <a:srgbClr val="6B7280"/>
                </a:solidFill>
                <a:latin typeface="Open Sans"/>
              </a:rPr>
              <a:t>Not started</a:t>
            </a:r>
          </a:p>
        </p:txBody>
      </p:sp>
      <p:sp>
        <p:nvSpPr>
          <p:cNvPr id="30" name="Rounded Rectangle 29"/>
          <p:cNvSpPr/>
          <p:nvPr/>
        </p:nvSpPr>
        <p:spPr>
          <a:xfrm>
            <a:off x="914400" y="5020056"/>
            <a:ext cx="6858000" cy="530352"/>
          </a:xfrm>
          <a:prstGeom prst="roundRect">
            <a:avLst>
              <a:gd name="adj" fmla="val 13793"/>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1" name="TextBox 30"/>
          <p:cNvSpPr txBox="1"/>
          <p:nvPr/>
        </p:nvSpPr>
        <p:spPr>
          <a:xfrm>
            <a:off x="1078992" y="5084064"/>
            <a:ext cx="5394960" cy="228600"/>
          </a:xfrm>
          <a:prstGeom prst="rect">
            <a:avLst/>
          </a:prstGeom>
          <a:noFill/>
        </p:spPr>
        <p:txBody>
          <a:bodyPr wrap="square" lIns="0" rIns="0" tIns="0" bIns="0" anchor="t">
            <a:spAutoFit/>
          </a:bodyPr>
          <a:lstStyle/>
          <a:p>
            <a:pPr algn="l"/>
            <a:r>
              <a:rPr sz="1300" b="1" i="0">
                <a:solidFill>
                  <a:srgbClr val="111111"/>
                </a:solidFill>
                <a:latin typeface="Open Sans"/>
              </a:rPr>
              <a:t>Head with camera (optional)</a:t>
            </a:r>
          </a:p>
        </p:txBody>
      </p:sp>
      <p:sp>
        <p:nvSpPr>
          <p:cNvPr id="32" name="TextBox 31"/>
          <p:cNvSpPr txBox="1"/>
          <p:nvPr/>
        </p:nvSpPr>
        <p:spPr>
          <a:xfrm>
            <a:off x="1078992" y="5248656"/>
            <a:ext cx="5394960" cy="182880"/>
          </a:xfrm>
          <a:prstGeom prst="rect">
            <a:avLst/>
          </a:prstGeom>
          <a:noFill/>
        </p:spPr>
        <p:txBody>
          <a:bodyPr wrap="square" lIns="0" rIns="0" tIns="0" bIns="0" anchor="t">
            <a:spAutoFit/>
          </a:bodyPr>
          <a:lstStyle/>
          <a:p>
            <a:pPr algn="l"/>
            <a:r>
              <a:rPr sz="1000" b="0" i="0">
                <a:solidFill>
                  <a:srgbClr val="6B7280"/>
                </a:solidFill>
                <a:latin typeface="Open Sans"/>
              </a:rPr>
              <a:t>Dec 16–31 · Harsh · Sravan · Bhavishya</a:t>
            </a:r>
          </a:p>
        </p:txBody>
      </p:sp>
      <p:sp>
        <p:nvSpPr>
          <p:cNvPr id="33" name="Rounded Rectangle 32"/>
          <p:cNvSpPr/>
          <p:nvPr/>
        </p:nvSpPr>
        <p:spPr>
          <a:xfrm>
            <a:off x="6583680" y="5157216"/>
            <a:ext cx="1051560" cy="256032"/>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4" name="TextBox 33"/>
          <p:cNvSpPr txBox="1"/>
          <p:nvPr/>
        </p:nvSpPr>
        <p:spPr>
          <a:xfrm>
            <a:off x="6583680" y="5157216"/>
            <a:ext cx="1051560" cy="256032"/>
          </a:xfrm>
          <a:prstGeom prst="rect">
            <a:avLst/>
          </a:prstGeom>
          <a:noFill/>
        </p:spPr>
        <p:txBody>
          <a:bodyPr wrap="square" lIns="0" rIns="0" tIns="0" bIns="0" anchor="ctr">
            <a:spAutoFit/>
          </a:bodyPr>
          <a:lstStyle/>
          <a:p>
            <a:pPr algn="ctr"/>
            <a:r>
              <a:rPr sz="1000" b="1" i="0">
                <a:solidFill>
                  <a:srgbClr val="6B7280"/>
                </a:solidFill>
                <a:latin typeface="Open Sans"/>
              </a:rPr>
              <a:t>Not started</a:t>
            </a:r>
          </a:p>
        </p:txBody>
      </p:sp>
      <p:sp>
        <p:nvSpPr>
          <p:cNvPr id="35" name="Sim-to-real panel"/>
          <p:cNvSpPr/>
          <p:nvPr/>
        </p:nvSpPr>
        <p:spPr>
          <a:xfrm>
            <a:off x="8275320" y="1828800"/>
            <a:ext cx="3246120" cy="4343400"/>
          </a:xfrm>
          <a:prstGeom prst="roundRect">
            <a:avLst>
              <a:gd name="adj" fmla="val 5070"/>
            </a:avLst>
          </a:prstGeom>
          <a:solidFill>
            <a:srgbClr val="FBEDE3"/>
          </a:solidFill>
          <a:ln w="3175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6" name="TextBox 35"/>
          <p:cNvSpPr txBox="1"/>
          <p:nvPr/>
        </p:nvSpPr>
        <p:spPr>
          <a:xfrm>
            <a:off x="8531352" y="2057400"/>
            <a:ext cx="2788920" cy="365760"/>
          </a:xfrm>
          <a:prstGeom prst="rect">
            <a:avLst/>
          </a:prstGeom>
          <a:noFill/>
        </p:spPr>
        <p:txBody>
          <a:bodyPr wrap="square" lIns="0" rIns="0" tIns="0" bIns="0" anchor="t">
            <a:spAutoFit/>
          </a:bodyPr>
          <a:lstStyle/>
          <a:p>
            <a:pPr algn="l"/>
            <a:r>
              <a:rPr sz="1800" b="1" i="0">
                <a:solidFill>
                  <a:srgbClr val="111111"/>
                </a:solidFill>
                <a:latin typeface="Open Sans"/>
              </a:rPr>
              <a:t>Our next step</a:t>
            </a:r>
          </a:p>
        </p:txBody>
      </p:sp>
      <p:sp>
        <p:nvSpPr>
          <p:cNvPr id="37" name="TextBox 36"/>
          <p:cNvSpPr txBox="1"/>
          <p:nvPr/>
        </p:nvSpPr>
        <p:spPr>
          <a:xfrm>
            <a:off x="8531352" y="2395728"/>
            <a:ext cx="2788920" cy="274320"/>
          </a:xfrm>
          <a:prstGeom prst="rect">
            <a:avLst/>
          </a:prstGeom>
          <a:noFill/>
        </p:spPr>
        <p:txBody>
          <a:bodyPr wrap="square" lIns="0" rIns="0" tIns="0" bIns="0" anchor="t">
            <a:spAutoFit/>
          </a:bodyPr>
          <a:lstStyle/>
          <a:p>
            <a:pPr algn="l"/>
            <a:r>
              <a:rPr sz="1200" b="0" i="0">
                <a:solidFill>
                  <a:srgbClr val="6B7280"/>
                </a:solidFill>
                <a:latin typeface="Open Sans"/>
              </a:rPr>
              <a:t>simulation → real robot</a:t>
            </a:r>
          </a:p>
        </p:txBody>
      </p:sp>
      <p:sp>
        <p:nvSpPr>
          <p:cNvPr id="38" name="Rounded Rectangle 37"/>
          <p:cNvSpPr/>
          <p:nvPr/>
        </p:nvSpPr>
        <p:spPr>
          <a:xfrm>
            <a:off x="8458200" y="2834640"/>
            <a:ext cx="2880360" cy="621792"/>
          </a:xfrm>
          <a:prstGeom prst="roundRect">
            <a:avLst>
              <a:gd name="adj" fmla="val 147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9" name="Oval 38"/>
          <p:cNvSpPr/>
          <p:nvPr/>
        </p:nvSpPr>
        <p:spPr>
          <a:xfrm>
            <a:off x="8595360" y="2962656"/>
            <a:ext cx="365760" cy="365760"/>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0" name="TextBox 39"/>
          <p:cNvSpPr txBox="1"/>
          <p:nvPr/>
        </p:nvSpPr>
        <p:spPr>
          <a:xfrm>
            <a:off x="8595360" y="2962656"/>
            <a:ext cx="365760" cy="365760"/>
          </a:xfrm>
          <a:prstGeom prst="rect">
            <a:avLst/>
          </a:prstGeom>
          <a:noFill/>
        </p:spPr>
        <p:txBody>
          <a:bodyPr wrap="square" lIns="0" rIns="0" tIns="0" bIns="0" anchor="ctr">
            <a:spAutoFit/>
          </a:bodyPr>
          <a:lstStyle/>
          <a:p>
            <a:pPr algn="ctr"/>
            <a:r>
              <a:rPr sz="1300" b="1" i="0">
                <a:solidFill>
                  <a:srgbClr val="FFFFFF"/>
                </a:solidFill>
                <a:latin typeface="Open Sans"/>
              </a:rPr>
              <a:t>1</a:t>
            </a:r>
          </a:p>
        </p:txBody>
      </p:sp>
      <p:sp>
        <p:nvSpPr>
          <p:cNvPr id="41" name="TextBox 40"/>
          <p:cNvSpPr txBox="1"/>
          <p:nvPr/>
        </p:nvSpPr>
        <p:spPr>
          <a:xfrm>
            <a:off x="9098280" y="2907792"/>
            <a:ext cx="2103120" cy="502920"/>
          </a:xfrm>
          <a:prstGeom prst="rect">
            <a:avLst/>
          </a:prstGeom>
          <a:noFill/>
        </p:spPr>
        <p:txBody>
          <a:bodyPr wrap="square" lIns="0" rIns="0" tIns="0" bIns="0" anchor="ctr">
            <a:spAutoFit/>
          </a:bodyPr>
          <a:lstStyle/>
          <a:p>
            <a:pPr algn="l"/>
            <a:r>
              <a:rPr sz="1200" b="1" i="0">
                <a:solidFill>
                  <a:srgbClr val="111111"/>
                </a:solidFill>
                <a:latin typeface="Open Sans"/>
              </a:rPr>
              <a:t>RL finds the best 6 gait numbers</a:t>
            </a:r>
          </a:p>
        </p:txBody>
      </p:sp>
      <p:sp>
        <p:nvSpPr>
          <p:cNvPr id="42" name="Rounded Rectangle 41"/>
          <p:cNvSpPr/>
          <p:nvPr/>
        </p:nvSpPr>
        <p:spPr>
          <a:xfrm>
            <a:off x="8458200" y="3584448"/>
            <a:ext cx="2880360" cy="621792"/>
          </a:xfrm>
          <a:prstGeom prst="roundRect">
            <a:avLst>
              <a:gd name="adj" fmla="val 147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3" name="Oval 42"/>
          <p:cNvSpPr/>
          <p:nvPr/>
        </p:nvSpPr>
        <p:spPr>
          <a:xfrm>
            <a:off x="8595360" y="3712463"/>
            <a:ext cx="365760" cy="365760"/>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4" name="TextBox 43"/>
          <p:cNvSpPr txBox="1"/>
          <p:nvPr/>
        </p:nvSpPr>
        <p:spPr>
          <a:xfrm>
            <a:off x="8595360" y="3712463"/>
            <a:ext cx="365760" cy="365760"/>
          </a:xfrm>
          <a:prstGeom prst="rect">
            <a:avLst/>
          </a:prstGeom>
          <a:noFill/>
        </p:spPr>
        <p:txBody>
          <a:bodyPr wrap="square" lIns="0" rIns="0" tIns="0" bIns="0" anchor="ctr">
            <a:spAutoFit/>
          </a:bodyPr>
          <a:lstStyle/>
          <a:p>
            <a:pPr algn="ctr"/>
            <a:r>
              <a:rPr sz="1300" b="1" i="0">
                <a:solidFill>
                  <a:srgbClr val="FFFFFF"/>
                </a:solidFill>
                <a:latin typeface="Open Sans"/>
              </a:rPr>
              <a:t>2</a:t>
            </a:r>
          </a:p>
        </p:txBody>
      </p:sp>
      <p:sp>
        <p:nvSpPr>
          <p:cNvPr id="45" name="TextBox 44"/>
          <p:cNvSpPr txBox="1"/>
          <p:nvPr/>
        </p:nvSpPr>
        <p:spPr>
          <a:xfrm>
            <a:off x="9098280" y="3657600"/>
            <a:ext cx="2103120" cy="502920"/>
          </a:xfrm>
          <a:prstGeom prst="rect">
            <a:avLst/>
          </a:prstGeom>
          <a:noFill/>
        </p:spPr>
        <p:txBody>
          <a:bodyPr wrap="square" lIns="0" rIns="0" tIns="0" bIns="0" anchor="ctr">
            <a:spAutoFit/>
          </a:bodyPr>
          <a:lstStyle/>
          <a:p>
            <a:pPr algn="l"/>
            <a:r>
              <a:rPr sz="1200" b="1" i="0">
                <a:solidFill>
                  <a:srgbClr val="111111"/>
                </a:solidFill>
                <a:latin typeface="Open Sans"/>
              </a:rPr>
              <a:t>Check them in the simulator</a:t>
            </a:r>
          </a:p>
        </p:txBody>
      </p:sp>
      <p:sp>
        <p:nvSpPr>
          <p:cNvPr id="46" name="Rounded Rectangle 45"/>
          <p:cNvSpPr/>
          <p:nvPr/>
        </p:nvSpPr>
        <p:spPr>
          <a:xfrm>
            <a:off x="8458200" y="4334256"/>
            <a:ext cx="2880360" cy="621792"/>
          </a:xfrm>
          <a:prstGeom prst="roundRect">
            <a:avLst>
              <a:gd name="adj" fmla="val 147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7" name="Oval 46"/>
          <p:cNvSpPr/>
          <p:nvPr/>
        </p:nvSpPr>
        <p:spPr>
          <a:xfrm>
            <a:off x="8595360" y="4462272"/>
            <a:ext cx="365760" cy="365760"/>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8" name="TextBox 47"/>
          <p:cNvSpPr txBox="1"/>
          <p:nvPr/>
        </p:nvSpPr>
        <p:spPr>
          <a:xfrm>
            <a:off x="8595360" y="4462272"/>
            <a:ext cx="365760" cy="365760"/>
          </a:xfrm>
          <a:prstGeom prst="rect">
            <a:avLst/>
          </a:prstGeom>
          <a:noFill/>
        </p:spPr>
        <p:txBody>
          <a:bodyPr wrap="square" lIns="0" rIns="0" tIns="0" bIns="0" anchor="ctr">
            <a:spAutoFit/>
          </a:bodyPr>
          <a:lstStyle/>
          <a:p>
            <a:pPr algn="ctr"/>
            <a:r>
              <a:rPr sz="1300" b="1" i="0">
                <a:solidFill>
                  <a:srgbClr val="FFFFFF"/>
                </a:solidFill>
                <a:latin typeface="Open Sans"/>
              </a:rPr>
              <a:t>3</a:t>
            </a:r>
          </a:p>
        </p:txBody>
      </p:sp>
      <p:sp>
        <p:nvSpPr>
          <p:cNvPr id="49" name="TextBox 48"/>
          <p:cNvSpPr txBox="1"/>
          <p:nvPr/>
        </p:nvSpPr>
        <p:spPr>
          <a:xfrm>
            <a:off x="9098280" y="4407408"/>
            <a:ext cx="2103120" cy="502920"/>
          </a:xfrm>
          <a:prstGeom prst="rect">
            <a:avLst/>
          </a:prstGeom>
          <a:noFill/>
        </p:spPr>
        <p:txBody>
          <a:bodyPr wrap="square" lIns="0" rIns="0" tIns="0" bIns="0" anchor="ctr">
            <a:spAutoFit/>
          </a:bodyPr>
          <a:lstStyle/>
          <a:p>
            <a:pPr algn="l"/>
            <a:r>
              <a:rPr sz="1200" b="1" i="0">
                <a:solidFill>
                  <a:srgbClr val="111111"/>
                </a:solidFill>
                <a:latin typeface="Open Sans"/>
              </a:rPr>
              <a:t>Put them + turning into the ESP32 firmware</a:t>
            </a:r>
          </a:p>
        </p:txBody>
      </p:sp>
      <p:sp>
        <p:nvSpPr>
          <p:cNvPr id="50" name="Rounded Rectangle 49"/>
          <p:cNvSpPr/>
          <p:nvPr/>
        </p:nvSpPr>
        <p:spPr>
          <a:xfrm>
            <a:off x="8458200" y="5084064"/>
            <a:ext cx="2880360" cy="621792"/>
          </a:xfrm>
          <a:prstGeom prst="roundRect">
            <a:avLst>
              <a:gd name="adj" fmla="val 1470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1" name="Oval 50"/>
          <p:cNvSpPr/>
          <p:nvPr/>
        </p:nvSpPr>
        <p:spPr>
          <a:xfrm>
            <a:off x="8595360" y="5212080"/>
            <a:ext cx="365760" cy="365760"/>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52" name="TextBox 51"/>
          <p:cNvSpPr txBox="1"/>
          <p:nvPr/>
        </p:nvSpPr>
        <p:spPr>
          <a:xfrm>
            <a:off x="8595360" y="5212080"/>
            <a:ext cx="365760" cy="365760"/>
          </a:xfrm>
          <a:prstGeom prst="rect">
            <a:avLst/>
          </a:prstGeom>
          <a:noFill/>
        </p:spPr>
        <p:txBody>
          <a:bodyPr wrap="square" lIns="0" rIns="0" tIns="0" bIns="0" anchor="ctr">
            <a:spAutoFit/>
          </a:bodyPr>
          <a:lstStyle/>
          <a:p>
            <a:pPr algn="ctr"/>
            <a:r>
              <a:rPr sz="1300" b="1" i="0">
                <a:solidFill>
                  <a:srgbClr val="FFFFFF"/>
                </a:solidFill>
                <a:latin typeface="Open Sans"/>
              </a:rPr>
              <a:t>4</a:t>
            </a:r>
          </a:p>
        </p:txBody>
      </p:sp>
      <p:sp>
        <p:nvSpPr>
          <p:cNvPr id="53" name="TextBox 52"/>
          <p:cNvSpPr txBox="1"/>
          <p:nvPr/>
        </p:nvSpPr>
        <p:spPr>
          <a:xfrm>
            <a:off x="9098280" y="5157216"/>
            <a:ext cx="2103120" cy="502920"/>
          </a:xfrm>
          <a:prstGeom prst="rect">
            <a:avLst/>
          </a:prstGeom>
          <a:noFill/>
        </p:spPr>
        <p:txBody>
          <a:bodyPr wrap="square" lIns="0" rIns="0" tIns="0" bIns="0" anchor="ctr">
            <a:spAutoFit/>
          </a:bodyPr>
          <a:lstStyle/>
          <a:p>
            <a:pPr algn="l"/>
            <a:r>
              <a:rPr sz="1200" b="1" i="0">
                <a:solidFill>
                  <a:srgbClr val="111111"/>
                </a:solidFill>
                <a:latin typeface="Open Sans"/>
              </a:rPr>
              <a:t>Test walking &amp; turning on the real robot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85800" y="502920"/>
            <a:ext cx="9875520" cy="731520"/>
          </a:xfrm>
          <a:prstGeom prst="rect">
            <a:avLst/>
          </a:prstGeom>
          <a:noFill/>
        </p:spPr>
        <p:txBody>
          <a:bodyPr wrap="square" lIns="0" rIns="0" tIns="0" bIns="0" anchor="t">
            <a:spAutoFit/>
          </a:bodyPr>
          <a:lstStyle/>
          <a:p>
            <a:pPr algn="l"/>
            <a:r>
              <a:rPr sz="3600" b="1" i="0">
                <a:solidFill>
                  <a:srgbClr val="111111"/>
                </a:solidFill>
                <a:latin typeface="Open Sans"/>
              </a:rPr>
              <a:t>Still ahead</a:t>
            </a:r>
          </a:p>
        </p:txBody>
      </p:sp>
      <p:sp>
        <p:nvSpPr>
          <p:cNvPr id="3" name="Subtitle"/>
          <p:cNvSpPr txBox="1"/>
          <p:nvPr/>
        </p:nvSpPr>
        <p:spPr>
          <a:xfrm>
            <a:off x="704088" y="1207008"/>
            <a:ext cx="9875520" cy="365760"/>
          </a:xfrm>
          <a:prstGeom prst="rect">
            <a:avLst/>
          </a:prstGeom>
          <a:noFill/>
        </p:spPr>
        <p:txBody>
          <a:bodyPr wrap="square" lIns="0" rIns="0" tIns="0" bIns="0" anchor="t">
            <a:spAutoFit/>
          </a:bodyPr>
          <a:lstStyle/>
          <a:p>
            <a:pPr algn="l"/>
            <a:r>
              <a:rPr sz="1600" b="0" i="0">
                <a:solidFill>
                  <a:srgbClr val="6B7280"/>
                </a:solidFill>
                <a:latin typeface="Open Sans"/>
              </a:rPr>
              <a:t>Remaining work until the final presentation in January</a:t>
            </a:r>
          </a:p>
        </p:txBody>
      </p:sp>
      <p:sp>
        <p:nvSpPr>
          <p:cNvPr id="4" name="Logo"/>
          <p:cNvSpPr txBox="1"/>
          <p:nvPr/>
        </p:nvSpPr>
        <p:spPr>
          <a:xfrm>
            <a:off x="10058400" y="502920"/>
            <a:ext cx="1463040" cy="548640"/>
          </a:xfrm>
          <a:prstGeom prst="rect">
            <a:avLst/>
          </a:prstGeom>
          <a:noFill/>
        </p:spPr>
        <p:txBody>
          <a:bodyPr wrap="square" lIns="0" rIns="0" tIns="0" bIns="0" anchor="t">
            <a:spAutoFit/>
          </a:bodyPr>
          <a:lstStyle/>
          <a:p>
            <a:pPr algn="r"/>
            <a:r>
              <a:rPr sz="2800" b="1" i="0">
                <a:solidFill>
                  <a:srgbClr val="E2783A"/>
                </a:solidFill>
                <a:latin typeface="Open Sans"/>
              </a:rPr>
              <a:t>thws</a:t>
            </a:r>
          </a:p>
        </p:txBody>
      </p:sp>
      <p:sp>
        <p:nvSpPr>
          <p:cNvPr id="5" name="Oval 4"/>
          <p:cNvSpPr/>
          <p:nvPr/>
        </p:nvSpPr>
        <p:spPr>
          <a:xfrm>
            <a:off x="704088" y="6281928"/>
            <a:ext cx="237744" cy="237744"/>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6" name="Presenter"/>
          <p:cNvSpPr txBox="1"/>
          <p:nvPr/>
        </p:nvSpPr>
        <p:spPr>
          <a:xfrm>
            <a:off x="1051560" y="6272784"/>
            <a:ext cx="3657600" cy="274320"/>
          </a:xfrm>
          <a:prstGeom prst="rect">
            <a:avLst/>
          </a:prstGeom>
          <a:noFill/>
        </p:spPr>
        <p:txBody>
          <a:bodyPr wrap="square" lIns="0" rIns="0" tIns="0" bIns="0" anchor="t">
            <a:spAutoFit/>
          </a:bodyPr>
          <a:lstStyle/>
          <a:p>
            <a:pPr algn="l"/>
            <a:r>
              <a:rPr sz="1300" b="0" i="0">
                <a:solidFill>
                  <a:srgbClr val="6B7280"/>
                </a:solidFill>
                <a:latin typeface="Open Sans"/>
              </a:rPr>
              <a:t>Aditya Srivatsa</a:t>
            </a:r>
          </a:p>
        </p:txBody>
      </p:sp>
      <p:sp>
        <p:nvSpPr>
          <p:cNvPr id="7" name="Phase 3 – finish"/>
          <p:cNvSpPr/>
          <p:nvPr/>
        </p:nvSpPr>
        <p:spPr>
          <a:xfrm>
            <a:off x="685800" y="1828800"/>
            <a:ext cx="5349240" cy="3246120"/>
          </a:xfrm>
          <a:prstGeom prst="roundRect">
            <a:avLst>
              <a:gd name="adj" fmla="val 3380"/>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8" name="Oval 7"/>
          <p:cNvSpPr/>
          <p:nvPr/>
        </p:nvSpPr>
        <p:spPr>
          <a:xfrm>
            <a:off x="877824" y="2020824"/>
            <a:ext cx="438912" cy="438912"/>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Open Sans"/>
              </a:rPr>
              <a:t>5</a:t>
            </a:r>
          </a:p>
        </p:txBody>
      </p:sp>
      <p:sp>
        <p:nvSpPr>
          <p:cNvPr id="9" name="TextBox 8"/>
          <p:cNvSpPr txBox="1"/>
          <p:nvPr/>
        </p:nvSpPr>
        <p:spPr>
          <a:xfrm>
            <a:off x="1463040" y="2075688"/>
            <a:ext cx="4389120" cy="365760"/>
          </a:xfrm>
          <a:prstGeom prst="rect">
            <a:avLst/>
          </a:prstGeom>
          <a:noFill/>
        </p:spPr>
        <p:txBody>
          <a:bodyPr wrap="square" lIns="0" rIns="0" tIns="0" bIns="0" anchor="t">
            <a:spAutoFit/>
          </a:bodyPr>
          <a:lstStyle/>
          <a:p>
            <a:pPr algn="l"/>
            <a:r>
              <a:rPr sz="2000" b="1" i="0">
                <a:solidFill>
                  <a:srgbClr val="111111"/>
                </a:solidFill>
                <a:latin typeface="Open Sans"/>
              </a:rPr>
              <a:t>Phase 3 – finish</a:t>
            </a:r>
          </a:p>
        </p:txBody>
      </p:sp>
      <p:sp>
        <p:nvSpPr>
          <p:cNvPr id="10" name="Rounded Rectangle 9"/>
          <p:cNvSpPr/>
          <p:nvPr/>
        </p:nvSpPr>
        <p:spPr>
          <a:xfrm>
            <a:off x="914400" y="2697480"/>
            <a:ext cx="4892040" cy="658368"/>
          </a:xfrm>
          <a:prstGeom prst="roundRect">
            <a:avLst>
              <a:gd name="adj" fmla="val 11111"/>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1" name="TextBox 10"/>
          <p:cNvSpPr txBox="1"/>
          <p:nvPr/>
        </p:nvSpPr>
        <p:spPr>
          <a:xfrm>
            <a:off x="1078992" y="2761488"/>
            <a:ext cx="3428999" cy="228600"/>
          </a:xfrm>
          <a:prstGeom prst="rect">
            <a:avLst/>
          </a:prstGeom>
          <a:noFill/>
        </p:spPr>
        <p:txBody>
          <a:bodyPr wrap="square" lIns="0" rIns="0" tIns="0" bIns="0" anchor="t">
            <a:spAutoFit/>
          </a:bodyPr>
          <a:lstStyle/>
          <a:p>
            <a:pPr algn="l"/>
            <a:r>
              <a:rPr sz="1300" b="1" i="0">
                <a:solidFill>
                  <a:srgbClr val="111111"/>
                </a:solidFill>
                <a:latin typeface="Open Sans"/>
              </a:rPr>
              <a:t>ROS 2 framework</a:t>
            </a:r>
          </a:p>
        </p:txBody>
      </p:sp>
      <p:sp>
        <p:nvSpPr>
          <p:cNvPr id="12" name="TextBox 11"/>
          <p:cNvSpPr txBox="1"/>
          <p:nvPr/>
        </p:nvSpPr>
        <p:spPr>
          <a:xfrm>
            <a:off x="1078992" y="2926080"/>
            <a:ext cx="3428999" cy="182880"/>
          </a:xfrm>
          <a:prstGeom prst="rect">
            <a:avLst/>
          </a:prstGeom>
          <a:noFill/>
        </p:spPr>
        <p:txBody>
          <a:bodyPr wrap="square" lIns="0" rIns="0" tIns="0" bIns="0" anchor="t">
            <a:spAutoFit/>
          </a:bodyPr>
          <a:lstStyle/>
          <a:p>
            <a:pPr algn="l"/>
            <a:r>
              <a:rPr sz="1000" b="0" i="0">
                <a:solidFill>
                  <a:srgbClr val="6B7280"/>
                </a:solidFill>
                <a:latin typeface="Open Sans"/>
              </a:rPr>
              <a:t>Aditya · Thejasvi</a:t>
            </a:r>
          </a:p>
        </p:txBody>
      </p:sp>
      <p:sp>
        <p:nvSpPr>
          <p:cNvPr id="13" name="Rounded Rectangle 12"/>
          <p:cNvSpPr/>
          <p:nvPr/>
        </p:nvSpPr>
        <p:spPr>
          <a:xfrm>
            <a:off x="4617720" y="2898648"/>
            <a:ext cx="1051560" cy="256032"/>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4" name="TextBox 13"/>
          <p:cNvSpPr txBox="1"/>
          <p:nvPr/>
        </p:nvSpPr>
        <p:spPr>
          <a:xfrm>
            <a:off x="4617720" y="2898648"/>
            <a:ext cx="1051560" cy="256032"/>
          </a:xfrm>
          <a:prstGeom prst="rect">
            <a:avLst/>
          </a:prstGeom>
          <a:noFill/>
        </p:spPr>
        <p:txBody>
          <a:bodyPr wrap="square" lIns="0" rIns="0" tIns="0" bIns="0" anchor="ctr">
            <a:spAutoFit/>
          </a:bodyPr>
          <a:lstStyle/>
          <a:p>
            <a:pPr algn="ctr"/>
            <a:r>
              <a:rPr sz="1000" b="1" i="0">
                <a:solidFill>
                  <a:srgbClr val="6B7280"/>
                </a:solidFill>
                <a:latin typeface="Open Sans"/>
              </a:rPr>
              <a:t>Not started</a:t>
            </a:r>
          </a:p>
        </p:txBody>
      </p:sp>
      <p:sp>
        <p:nvSpPr>
          <p:cNvPr id="15" name="Rounded Rectangle 14"/>
          <p:cNvSpPr/>
          <p:nvPr/>
        </p:nvSpPr>
        <p:spPr>
          <a:xfrm>
            <a:off x="914400" y="3429000"/>
            <a:ext cx="4892040" cy="658368"/>
          </a:xfrm>
          <a:prstGeom prst="roundRect">
            <a:avLst>
              <a:gd name="adj" fmla="val 11111"/>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6" name="TextBox 15"/>
          <p:cNvSpPr txBox="1"/>
          <p:nvPr/>
        </p:nvSpPr>
        <p:spPr>
          <a:xfrm>
            <a:off x="1078992" y="3493008"/>
            <a:ext cx="3428999" cy="228600"/>
          </a:xfrm>
          <a:prstGeom prst="rect">
            <a:avLst/>
          </a:prstGeom>
          <a:noFill/>
        </p:spPr>
        <p:txBody>
          <a:bodyPr wrap="square" lIns="0" rIns="0" tIns="0" bIns="0" anchor="t">
            <a:spAutoFit/>
          </a:bodyPr>
          <a:lstStyle/>
          <a:p>
            <a:pPr algn="l"/>
            <a:r>
              <a:rPr sz="1300" b="1" i="0">
                <a:solidFill>
                  <a:srgbClr val="111111"/>
                </a:solidFill>
                <a:latin typeface="Open Sans"/>
              </a:rPr>
              <a:t>Perfect the robot model (XML)</a:t>
            </a:r>
          </a:p>
        </p:txBody>
      </p:sp>
      <p:sp>
        <p:nvSpPr>
          <p:cNvPr id="17" name="TextBox 16"/>
          <p:cNvSpPr txBox="1"/>
          <p:nvPr/>
        </p:nvSpPr>
        <p:spPr>
          <a:xfrm>
            <a:off x="1078992" y="3657600"/>
            <a:ext cx="3428999" cy="182880"/>
          </a:xfrm>
          <a:prstGeom prst="rect">
            <a:avLst/>
          </a:prstGeom>
          <a:noFill/>
        </p:spPr>
        <p:txBody>
          <a:bodyPr wrap="square" lIns="0" rIns="0" tIns="0" bIns="0" anchor="t">
            <a:spAutoFit/>
          </a:bodyPr>
          <a:lstStyle/>
          <a:p>
            <a:pPr algn="l"/>
            <a:r>
              <a:rPr sz="1000" b="0" i="0">
                <a:solidFill>
                  <a:srgbClr val="6B7280"/>
                </a:solidFill>
                <a:latin typeface="Open Sans"/>
              </a:rPr>
              <a:t>missing parts</a:t>
            </a:r>
          </a:p>
        </p:txBody>
      </p:sp>
      <p:sp>
        <p:nvSpPr>
          <p:cNvPr id="18" name="Rounded Rectangle 17"/>
          <p:cNvSpPr/>
          <p:nvPr/>
        </p:nvSpPr>
        <p:spPr>
          <a:xfrm>
            <a:off x="4617720" y="3630168"/>
            <a:ext cx="1051560" cy="256032"/>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19" name="TextBox 18"/>
          <p:cNvSpPr txBox="1"/>
          <p:nvPr/>
        </p:nvSpPr>
        <p:spPr>
          <a:xfrm>
            <a:off x="4617720" y="3630168"/>
            <a:ext cx="1051560" cy="256032"/>
          </a:xfrm>
          <a:prstGeom prst="rect">
            <a:avLst/>
          </a:prstGeom>
          <a:noFill/>
        </p:spPr>
        <p:txBody>
          <a:bodyPr wrap="square" lIns="0" rIns="0" tIns="0" bIns="0" anchor="ctr">
            <a:spAutoFit/>
          </a:bodyPr>
          <a:lstStyle/>
          <a:p>
            <a:pPr algn="ctr"/>
            <a:r>
              <a:rPr sz="1000" b="1" i="0">
                <a:solidFill>
                  <a:srgbClr val="6B7280"/>
                </a:solidFill>
                <a:latin typeface="Open Sans"/>
              </a:rPr>
              <a:t>Not started</a:t>
            </a:r>
          </a:p>
        </p:txBody>
      </p:sp>
      <p:sp>
        <p:nvSpPr>
          <p:cNvPr id="20" name="Rounded Rectangle 19"/>
          <p:cNvSpPr/>
          <p:nvPr/>
        </p:nvSpPr>
        <p:spPr>
          <a:xfrm>
            <a:off x="914400" y="4160520"/>
            <a:ext cx="4892040" cy="658368"/>
          </a:xfrm>
          <a:prstGeom prst="roundRect">
            <a:avLst>
              <a:gd name="adj" fmla="val 11111"/>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1" name="TextBox 20"/>
          <p:cNvSpPr txBox="1"/>
          <p:nvPr/>
        </p:nvSpPr>
        <p:spPr>
          <a:xfrm>
            <a:off x="1078992" y="4224528"/>
            <a:ext cx="3428999" cy="228600"/>
          </a:xfrm>
          <a:prstGeom prst="rect">
            <a:avLst/>
          </a:prstGeom>
          <a:noFill/>
        </p:spPr>
        <p:txBody>
          <a:bodyPr wrap="square" lIns="0" rIns="0" tIns="0" bIns="0" anchor="t">
            <a:spAutoFit/>
          </a:bodyPr>
          <a:lstStyle/>
          <a:p>
            <a:pPr algn="l"/>
            <a:r>
              <a:rPr sz="1300" b="1" i="0">
                <a:solidFill>
                  <a:srgbClr val="111111"/>
                </a:solidFill>
                <a:latin typeface="Open Sans"/>
              </a:rPr>
              <a:t>Camera selection &amp; setup</a:t>
            </a:r>
          </a:p>
        </p:txBody>
      </p:sp>
      <p:sp>
        <p:nvSpPr>
          <p:cNvPr id="22" name="TextBox 21"/>
          <p:cNvSpPr txBox="1"/>
          <p:nvPr/>
        </p:nvSpPr>
        <p:spPr>
          <a:xfrm>
            <a:off x="1078992" y="4389120"/>
            <a:ext cx="3428999" cy="182880"/>
          </a:xfrm>
          <a:prstGeom prst="rect">
            <a:avLst/>
          </a:prstGeom>
          <a:noFill/>
        </p:spPr>
        <p:txBody>
          <a:bodyPr wrap="square" lIns="0" rIns="0" tIns="0" bIns="0" anchor="t">
            <a:spAutoFit/>
          </a:bodyPr>
          <a:lstStyle/>
          <a:p>
            <a:pPr algn="l"/>
            <a:r>
              <a:rPr sz="1000" b="0" i="0">
                <a:solidFill>
                  <a:srgbClr val="6B7280"/>
                </a:solidFill>
                <a:latin typeface="Open Sans"/>
              </a:rPr>
              <a:t>Harsh · Bhavishya · Sravan</a:t>
            </a:r>
          </a:p>
        </p:txBody>
      </p:sp>
      <p:sp>
        <p:nvSpPr>
          <p:cNvPr id="23" name="Rounded Rectangle 22"/>
          <p:cNvSpPr/>
          <p:nvPr/>
        </p:nvSpPr>
        <p:spPr>
          <a:xfrm>
            <a:off x="4617720" y="4361688"/>
            <a:ext cx="1051560" cy="256032"/>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4" name="TextBox 23"/>
          <p:cNvSpPr txBox="1"/>
          <p:nvPr/>
        </p:nvSpPr>
        <p:spPr>
          <a:xfrm>
            <a:off x="4617720" y="4361688"/>
            <a:ext cx="1051560" cy="256032"/>
          </a:xfrm>
          <a:prstGeom prst="rect">
            <a:avLst/>
          </a:prstGeom>
          <a:noFill/>
        </p:spPr>
        <p:txBody>
          <a:bodyPr wrap="square" lIns="0" rIns="0" tIns="0" bIns="0" anchor="ctr">
            <a:spAutoFit/>
          </a:bodyPr>
          <a:lstStyle/>
          <a:p>
            <a:pPr algn="ctr"/>
            <a:r>
              <a:rPr sz="1000" b="1" i="0">
                <a:solidFill>
                  <a:srgbClr val="6B7280"/>
                </a:solidFill>
                <a:latin typeface="Open Sans"/>
              </a:rPr>
              <a:t>Not started</a:t>
            </a:r>
          </a:p>
        </p:txBody>
      </p:sp>
      <p:sp>
        <p:nvSpPr>
          <p:cNvPr id="25" name="Phase 5 – Finalization (Jan)"/>
          <p:cNvSpPr/>
          <p:nvPr/>
        </p:nvSpPr>
        <p:spPr>
          <a:xfrm>
            <a:off x="6172200" y="1828800"/>
            <a:ext cx="5349240" cy="3246120"/>
          </a:xfrm>
          <a:prstGeom prst="roundRect">
            <a:avLst>
              <a:gd name="adj" fmla="val 3380"/>
            </a:avLst>
          </a:prstGeom>
          <a:solidFill>
            <a:srgbClr val="FFFFFF"/>
          </a:solidFill>
          <a:ln w="190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6" name="Oval 25"/>
          <p:cNvSpPr/>
          <p:nvPr/>
        </p:nvSpPr>
        <p:spPr>
          <a:xfrm>
            <a:off x="6364224" y="2020824"/>
            <a:ext cx="438912" cy="438912"/>
          </a:xfrm>
          <a:prstGeom prst="ellipse">
            <a:avLst/>
          </a:prstGeom>
          <a:solidFill>
            <a:srgbClr val="E278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Open Sans"/>
              </a:rPr>
              <a:t>6</a:t>
            </a:r>
          </a:p>
        </p:txBody>
      </p:sp>
      <p:sp>
        <p:nvSpPr>
          <p:cNvPr id="27" name="TextBox 26"/>
          <p:cNvSpPr txBox="1"/>
          <p:nvPr/>
        </p:nvSpPr>
        <p:spPr>
          <a:xfrm>
            <a:off x="6949440" y="2075688"/>
            <a:ext cx="4389120" cy="365760"/>
          </a:xfrm>
          <a:prstGeom prst="rect">
            <a:avLst/>
          </a:prstGeom>
          <a:noFill/>
        </p:spPr>
        <p:txBody>
          <a:bodyPr wrap="square" lIns="0" rIns="0" tIns="0" bIns="0" anchor="t">
            <a:spAutoFit/>
          </a:bodyPr>
          <a:lstStyle/>
          <a:p>
            <a:pPr algn="l"/>
            <a:r>
              <a:rPr sz="2000" b="1" i="0">
                <a:solidFill>
                  <a:srgbClr val="111111"/>
                </a:solidFill>
                <a:latin typeface="Open Sans"/>
              </a:rPr>
              <a:t>Phase 5 – Finalization (Jan)</a:t>
            </a:r>
          </a:p>
        </p:txBody>
      </p:sp>
      <p:sp>
        <p:nvSpPr>
          <p:cNvPr id="28" name="Rounded Rectangle 27"/>
          <p:cNvSpPr/>
          <p:nvPr/>
        </p:nvSpPr>
        <p:spPr>
          <a:xfrm>
            <a:off x="6400800" y="2697480"/>
            <a:ext cx="4892040" cy="658368"/>
          </a:xfrm>
          <a:prstGeom prst="roundRect">
            <a:avLst>
              <a:gd name="adj" fmla="val 11111"/>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29" name="TextBox 28"/>
          <p:cNvSpPr txBox="1"/>
          <p:nvPr/>
        </p:nvSpPr>
        <p:spPr>
          <a:xfrm>
            <a:off x="6565392" y="2761488"/>
            <a:ext cx="3428999" cy="228600"/>
          </a:xfrm>
          <a:prstGeom prst="rect">
            <a:avLst/>
          </a:prstGeom>
          <a:noFill/>
        </p:spPr>
        <p:txBody>
          <a:bodyPr wrap="square" lIns="0" rIns="0" tIns="0" bIns="0" anchor="t">
            <a:spAutoFit/>
          </a:bodyPr>
          <a:lstStyle/>
          <a:p>
            <a:pPr algn="l"/>
            <a:r>
              <a:rPr sz="1300" b="1" i="0">
                <a:solidFill>
                  <a:srgbClr val="111111"/>
                </a:solidFill>
                <a:latin typeface="Open Sans"/>
              </a:rPr>
              <a:t>Final testing &amp; bug fixing</a:t>
            </a:r>
          </a:p>
        </p:txBody>
      </p:sp>
      <p:sp>
        <p:nvSpPr>
          <p:cNvPr id="30" name="TextBox 29"/>
          <p:cNvSpPr txBox="1"/>
          <p:nvPr/>
        </p:nvSpPr>
        <p:spPr>
          <a:xfrm>
            <a:off x="6565392" y="2926080"/>
            <a:ext cx="3428999" cy="182880"/>
          </a:xfrm>
          <a:prstGeom prst="rect">
            <a:avLst/>
          </a:prstGeom>
          <a:noFill/>
        </p:spPr>
        <p:txBody>
          <a:bodyPr wrap="square" lIns="0" rIns="0" tIns="0" bIns="0" anchor="t">
            <a:spAutoFit/>
          </a:bodyPr>
          <a:lstStyle/>
          <a:p>
            <a:pPr algn="l"/>
            <a:r>
              <a:rPr sz="1000" b="0" i="0">
                <a:solidFill>
                  <a:srgbClr val="6B7280"/>
                </a:solidFill>
                <a:latin typeface="Open Sans"/>
              </a:rPr>
              <a:t>Jan 1–20 · All</a:t>
            </a:r>
          </a:p>
        </p:txBody>
      </p:sp>
      <p:sp>
        <p:nvSpPr>
          <p:cNvPr id="31" name="Rounded Rectangle 30"/>
          <p:cNvSpPr/>
          <p:nvPr/>
        </p:nvSpPr>
        <p:spPr>
          <a:xfrm>
            <a:off x="10104119" y="2898648"/>
            <a:ext cx="1051560" cy="256032"/>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2" name="TextBox 31"/>
          <p:cNvSpPr txBox="1"/>
          <p:nvPr/>
        </p:nvSpPr>
        <p:spPr>
          <a:xfrm>
            <a:off x="10104119" y="2898648"/>
            <a:ext cx="1051560" cy="256032"/>
          </a:xfrm>
          <a:prstGeom prst="rect">
            <a:avLst/>
          </a:prstGeom>
          <a:noFill/>
        </p:spPr>
        <p:txBody>
          <a:bodyPr wrap="square" lIns="0" rIns="0" tIns="0" bIns="0" anchor="ctr">
            <a:spAutoFit/>
          </a:bodyPr>
          <a:lstStyle/>
          <a:p>
            <a:pPr algn="ctr"/>
            <a:r>
              <a:rPr sz="1000" b="1" i="0">
                <a:solidFill>
                  <a:srgbClr val="6B7280"/>
                </a:solidFill>
                <a:latin typeface="Open Sans"/>
              </a:rPr>
              <a:t>Not started</a:t>
            </a:r>
          </a:p>
        </p:txBody>
      </p:sp>
      <p:sp>
        <p:nvSpPr>
          <p:cNvPr id="33" name="Rounded Rectangle 32"/>
          <p:cNvSpPr/>
          <p:nvPr/>
        </p:nvSpPr>
        <p:spPr>
          <a:xfrm>
            <a:off x="6400800" y="3429000"/>
            <a:ext cx="4892040" cy="658368"/>
          </a:xfrm>
          <a:prstGeom prst="roundRect">
            <a:avLst>
              <a:gd name="adj" fmla="val 11111"/>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4" name="TextBox 33"/>
          <p:cNvSpPr txBox="1"/>
          <p:nvPr/>
        </p:nvSpPr>
        <p:spPr>
          <a:xfrm>
            <a:off x="6565392" y="3493008"/>
            <a:ext cx="3428999" cy="228600"/>
          </a:xfrm>
          <a:prstGeom prst="rect">
            <a:avLst/>
          </a:prstGeom>
          <a:noFill/>
        </p:spPr>
        <p:txBody>
          <a:bodyPr wrap="square" lIns="0" rIns="0" tIns="0" bIns="0" anchor="t">
            <a:spAutoFit/>
          </a:bodyPr>
          <a:lstStyle/>
          <a:p>
            <a:pPr algn="l"/>
            <a:r>
              <a:rPr sz="1300" b="1" i="0">
                <a:solidFill>
                  <a:srgbClr val="111111"/>
                </a:solidFill>
                <a:latin typeface="Open Sans"/>
              </a:rPr>
              <a:t>Remote control, head, HRI</a:t>
            </a:r>
          </a:p>
        </p:txBody>
      </p:sp>
      <p:sp>
        <p:nvSpPr>
          <p:cNvPr id="35" name="TextBox 34"/>
          <p:cNvSpPr txBox="1"/>
          <p:nvPr/>
        </p:nvSpPr>
        <p:spPr>
          <a:xfrm>
            <a:off x="6565392" y="3657600"/>
            <a:ext cx="3428999" cy="182880"/>
          </a:xfrm>
          <a:prstGeom prst="rect">
            <a:avLst/>
          </a:prstGeom>
          <a:noFill/>
        </p:spPr>
        <p:txBody>
          <a:bodyPr wrap="square" lIns="0" rIns="0" tIns="0" bIns="0" anchor="t">
            <a:spAutoFit/>
          </a:bodyPr>
          <a:lstStyle/>
          <a:p>
            <a:pPr algn="l"/>
            <a:r>
              <a:rPr sz="1000" b="0" i="0">
                <a:solidFill>
                  <a:srgbClr val="6B7280"/>
                </a:solidFill>
                <a:latin typeface="Open Sans"/>
              </a:rPr>
              <a:t>Jan 21–30 · All</a:t>
            </a:r>
          </a:p>
        </p:txBody>
      </p:sp>
      <p:sp>
        <p:nvSpPr>
          <p:cNvPr id="36" name="Rounded Rectangle 35"/>
          <p:cNvSpPr/>
          <p:nvPr/>
        </p:nvSpPr>
        <p:spPr>
          <a:xfrm>
            <a:off x="10104119" y="3630168"/>
            <a:ext cx="1051560" cy="256032"/>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7" name="TextBox 36"/>
          <p:cNvSpPr txBox="1"/>
          <p:nvPr/>
        </p:nvSpPr>
        <p:spPr>
          <a:xfrm>
            <a:off x="10104119" y="3630168"/>
            <a:ext cx="1051560" cy="256032"/>
          </a:xfrm>
          <a:prstGeom prst="rect">
            <a:avLst/>
          </a:prstGeom>
          <a:noFill/>
        </p:spPr>
        <p:txBody>
          <a:bodyPr wrap="square" lIns="0" rIns="0" tIns="0" bIns="0" anchor="ctr">
            <a:spAutoFit/>
          </a:bodyPr>
          <a:lstStyle/>
          <a:p>
            <a:pPr algn="ctr"/>
            <a:r>
              <a:rPr sz="1000" b="1" i="0">
                <a:solidFill>
                  <a:srgbClr val="6B7280"/>
                </a:solidFill>
                <a:latin typeface="Open Sans"/>
              </a:rPr>
              <a:t>Not started</a:t>
            </a:r>
          </a:p>
        </p:txBody>
      </p:sp>
      <p:sp>
        <p:nvSpPr>
          <p:cNvPr id="38" name="Rounded Rectangle 37"/>
          <p:cNvSpPr/>
          <p:nvPr/>
        </p:nvSpPr>
        <p:spPr>
          <a:xfrm>
            <a:off x="6400800" y="4160520"/>
            <a:ext cx="4892040" cy="658368"/>
          </a:xfrm>
          <a:prstGeom prst="roundRect">
            <a:avLst>
              <a:gd name="adj" fmla="val 11111"/>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39" name="TextBox 38"/>
          <p:cNvSpPr txBox="1"/>
          <p:nvPr/>
        </p:nvSpPr>
        <p:spPr>
          <a:xfrm>
            <a:off x="6565392" y="4224528"/>
            <a:ext cx="3428999" cy="228600"/>
          </a:xfrm>
          <a:prstGeom prst="rect">
            <a:avLst/>
          </a:prstGeom>
          <a:noFill/>
        </p:spPr>
        <p:txBody>
          <a:bodyPr wrap="square" lIns="0" rIns="0" tIns="0" bIns="0" anchor="t">
            <a:spAutoFit/>
          </a:bodyPr>
          <a:lstStyle/>
          <a:p>
            <a:pPr algn="l"/>
            <a:r>
              <a:rPr sz="1300" b="1" i="0">
                <a:solidFill>
                  <a:srgbClr val="111111"/>
                </a:solidFill>
                <a:latin typeface="Open Sans"/>
              </a:rPr>
              <a:t>Final presentation</a:t>
            </a:r>
          </a:p>
        </p:txBody>
      </p:sp>
      <p:sp>
        <p:nvSpPr>
          <p:cNvPr id="40" name="TextBox 39"/>
          <p:cNvSpPr txBox="1"/>
          <p:nvPr/>
        </p:nvSpPr>
        <p:spPr>
          <a:xfrm>
            <a:off x="6565392" y="4389120"/>
            <a:ext cx="3428999" cy="182880"/>
          </a:xfrm>
          <a:prstGeom prst="rect">
            <a:avLst/>
          </a:prstGeom>
          <a:noFill/>
        </p:spPr>
        <p:txBody>
          <a:bodyPr wrap="square" lIns="0" rIns="0" tIns="0" bIns="0" anchor="t">
            <a:spAutoFit/>
          </a:bodyPr>
          <a:lstStyle/>
          <a:p>
            <a:pPr algn="l"/>
            <a:r>
              <a:rPr sz="1000" b="0" i="0">
                <a:solidFill>
                  <a:srgbClr val="6B7280"/>
                </a:solidFill>
                <a:latin typeface="Open Sans"/>
              </a:rPr>
              <a:t>Jan 25–30 · All</a:t>
            </a:r>
          </a:p>
        </p:txBody>
      </p:sp>
      <p:sp>
        <p:nvSpPr>
          <p:cNvPr id="41" name="Rounded Rectangle 40"/>
          <p:cNvSpPr/>
          <p:nvPr/>
        </p:nvSpPr>
        <p:spPr>
          <a:xfrm>
            <a:off x="10104119" y="4361688"/>
            <a:ext cx="1051560" cy="256032"/>
          </a:xfrm>
          <a:prstGeom prst="roundRect">
            <a:avLst>
              <a:gd name="adj" fmla="val 5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2" name="TextBox 41"/>
          <p:cNvSpPr txBox="1"/>
          <p:nvPr/>
        </p:nvSpPr>
        <p:spPr>
          <a:xfrm>
            <a:off x="10104119" y="4361688"/>
            <a:ext cx="1051560" cy="256032"/>
          </a:xfrm>
          <a:prstGeom prst="rect">
            <a:avLst/>
          </a:prstGeom>
          <a:noFill/>
        </p:spPr>
        <p:txBody>
          <a:bodyPr wrap="square" lIns="0" rIns="0" tIns="0" bIns="0" anchor="ctr">
            <a:spAutoFit/>
          </a:bodyPr>
          <a:lstStyle/>
          <a:p>
            <a:pPr algn="ctr"/>
            <a:r>
              <a:rPr sz="1000" b="1" i="0">
                <a:solidFill>
                  <a:srgbClr val="6B7280"/>
                </a:solidFill>
                <a:latin typeface="Open Sans"/>
              </a:rPr>
              <a:t>Not started</a:t>
            </a:r>
          </a:p>
        </p:txBody>
      </p:sp>
      <p:sp>
        <p:nvSpPr>
          <p:cNvPr id="43" name="Takeaway"/>
          <p:cNvSpPr/>
          <p:nvPr/>
        </p:nvSpPr>
        <p:spPr>
          <a:xfrm>
            <a:off x="685800" y="5303520"/>
            <a:ext cx="10835640" cy="822960"/>
          </a:xfrm>
          <a:prstGeom prst="roundRect">
            <a:avLst>
              <a:gd name="adj" fmla="val 16666"/>
            </a:avLst>
          </a:prstGeom>
          <a:solidFill>
            <a:srgbClr val="FBEDE3"/>
          </a:solidFill>
          <a:ln w="25400">
            <a:solidFill>
              <a:srgbClr val="E2783A"/>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p>
        </p:txBody>
      </p:sp>
      <p:sp>
        <p:nvSpPr>
          <p:cNvPr id="44" name="TextBox 43"/>
          <p:cNvSpPr txBox="1"/>
          <p:nvPr/>
        </p:nvSpPr>
        <p:spPr>
          <a:xfrm>
            <a:off x="960120" y="5303520"/>
            <a:ext cx="10332720" cy="822960"/>
          </a:xfrm>
          <a:prstGeom prst="rect">
            <a:avLst/>
          </a:prstGeom>
          <a:noFill/>
        </p:spPr>
        <p:txBody>
          <a:bodyPr wrap="square" lIns="0" rIns="0" tIns="0" bIns="0" anchor="ctr">
            <a:spAutoFit/>
          </a:bodyPr>
          <a:lstStyle/>
          <a:p>
            <a:pPr algn="l"/>
            <a:r>
              <a:rPr sz="1600" b="1" i="0">
                <a:solidFill>
                  <a:srgbClr val="E2783A"/>
                </a:solidFill>
                <a:latin typeface="Open Sans"/>
              </a:rPr>
              <a:t>Takeaway: </a:t>
            </a:r>
            <a:r>
              <a:rPr sz="1600" b="1" i="0">
                <a:solidFill>
                  <a:srgbClr val="111111"/>
                </a:solidFill>
                <a:latin typeface="Open Sans"/>
              </a:rPr>
              <a:t>the robot already walks, trots and steers in simulation; Phase 4 brings this onto the real hardware.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