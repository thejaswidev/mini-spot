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leg repeats one loop. In the swing, about a third of the time, the foot is in the air and moves forward. In the stance, the other two thirds, it is on the ground and pushes back, and that push moves the body forward. The swing follows a cubic Bezier curve: four control points shape the motion, and it starts and stops gently, so the servos get no jerks. Both joint angles, shoulder and knee, follow this curve, 50 times a second. On the right are the numbers that define this loop.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legs run the same loop, just shifted in time. In a walk only one leg is in the air at a time: slow, but very stable. In a trot, diagonal pairs move together: front-right with rear-left, then front-left with rear-right. That is faster. The speed of the whole thing is set by the cycle period.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sideways hip joints are locked, so we steer like a tank. To turn on the spot, the left legs step backward and the right legs forward. To walk in a circle, the inner legs take shorter steps. The robot measures its own rotation and stops at the exact angle or circle size we ask for. Everything you saw is controlled by only six numbers. Different left and right step lengths make it curve. We picked these by hand - are they the best? That is where reinforcement learning comes 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502920"/>
            <a:ext cx="9875520" cy="731520"/>
          </a:xfrm>
          <a:prstGeom prst="rect">
            <a:avLst/>
          </a:prstGeom>
          <a:noFill/>
        </p:spPr>
        <p:txBody>
          <a:bodyPr wrap="square" lIns="0" rIns="0" tIns="0" bIns="0" anchor="t">
            <a:spAutoFit/>
          </a:bodyPr>
          <a:lstStyle/>
          <a:p>
            <a:pPr algn="l"/>
            <a:r>
              <a:rPr sz="3600" b="1" i="0">
                <a:solidFill>
                  <a:srgbClr val="111111"/>
                </a:solidFill>
                <a:latin typeface="Open Sans"/>
              </a:rPr>
              <a:t>One leg = one smooth loop</a:t>
            </a:r>
          </a:p>
        </p:txBody>
      </p:sp>
      <p:sp>
        <p:nvSpPr>
          <p:cNvPr id="3" name="Subtitle"/>
          <p:cNvSpPr txBox="1"/>
          <p:nvPr/>
        </p:nvSpPr>
        <p:spPr>
          <a:xfrm>
            <a:off x="704088" y="1207008"/>
            <a:ext cx="9875520" cy="365760"/>
          </a:xfrm>
          <a:prstGeom prst="rect">
            <a:avLst/>
          </a:prstGeom>
          <a:noFill/>
        </p:spPr>
        <p:txBody>
          <a:bodyPr wrap="square" lIns="0" rIns="0" tIns="0" bIns="0" anchor="t">
            <a:spAutoFit/>
          </a:bodyPr>
          <a:lstStyle/>
          <a:p>
            <a:pPr algn="l"/>
            <a:r>
              <a:rPr sz="1600" b="0" i="0">
                <a:solidFill>
                  <a:srgbClr val="6B7280"/>
                </a:solidFill>
                <a:latin typeface="Open Sans"/>
              </a:rPr>
              <a:t>Every leg repeats the same cycle: lift and swing forward, then push back</a:t>
            </a:r>
          </a:p>
        </p:txBody>
      </p:sp>
      <p:sp>
        <p:nvSpPr>
          <p:cNvPr id="4" name="Logo"/>
          <p:cNvSpPr txBox="1"/>
          <p:nvPr/>
        </p:nvSpPr>
        <p:spPr>
          <a:xfrm>
            <a:off x="10058400" y="502920"/>
            <a:ext cx="1463040" cy="548640"/>
          </a:xfrm>
          <a:prstGeom prst="rect">
            <a:avLst/>
          </a:prstGeom>
          <a:noFill/>
        </p:spPr>
        <p:txBody>
          <a:bodyPr wrap="square" lIns="0" rIns="0" tIns="0" bIns="0" anchor="t">
            <a:spAutoFit/>
          </a:bodyPr>
          <a:lstStyle/>
          <a:p>
            <a:pPr algn="r"/>
            <a:r>
              <a:rPr sz="2800" b="1" i="0">
                <a:solidFill>
                  <a:srgbClr val="E2783A"/>
                </a:solidFill>
                <a:latin typeface="Open Sans"/>
              </a:rPr>
              <a:t>thws</a:t>
            </a:r>
          </a:p>
        </p:txBody>
      </p:sp>
      <p:sp>
        <p:nvSpPr>
          <p:cNvPr id="5" name="Oval 4"/>
          <p:cNvSpPr/>
          <p:nvPr/>
        </p:nvSpPr>
        <p:spPr>
          <a:xfrm>
            <a:off x="704088" y="6281928"/>
            <a:ext cx="237744" cy="237744"/>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Presenter"/>
          <p:cNvSpPr txBox="1"/>
          <p:nvPr/>
        </p:nvSpPr>
        <p:spPr>
          <a:xfrm>
            <a:off x="1051560" y="6272784"/>
            <a:ext cx="3657600" cy="274320"/>
          </a:xfrm>
          <a:prstGeom prst="rect">
            <a:avLst/>
          </a:prstGeom>
          <a:noFill/>
        </p:spPr>
        <p:txBody>
          <a:bodyPr wrap="square" lIns="0" rIns="0" tIns="0" bIns="0" anchor="t">
            <a:spAutoFit/>
          </a:bodyPr>
          <a:lstStyle/>
          <a:p>
            <a:pPr algn="l"/>
            <a:r>
              <a:rPr sz="1300" b="0" i="0">
                <a:solidFill>
                  <a:srgbClr val="6B7280"/>
                </a:solidFill>
                <a:latin typeface="Open Sans"/>
              </a:rPr>
              <a:t>Your Name</a:t>
            </a:r>
          </a:p>
        </p:txBody>
      </p:sp>
      <p:sp>
        <p:nvSpPr>
          <p:cNvPr id="7" name="Loop card"/>
          <p:cNvSpPr/>
          <p:nvPr/>
        </p:nvSpPr>
        <p:spPr>
          <a:xfrm>
            <a:off x="685800" y="1828800"/>
            <a:ext cx="7315200" cy="4343400"/>
          </a:xfrm>
          <a:prstGeom prst="roundRect">
            <a:avLst>
              <a:gd name="adj" fmla="val 2526"/>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Oval 7"/>
          <p:cNvSpPr/>
          <p:nvPr/>
        </p:nvSpPr>
        <p:spPr>
          <a:xfrm>
            <a:off x="87782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1</a:t>
            </a:r>
          </a:p>
        </p:txBody>
      </p:sp>
      <p:sp>
        <p:nvSpPr>
          <p:cNvPr id="9" name="TextBox 8"/>
          <p:cNvSpPr txBox="1"/>
          <p:nvPr/>
        </p:nvSpPr>
        <p:spPr>
          <a:xfrm>
            <a:off x="1463040" y="2075688"/>
            <a:ext cx="5486400" cy="365760"/>
          </a:xfrm>
          <a:prstGeom prst="rect">
            <a:avLst/>
          </a:prstGeom>
          <a:noFill/>
        </p:spPr>
        <p:txBody>
          <a:bodyPr wrap="square" lIns="0" rIns="0" tIns="0" bIns="0" anchor="t">
            <a:spAutoFit/>
          </a:bodyPr>
          <a:lstStyle/>
          <a:p>
            <a:pPr algn="l"/>
            <a:r>
              <a:rPr sz="2000" b="1" i="0">
                <a:solidFill>
                  <a:srgbClr val="111111"/>
                </a:solidFill>
                <a:latin typeface="Open Sans"/>
              </a:rPr>
              <a:t>The swing is a cubic Bézier curve</a:t>
            </a:r>
          </a:p>
        </p:txBody>
      </p:sp>
      <p:cxnSp>
        <p:nvCxnSpPr>
          <p:cNvPr id="10" name="Connector 9"/>
          <p:cNvCxnSpPr/>
          <p:nvPr/>
        </p:nvCxnSpPr>
        <p:spPr>
          <a:xfrm>
            <a:off x="914400" y="4965192"/>
            <a:ext cx="4572000" cy="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280160" y="2880360"/>
            <a:ext cx="320040" cy="2011680"/>
          </a:xfrm>
          <a:prstGeom prst="line">
            <a:avLst/>
          </a:prstGeom>
          <a:ln w="15875">
            <a:solidFill>
              <a:srgbClr val="E2783A"/>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600200" y="2880360"/>
            <a:ext cx="3200400" cy="0"/>
          </a:xfrm>
          <a:prstGeom prst="line">
            <a:avLst/>
          </a:prstGeom>
          <a:ln w="15875">
            <a:solidFill>
              <a:srgbClr val="E2783A"/>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800600" y="2880360"/>
            <a:ext cx="320040" cy="2011680"/>
          </a:xfrm>
          <a:prstGeom prst="line">
            <a:avLst/>
          </a:prstGeom>
          <a:ln w="15875">
            <a:solidFill>
              <a:srgbClr val="E2783A"/>
            </a:solidFill>
            <a:prstDash val="dash"/>
          </a:ln>
        </p:spPr>
        <p:style>
          <a:lnRef idx="2">
            <a:schemeClr val="accent1"/>
          </a:lnRef>
          <a:fillRef idx="0">
            <a:schemeClr val="accent1"/>
          </a:fillRef>
          <a:effectRef idx="1">
            <a:schemeClr val="accent1"/>
          </a:effectRef>
          <a:fontRef idx="minor">
            <a:schemeClr val="tx1"/>
          </a:fontRef>
        </p:style>
      </p:cxnSp>
      <p:sp>
        <p:nvSpPr>
          <p:cNvPr id="14" name="Swing curve (1st half)"/>
          <p:cNvSpPr/>
          <p:nvPr/>
        </p:nvSpPr>
        <p:spPr>
          <a:xfrm>
            <a:off x="1280160" y="3383713"/>
            <a:ext cx="1964987" cy="1508327"/>
          </a:xfrm>
          <a:custGeom>
            <a:avLst/>
            <a:gdLst/>
            <a:ahLst/>
            <a:cxnLst/>
            <a:rect l="l" t="t" r="r" b="b"/>
            <a:pathLst>
              <a:path w="1964987" h="1508327">
                <a:moveTo>
                  <a:pt x="0" y="1508327"/>
                </a:moveTo>
                <a:lnTo>
                  <a:pt x="18727" y="1407771"/>
                </a:lnTo>
                <a:lnTo>
                  <a:pt x="42251" y="1310684"/>
                </a:lnTo>
                <a:lnTo>
                  <a:pt x="70403" y="1217063"/>
                </a:lnTo>
                <a:lnTo>
                  <a:pt x="103015" y="1126911"/>
                </a:lnTo>
                <a:lnTo>
                  <a:pt x="139918" y="1040225"/>
                </a:lnTo>
                <a:lnTo>
                  <a:pt x="180945" y="957007"/>
                </a:lnTo>
                <a:lnTo>
                  <a:pt x="225927" y="877257"/>
                </a:lnTo>
                <a:lnTo>
                  <a:pt x="274695" y="800973"/>
                </a:lnTo>
                <a:lnTo>
                  <a:pt x="327081" y="728158"/>
                </a:lnTo>
                <a:lnTo>
                  <a:pt x="382918" y="658809"/>
                </a:lnTo>
                <a:lnTo>
                  <a:pt x="442036" y="592928"/>
                </a:lnTo>
                <a:lnTo>
                  <a:pt x="504268" y="530515"/>
                </a:lnTo>
                <a:lnTo>
                  <a:pt x="569445" y="471569"/>
                </a:lnTo>
                <a:lnTo>
                  <a:pt x="637399" y="416090"/>
                </a:lnTo>
                <a:lnTo>
                  <a:pt x="707962" y="364079"/>
                </a:lnTo>
                <a:lnTo>
                  <a:pt x="780964" y="315535"/>
                </a:lnTo>
                <a:lnTo>
                  <a:pt x="856239" y="270458"/>
                </a:lnTo>
                <a:lnTo>
                  <a:pt x="933618" y="228849"/>
                </a:lnTo>
                <a:lnTo>
                  <a:pt x="1012931" y="190708"/>
                </a:lnTo>
                <a:lnTo>
                  <a:pt x="1094012" y="156034"/>
                </a:lnTo>
                <a:lnTo>
                  <a:pt x="1176692" y="124827"/>
                </a:lnTo>
                <a:lnTo>
                  <a:pt x="1260802" y="97088"/>
                </a:lnTo>
                <a:lnTo>
                  <a:pt x="1346175" y="72816"/>
                </a:lnTo>
                <a:lnTo>
                  <a:pt x="1432641" y="52011"/>
                </a:lnTo>
                <a:lnTo>
                  <a:pt x="1520033" y="34674"/>
                </a:lnTo>
                <a:lnTo>
                  <a:pt x="1608183" y="20804"/>
                </a:lnTo>
                <a:lnTo>
                  <a:pt x="1696921" y="10402"/>
                </a:lnTo>
                <a:lnTo>
                  <a:pt x="1786080" y="3467"/>
                </a:lnTo>
                <a:lnTo>
                  <a:pt x="1875492" y="0"/>
                </a:lnTo>
                <a:lnTo>
                  <a:pt x="1964987" y="0"/>
                </a:lnTo>
              </a:path>
            </a:pathLst>
          </a:custGeom>
          <a:noFill/>
          <a:ln w="76200">
            <a:solidFill>
              <a:srgbClr val="E2783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wing curve (2nd half)"/>
          <p:cNvSpPr/>
          <p:nvPr/>
        </p:nvSpPr>
        <p:spPr>
          <a:xfrm>
            <a:off x="3245147" y="3383713"/>
            <a:ext cx="1875493" cy="1508327"/>
          </a:xfrm>
          <a:custGeom>
            <a:avLst/>
            <a:gdLst/>
            <a:ahLst/>
            <a:cxnLst/>
            <a:rect l="l" t="t" r="r" b="b"/>
            <a:pathLst>
              <a:path w="1875493" h="1508327">
                <a:moveTo>
                  <a:pt x="0" y="0"/>
                </a:moveTo>
                <a:lnTo>
                  <a:pt x="89412" y="3467"/>
                </a:lnTo>
                <a:lnTo>
                  <a:pt x="178571" y="10402"/>
                </a:lnTo>
                <a:lnTo>
                  <a:pt x="267309" y="20804"/>
                </a:lnTo>
                <a:lnTo>
                  <a:pt x="355459" y="34674"/>
                </a:lnTo>
                <a:lnTo>
                  <a:pt x="442851" y="52011"/>
                </a:lnTo>
                <a:lnTo>
                  <a:pt x="529317" y="72816"/>
                </a:lnTo>
                <a:lnTo>
                  <a:pt x="614690" y="97088"/>
                </a:lnTo>
                <a:lnTo>
                  <a:pt x="698800" y="124827"/>
                </a:lnTo>
                <a:lnTo>
                  <a:pt x="781480" y="156034"/>
                </a:lnTo>
                <a:lnTo>
                  <a:pt x="862561" y="190708"/>
                </a:lnTo>
                <a:lnTo>
                  <a:pt x="941874" y="228849"/>
                </a:lnTo>
                <a:lnTo>
                  <a:pt x="1019253" y="270458"/>
                </a:lnTo>
                <a:lnTo>
                  <a:pt x="1094528" y="315535"/>
                </a:lnTo>
                <a:lnTo>
                  <a:pt x="1167530" y="364079"/>
                </a:lnTo>
                <a:lnTo>
                  <a:pt x="1238093" y="416090"/>
                </a:lnTo>
                <a:lnTo>
                  <a:pt x="1306047" y="471569"/>
                </a:lnTo>
                <a:lnTo>
                  <a:pt x="1371224" y="530515"/>
                </a:lnTo>
                <a:lnTo>
                  <a:pt x="1433456" y="592928"/>
                </a:lnTo>
                <a:lnTo>
                  <a:pt x="1492574" y="658809"/>
                </a:lnTo>
                <a:lnTo>
                  <a:pt x="1548411" y="728158"/>
                </a:lnTo>
                <a:lnTo>
                  <a:pt x="1600797" y="800973"/>
                </a:lnTo>
                <a:lnTo>
                  <a:pt x="1649565" y="877257"/>
                </a:lnTo>
                <a:lnTo>
                  <a:pt x="1694547" y="957007"/>
                </a:lnTo>
                <a:lnTo>
                  <a:pt x="1735574" y="1040225"/>
                </a:lnTo>
                <a:lnTo>
                  <a:pt x="1772477" y="1126911"/>
                </a:lnTo>
                <a:lnTo>
                  <a:pt x="1805089" y="1217063"/>
                </a:lnTo>
                <a:lnTo>
                  <a:pt x="1833241" y="1310684"/>
                </a:lnTo>
                <a:lnTo>
                  <a:pt x="1856765" y="1407771"/>
                </a:lnTo>
                <a:lnTo>
                  <a:pt x="1875493" y="1508327"/>
                </a:lnTo>
              </a:path>
            </a:pathLst>
          </a:custGeom>
          <a:noFill/>
          <a:ln w="7620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3154680" y="4892040"/>
            <a:ext cx="1965960" cy="0"/>
          </a:xfrm>
          <a:prstGeom prst="line">
            <a:avLst/>
          </a:prstGeom>
          <a:ln w="76200">
            <a:solidFill>
              <a:srgbClr val="343F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280160" y="4892040"/>
            <a:ext cx="1920240" cy="0"/>
          </a:xfrm>
          <a:prstGeom prst="line">
            <a:avLst/>
          </a:prstGeom>
          <a:ln w="76200">
            <a:solidFill>
              <a:srgbClr val="343F4E"/>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188719" y="4800600"/>
            <a:ext cx="182880" cy="182880"/>
          </a:xfrm>
          <a:prstGeom prst="ellipse">
            <a:avLst/>
          </a:prstGeom>
          <a:solidFill>
            <a:srgbClr val="FFFFFF"/>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9" name="TextBox 18"/>
          <p:cNvSpPr txBox="1"/>
          <p:nvPr/>
        </p:nvSpPr>
        <p:spPr>
          <a:xfrm>
            <a:off x="896112" y="4709159"/>
            <a:ext cx="274320" cy="274320"/>
          </a:xfrm>
          <a:prstGeom prst="rect">
            <a:avLst/>
          </a:prstGeom>
          <a:noFill/>
        </p:spPr>
        <p:txBody>
          <a:bodyPr wrap="square" lIns="0" rIns="0" tIns="0" bIns="0" anchor="t">
            <a:spAutoFit/>
          </a:bodyPr>
          <a:lstStyle/>
          <a:p>
            <a:pPr algn="l"/>
            <a:r>
              <a:rPr sz="1500" b="1" i="0">
                <a:solidFill>
                  <a:srgbClr val="E2783A"/>
                </a:solidFill>
                <a:latin typeface="Open Sans"/>
              </a:rPr>
              <a:t>P</a:t>
            </a:r>
            <a:r>
              <a:rPr sz="1500" b="1" i="0" baseline="-25000">
                <a:solidFill>
                  <a:srgbClr val="E2783A"/>
                </a:solidFill>
                <a:latin typeface="Open Sans"/>
              </a:rPr>
              <a:t>0</a:t>
            </a:r>
          </a:p>
        </p:txBody>
      </p:sp>
      <p:sp>
        <p:nvSpPr>
          <p:cNvPr id="20" name="Oval 19"/>
          <p:cNvSpPr/>
          <p:nvPr/>
        </p:nvSpPr>
        <p:spPr>
          <a:xfrm>
            <a:off x="1508760" y="2788920"/>
            <a:ext cx="182880" cy="182880"/>
          </a:xfrm>
          <a:prstGeom prst="ellipse">
            <a:avLst/>
          </a:prstGeom>
          <a:solidFill>
            <a:srgbClr val="FFFFFF"/>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1" name="TextBox 20"/>
          <p:cNvSpPr txBox="1"/>
          <p:nvPr/>
        </p:nvSpPr>
        <p:spPr>
          <a:xfrm>
            <a:off x="1216152" y="2496312"/>
            <a:ext cx="274320" cy="274320"/>
          </a:xfrm>
          <a:prstGeom prst="rect">
            <a:avLst/>
          </a:prstGeom>
          <a:noFill/>
        </p:spPr>
        <p:txBody>
          <a:bodyPr wrap="square" lIns="0" rIns="0" tIns="0" bIns="0" anchor="t">
            <a:spAutoFit/>
          </a:bodyPr>
          <a:lstStyle/>
          <a:p>
            <a:pPr algn="l"/>
            <a:r>
              <a:rPr sz="1500" b="1" i="0">
                <a:solidFill>
                  <a:srgbClr val="E2783A"/>
                </a:solidFill>
                <a:latin typeface="Open Sans"/>
              </a:rPr>
              <a:t>P</a:t>
            </a:r>
            <a:r>
              <a:rPr sz="1500" b="1" i="0" baseline="-25000">
                <a:solidFill>
                  <a:srgbClr val="E2783A"/>
                </a:solidFill>
                <a:latin typeface="Open Sans"/>
              </a:rPr>
              <a:t>1</a:t>
            </a:r>
          </a:p>
        </p:txBody>
      </p:sp>
      <p:sp>
        <p:nvSpPr>
          <p:cNvPr id="22" name="Oval 21"/>
          <p:cNvSpPr/>
          <p:nvPr/>
        </p:nvSpPr>
        <p:spPr>
          <a:xfrm>
            <a:off x="4709160" y="2788920"/>
            <a:ext cx="182880" cy="182880"/>
          </a:xfrm>
          <a:prstGeom prst="ellipse">
            <a:avLst/>
          </a:prstGeom>
          <a:solidFill>
            <a:srgbClr val="FFFFFF"/>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3" name="TextBox 22"/>
          <p:cNvSpPr txBox="1"/>
          <p:nvPr/>
        </p:nvSpPr>
        <p:spPr>
          <a:xfrm>
            <a:off x="4928616" y="2496312"/>
            <a:ext cx="274320" cy="274320"/>
          </a:xfrm>
          <a:prstGeom prst="rect">
            <a:avLst/>
          </a:prstGeom>
          <a:noFill/>
        </p:spPr>
        <p:txBody>
          <a:bodyPr wrap="square" lIns="0" rIns="0" tIns="0" bIns="0" anchor="t">
            <a:spAutoFit/>
          </a:bodyPr>
          <a:lstStyle/>
          <a:p>
            <a:pPr algn="l"/>
            <a:r>
              <a:rPr sz="1500" b="1" i="0">
                <a:solidFill>
                  <a:srgbClr val="E2783A"/>
                </a:solidFill>
                <a:latin typeface="Open Sans"/>
              </a:rPr>
              <a:t>P</a:t>
            </a:r>
            <a:r>
              <a:rPr sz="1500" b="1" i="0" baseline="-25000">
                <a:solidFill>
                  <a:srgbClr val="E2783A"/>
                </a:solidFill>
                <a:latin typeface="Open Sans"/>
              </a:rPr>
              <a:t>2</a:t>
            </a:r>
          </a:p>
        </p:txBody>
      </p:sp>
      <p:sp>
        <p:nvSpPr>
          <p:cNvPr id="24" name="Oval 23"/>
          <p:cNvSpPr/>
          <p:nvPr/>
        </p:nvSpPr>
        <p:spPr>
          <a:xfrm>
            <a:off x="5029200" y="4800600"/>
            <a:ext cx="182880" cy="182880"/>
          </a:xfrm>
          <a:prstGeom prst="ellipse">
            <a:avLst/>
          </a:prstGeom>
          <a:solidFill>
            <a:srgbClr val="FFFFFF"/>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5" name="TextBox 24"/>
          <p:cNvSpPr txBox="1"/>
          <p:nvPr/>
        </p:nvSpPr>
        <p:spPr>
          <a:xfrm>
            <a:off x="5248655" y="4709159"/>
            <a:ext cx="274320" cy="274320"/>
          </a:xfrm>
          <a:prstGeom prst="rect">
            <a:avLst/>
          </a:prstGeom>
          <a:noFill/>
        </p:spPr>
        <p:txBody>
          <a:bodyPr wrap="square" lIns="0" rIns="0" tIns="0" bIns="0" anchor="t">
            <a:spAutoFit/>
          </a:bodyPr>
          <a:lstStyle/>
          <a:p>
            <a:pPr algn="l"/>
            <a:r>
              <a:rPr sz="1500" b="1" i="0">
                <a:solidFill>
                  <a:srgbClr val="E2783A"/>
                </a:solidFill>
                <a:latin typeface="Open Sans"/>
              </a:rPr>
              <a:t>P</a:t>
            </a:r>
            <a:r>
              <a:rPr sz="1500" b="1" i="0" baseline="-25000">
                <a:solidFill>
                  <a:srgbClr val="E2783A"/>
                </a:solidFill>
                <a:latin typeface="Open Sans"/>
              </a:rPr>
              <a:t>3</a:t>
            </a:r>
          </a:p>
        </p:txBody>
      </p:sp>
      <p:sp>
        <p:nvSpPr>
          <p:cNvPr id="26" name="TextBox 25"/>
          <p:cNvSpPr txBox="1"/>
          <p:nvPr/>
        </p:nvSpPr>
        <p:spPr>
          <a:xfrm>
            <a:off x="1280160" y="3291840"/>
            <a:ext cx="3840480" cy="274320"/>
          </a:xfrm>
          <a:prstGeom prst="rect">
            <a:avLst/>
          </a:prstGeom>
          <a:noFill/>
        </p:spPr>
        <p:txBody>
          <a:bodyPr wrap="square" lIns="0" rIns="0" tIns="0" bIns="0" anchor="t">
            <a:spAutoFit/>
          </a:bodyPr>
          <a:lstStyle/>
          <a:p>
            <a:pPr algn="ctr"/>
            <a:r>
              <a:rPr sz="1300" b="1" i="0">
                <a:solidFill>
                  <a:srgbClr val="E2783A"/>
                </a:solidFill>
                <a:latin typeface="Open Sans"/>
              </a:rPr>
              <a:t>SWING · foot in the air · 33 %</a:t>
            </a:r>
          </a:p>
        </p:txBody>
      </p:sp>
      <p:sp>
        <p:nvSpPr>
          <p:cNvPr id="27" name="TextBox 26"/>
          <p:cNvSpPr txBox="1"/>
          <p:nvPr/>
        </p:nvSpPr>
        <p:spPr>
          <a:xfrm>
            <a:off x="914400" y="5120640"/>
            <a:ext cx="4572000" cy="274320"/>
          </a:xfrm>
          <a:prstGeom prst="rect">
            <a:avLst/>
          </a:prstGeom>
          <a:noFill/>
        </p:spPr>
        <p:txBody>
          <a:bodyPr wrap="square" lIns="0" rIns="0" tIns="0" bIns="0" anchor="t">
            <a:spAutoFit/>
          </a:bodyPr>
          <a:lstStyle/>
          <a:p>
            <a:pPr algn="ctr"/>
            <a:r>
              <a:rPr sz="1300" b="1" i="0">
                <a:solidFill>
                  <a:srgbClr val="343F4E"/>
                </a:solidFill>
                <a:latin typeface="Open Sans"/>
              </a:rPr>
              <a:t>STANCE · foot on the ground pushes back · 67 %</a:t>
            </a:r>
          </a:p>
        </p:txBody>
      </p:sp>
      <p:sp>
        <p:nvSpPr>
          <p:cNvPr id="28" name="TextBox 27"/>
          <p:cNvSpPr txBox="1"/>
          <p:nvPr/>
        </p:nvSpPr>
        <p:spPr>
          <a:xfrm>
            <a:off x="3566160" y="5486400"/>
            <a:ext cx="1920240" cy="228600"/>
          </a:xfrm>
          <a:prstGeom prst="rect">
            <a:avLst/>
          </a:prstGeom>
          <a:noFill/>
        </p:spPr>
        <p:txBody>
          <a:bodyPr wrap="square" lIns="0" rIns="0" tIns="0" bIns="0" anchor="t">
            <a:spAutoFit/>
          </a:bodyPr>
          <a:lstStyle/>
          <a:p>
            <a:pPr algn="r"/>
            <a:r>
              <a:rPr sz="1100" b="0" i="1">
                <a:solidFill>
                  <a:srgbClr val="6B7280"/>
                </a:solidFill>
                <a:latin typeface="Open Sans"/>
              </a:rPr>
              <a:t>walking direction →</a:t>
            </a:r>
          </a:p>
        </p:txBody>
      </p:sp>
      <p:sp>
        <p:nvSpPr>
          <p:cNvPr id="29" name="TextBox 28"/>
          <p:cNvSpPr txBox="1"/>
          <p:nvPr/>
        </p:nvSpPr>
        <p:spPr>
          <a:xfrm>
            <a:off x="5760720" y="2788920"/>
            <a:ext cx="2103120" cy="274320"/>
          </a:xfrm>
          <a:prstGeom prst="rect">
            <a:avLst/>
          </a:prstGeom>
          <a:noFill/>
        </p:spPr>
        <p:txBody>
          <a:bodyPr wrap="square" lIns="0" rIns="0" tIns="0" bIns="0" anchor="t">
            <a:spAutoFit/>
          </a:bodyPr>
          <a:lstStyle/>
          <a:p>
            <a:pPr algn="l"/>
            <a:r>
              <a:rPr sz="1500" b="1" i="0">
                <a:solidFill>
                  <a:srgbClr val="111111"/>
                </a:solidFill>
                <a:latin typeface="Open Sans"/>
              </a:rPr>
              <a:t>Why Bézier?</a:t>
            </a:r>
          </a:p>
        </p:txBody>
      </p:sp>
      <p:sp>
        <p:nvSpPr>
          <p:cNvPr id="30" name="TextBox 29"/>
          <p:cNvSpPr txBox="1"/>
          <p:nvPr/>
        </p:nvSpPr>
        <p:spPr>
          <a:xfrm>
            <a:off x="5760720" y="3154680"/>
            <a:ext cx="2103120" cy="2377440"/>
          </a:xfrm>
          <a:prstGeom prst="rect">
            <a:avLst/>
          </a:prstGeom>
          <a:noFill/>
        </p:spPr>
        <p:txBody>
          <a:bodyPr wrap="square" lIns="0" rIns="0" tIns="0" bIns="0" anchor="t">
            <a:spAutoFit/>
          </a:bodyPr>
          <a:lstStyle/>
          <a:p>
            <a:pPr algn="l">
              <a:spcAft>
                <a:spcPts val="800"/>
              </a:spcAft>
            </a:pPr>
            <a:r>
              <a:rPr sz="1200" b="0" i="0">
                <a:solidFill>
                  <a:srgbClr val="6B7280"/>
                </a:solidFill>
                <a:latin typeface="Open Sans"/>
              </a:rPr>
              <a:t>4 control points shape the motion</a:t>
            </a:r>
          </a:p>
          <a:p>
            <a:pPr algn="l">
              <a:spcAft>
                <a:spcPts val="800"/>
              </a:spcAft>
            </a:pPr>
            <a:r>
              <a:rPr sz="1200" b="0" i="0">
                <a:solidFill>
                  <a:srgbClr val="6B7280"/>
                </a:solidFill>
                <a:latin typeface="Open Sans"/>
              </a:rPr>
              <a:t>Starts and stops gently → no jerks for the servos</a:t>
            </a:r>
          </a:p>
          <a:p>
            <a:pPr algn="l">
              <a:spcAft>
                <a:spcPts val="800"/>
              </a:spcAft>
            </a:pPr>
            <a:r>
              <a:rPr sz="1200" b="0" i="0">
                <a:solidFill>
                  <a:srgbClr val="6B7280"/>
                </a:solidFill>
                <a:latin typeface="Open Sans"/>
              </a:rPr>
              <a:t>Shoulder: swings back → front</a:t>
            </a:r>
          </a:p>
          <a:p>
            <a:pPr algn="l"/>
            <a:r>
              <a:rPr sz="1200" b="0" i="0">
                <a:solidFill>
                  <a:srgbClr val="6B7280"/>
                </a:solidFill>
                <a:latin typeface="Open Sans"/>
              </a:rPr>
              <a:t>Knee: lifts the foot, then puts it down</a:t>
            </a:r>
          </a:p>
        </p:txBody>
      </p:sp>
      <p:sp>
        <p:nvSpPr>
          <p:cNvPr id="31" name="TextBox 30"/>
          <p:cNvSpPr txBox="1"/>
          <p:nvPr/>
        </p:nvSpPr>
        <p:spPr>
          <a:xfrm>
            <a:off x="914400" y="5760720"/>
            <a:ext cx="6766560" cy="274320"/>
          </a:xfrm>
          <a:prstGeom prst="rect">
            <a:avLst/>
          </a:prstGeom>
          <a:noFill/>
        </p:spPr>
        <p:txBody>
          <a:bodyPr wrap="square" lIns="0" rIns="0" tIns="0" bIns="0" anchor="t">
            <a:spAutoFit/>
          </a:bodyPr>
          <a:lstStyle/>
          <a:p>
            <a:pPr algn="l"/>
            <a:r>
              <a:rPr sz="1100" b="0" i="1">
                <a:solidFill>
                  <a:srgbClr val="6B7280"/>
                </a:solidFill>
                <a:latin typeface="Open Sans"/>
              </a:rPr>
              <a:t>Both joint angles follow this curve · recomputed 50× per second for every leg</a:t>
            </a:r>
          </a:p>
        </p:txBody>
      </p:sp>
      <p:sp>
        <p:nvSpPr>
          <p:cNvPr id="32" name="Parameter panel"/>
          <p:cNvSpPr/>
          <p:nvPr/>
        </p:nvSpPr>
        <p:spPr>
          <a:xfrm>
            <a:off x="8275320" y="1828800"/>
            <a:ext cx="3246120" cy="4343400"/>
          </a:xfrm>
          <a:prstGeom prst="roundRect">
            <a:avLst>
              <a:gd name="adj" fmla="val 5070"/>
            </a:avLst>
          </a:prstGeom>
          <a:solidFill>
            <a:srgbClr val="FBEDE3"/>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3" name="TextBox 32"/>
          <p:cNvSpPr txBox="1"/>
          <p:nvPr/>
        </p:nvSpPr>
        <p:spPr>
          <a:xfrm>
            <a:off x="8531352" y="2057400"/>
            <a:ext cx="2788920" cy="365760"/>
          </a:xfrm>
          <a:prstGeom prst="rect">
            <a:avLst/>
          </a:prstGeom>
          <a:noFill/>
        </p:spPr>
        <p:txBody>
          <a:bodyPr wrap="square" lIns="0" rIns="0" tIns="0" bIns="0" anchor="t">
            <a:spAutoFit/>
          </a:bodyPr>
          <a:lstStyle/>
          <a:p>
            <a:pPr algn="l"/>
            <a:r>
              <a:rPr sz="1800" b="1" i="0">
                <a:solidFill>
                  <a:srgbClr val="111111"/>
                </a:solidFill>
                <a:latin typeface="Open Sans"/>
              </a:rPr>
              <a:t>Parameters in this loop</a:t>
            </a:r>
          </a:p>
        </p:txBody>
      </p:sp>
      <p:sp>
        <p:nvSpPr>
          <p:cNvPr id="34" name="TextBox 33"/>
          <p:cNvSpPr txBox="1"/>
          <p:nvPr/>
        </p:nvSpPr>
        <p:spPr>
          <a:xfrm>
            <a:off x="8531352" y="2395728"/>
            <a:ext cx="2788920" cy="274320"/>
          </a:xfrm>
          <a:prstGeom prst="rect">
            <a:avLst/>
          </a:prstGeom>
          <a:noFill/>
        </p:spPr>
        <p:txBody>
          <a:bodyPr wrap="square" lIns="0" rIns="0" tIns="0" bIns="0" anchor="t">
            <a:spAutoFit/>
          </a:bodyPr>
          <a:lstStyle/>
          <a:p>
            <a:pPr algn="l"/>
            <a:r>
              <a:rPr sz="1200" b="0" i="0">
                <a:solidFill>
                  <a:srgbClr val="6B7280"/>
                </a:solidFill>
                <a:latin typeface="Open Sans"/>
              </a:rPr>
              <a:t>these numbers define the curve</a:t>
            </a:r>
          </a:p>
        </p:txBody>
      </p:sp>
      <p:sp>
        <p:nvSpPr>
          <p:cNvPr id="35" name="Rounded Rectangle 34"/>
          <p:cNvSpPr/>
          <p:nvPr/>
        </p:nvSpPr>
        <p:spPr>
          <a:xfrm>
            <a:off x="8458200" y="2788920"/>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6" name="TextBox 35"/>
          <p:cNvSpPr txBox="1"/>
          <p:nvPr/>
        </p:nvSpPr>
        <p:spPr>
          <a:xfrm>
            <a:off x="8604504" y="2843784"/>
            <a:ext cx="1828800" cy="256032"/>
          </a:xfrm>
          <a:prstGeom prst="rect">
            <a:avLst/>
          </a:prstGeom>
          <a:noFill/>
        </p:spPr>
        <p:txBody>
          <a:bodyPr wrap="square" lIns="0" rIns="0" tIns="0" bIns="0" anchor="t">
            <a:spAutoFit/>
          </a:bodyPr>
          <a:lstStyle/>
          <a:p>
            <a:pPr algn="l"/>
            <a:r>
              <a:rPr sz="1400" b="1" i="0">
                <a:solidFill>
                  <a:srgbClr val="343F4E"/>
                </a:solidFill>
                <a:latin typeface="Open Sans"/>
              </a:rPr>
              <a:t>shoulder_home</a:t>
            </a:r>
          </a:p>
        </p:txBody>
      </p:sp>
      <p:sp>
        <p:nvSpPr>
          <p:cNvPr id="37" name="TextBox 36"/>
          <p:cNvSpPr txBox="1"/>
          <p:nvPr/>
        </p:nvSpPr>
        <p:spPr>
          <a:xfrm>
            <a:off x="10058400" y="2843784"/>
            <a:ext cx="1133856" cy="256032"/>
          </a:xfrm>
          <a:prstGeom prst="rect">
            <a:avLst/>
          </a:prstGeom>
          <a:noFill/>
        </p:spPr>
        <p:txBody>
          <a:bodyPr wrap="square" lIns="0" rIns="0" tIns="0" bIns="0" anchor="t">
            <a:spAutoFit/>
          </a:bodyPr>
          <a:lstStyle/>
          <a:p>
            <a:pPr algn="r"/>
            <a:r>
              <a:rPr sz="1400" b="1" i="0">
                <a:solidFill>
                  <a:srgbClr val="E2783A"/>
                </a:solidFill>
                <a:latin typeface="Open Sans"/>
              </a:rPr>
              <a:t>0.687 rad</a:t>
            </a:r>
          </a:p>
        </p:txBody>
      </p:sp>
      <p:sp>
        <p:nvSpPr>
          <p:cNvPr id="38" name="TextBox 37"/>
          <p:cNvSpPr txBox="1"/>
          <p:nvPr/>
        </p:nvSpPr>
        <p:spPr>
          <a:xfrm>
            <a:off x="8604504" y="3072384"/>
            <a:ext cx="2606039" cy="201168"/>
          </a:xfrm>
          <a:prstGeom prst="rect">
            <a:avLst/>
          </a:prstGeom>
          <a:noFill/>
        </p:spPr>
        <p:txBody>
          <a:bodyPr wrap="square" lIns="0" rIns="0" tIns="0" bIns="0" anchor="t">
            <a:spAutoFit/>
          </a:bodyPr>
          <a:lstStyle/>
          <a:p>
            <a:pPr algn="l"/>
            <a:r>
              <a:rPr sz="1100" b="0" i="0">
                <a:solidFill>
                  <a:srgbClr val="6B7280"/>
                </a:solidFill>
                <a:latin typeface="Open Sans"/>
              </a:rPr>
              <a:t>leg angle when standing</a:t>
            </a:r>
          </a:p>
        </p:txBody>
      </p:sp>
      <p:sp>
        <p:nvSpPr>
          <p:cNvPr id="39" name="Rounded Rectangle 38"/>
          <p:cNvSpPr/>
          <p:nvPr/>
        </p:nvSpPr>
        <p:spPr>
          <a:xfrm>
            <a:off x="8458200" y="3392424"/>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0" name="TextBox 39"/>
          <p:cNvSpPr txBox="1"/>
          <p:nvPr/>
        </p:nvSpPr>
        <p:spPr>
          <a:xfrm>
            <a:off x="8604504" y="3447288"/>
            <a:ext cx="1828800" cy="256032"/>
          </a:xfrm>
          <a:prstGeom prst="rect">
            <a:avLst/>
          </a:prstGeom>
          <a:noFill/>
        </p:spPr>
        <p:txBody>
          <a:bodyPr wrap="square" lIns="0" rIns="0" tIns="0" bIns="0" anchor="t">
            <a:spAutoFit/>
          </a:bodyPr>
          <a:lstStyle/>
          <a:p>
            <a:pPr algn="l"/>
            <a:r>
              <a:rPr sz="1400" b="1" i="0">
                <a:solidFill>
                  <a:srgbClr val="343F4E"/>
                </a:solidFill>
                <a:latin typeface="Open Sans"/>
              </a:rPr>
              <a:t>sweep</a:t>
            </a:r>
          </a:p>
        </p:txBody>
      </p:sp>
      <p:sp>
        <p:nvSpPr>
          <p:cNvPr id="41" name="TextBox 40"/>
          <p:cNvSpPr txBox="1"/>
          <p:nvPr/>
        </p:nvSpPr>
        <p:spPr>
          <a:xfrm>
            <a:off x="10058400" y="3447288"/>
            <a:ext cx="1133856" cy="256032"/>
          </a:xfrm>
          <a:prstGeom prst="rect">
            <a:avLst/>
          </a:prstGeom>
          <a:noFill/>
        </p:spPr>
        <p:txBody>
          <a:bodyPr wrap="square" lIns="0" rIns="0" tIns="0" bIns="0" anchor="t">
            <a:spAutoFit/>
          </a:bodyPr>
          <a:lstStyle/>
          <a:p>
            <a:pPr algn="r"/>
            <a:r>
              <a:rPr sz="1400" b="1" i="0">
                <a:solidFill>
                  <a:srgbClr val="E2783A"/>
                </a:solidFill>
                <a:latin typeface="Open Sans"/>
              </a:rPr>
              <a:t>0.35 rad</a:t>
            </a:r>
          </a:p>
        </p:txBody>
      </p:sp>
      <p:sp>
        <p:nvSpPr>
          <p:cNvPr id="42" name="TextBox 41"/>
          <p:cNvSpPr txBox="1"/>
          <p:nvPr/>
        </p:nvSpPr>
        <p:spPr>
          <a:xfrm>
            <a:off x="8604504" y="3675887"/>
            <a:ext cx="2606039" cy="201168"/>
          </a:xfrm>
          <a:prstGeom prst="rect">
            <a:avLst/>
          </a:prstGeom>
          <a:noFill/>
        </p:spPr>
        <p:txBody>
          <a:bodyPr wrap="square" lIns="0" rIns="0" tIns="0" bIns="0" anchor="t">
            <a:spAutoFit/>
          </a:bodyPr>
          <a:lstStyle/>
          <a:p>
            <a:pPr algn="l"/>
            <a:r>
              <a:rPr sz="1100" b="0" i="0">
                <a:solidFill>
                  <a:srgbClr val="6B7280"/>
                </a:solidFill>
                <a:latin typeface="Open Sans"/>
              </a:rPr>
              <a:t>how far the leg swings = step length</a:t>
            </a:r>
          </a:p>
        </p:txBody>
      </p:sp>
      <p:sp>
        <p:nvSpPr>
          <p:cNvPr id="43" name="Rounded Rectangle 42"/>
          <p:cNvSpPr/>
          <p:nvPr/>
        </p:nvSpPr>
        <p:spPr>
          <a:xfrm>
            <a:off x="8458200" y="3995928"/>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4" name="TextBox 43"/>
          <p:cNvSpPr txBox="1"/>
          <p:nvPr/>
        </p:nvSpPr>
        <p:spPr>
          <a:xfrm>
            <a:off x="8604504" y="4050791"/>
            <a:ext cx="1828800" cy="256032"/>
          </a:xfrm>
          <a:prstGeom prst="rect">
            <a:avLst/>
          </a:prstGeom>
          <a:noFill/>
        </p:spPr>
        <p:txBody>
          <a:bodyPr wrap="square" lIns="0" rIns="0" tIns="0" bIns="0" anchor="t">
            <a:spAutoFit/>
          </a:bodyPr>
          <a:lstStyle/>
          <a:p>
            <a:pPr algn="l"/>
            <a:r>
              <a:rPr sz="1400" b="1" i="0">
                <a:solidFill>
                  <a:srgbClr val="343F4E"/>
                </a:solidFill>
                <a:latin typeface="Open Sans"/>
              </a:rPr>
              <a:t>knee_home</a:t>
            </a:r>
          </a:p>
        </p:txBody>
      </p:sp>
      <p:sp>
        <p:nvSpPr>
          <p:cNvPr id="45" name="TextBox 44"/>
          <p:cNvSpPr txBox="1"/>
          <p:nvPr/>
        </p:nvSpPr>
        <p:spPr>
          <a:xfrm>
            <a:off x="10058400" y="4050791"/>
            <a:ext cx="1133856" cy="256032"/>
          </a:xfrm>
          <a:prstGeom prst="rect">
            <a:avLst/>
          </a:prstGeom>
          <a:noFill/>
        </p:spPr>
        <p:txBody>
          <a:bodyPr wrap="square" lIns="0" rIns="0" tIns="0" bIns="0" anchor="t">
            <a:spAutoFit/>
          </a:bodyPr>
          <a:lstStyle/>
          <a:p>
            <a:pPr algn="r"/>
            <a:r>
              <a:rPr sz="1400" b="1" i="0">
                <a:solidFill>
                  <a:srgbClr val="E2783A"/>
                </a:solidFill>
                <a:latin typeface="Open Sans"/>
              </a:rPr>
              <a:t>−1.0 rad</a:t>
            </a:r>
          </a:p>
        </p:txBody>
      </p:sp>
      <p:sp>
        <p:nvSpPr>
          <p:cNvPr id="46" name="TextBox 45"/>
          <p:cNvSpPr txBox="1"/>
          <p:nvPr/>
        </p:nvSpPr>
        <p:spPr>
          <a:xfrm>
            <a:off x="8604504" y="4279392"/>
            <a:ext cx="2606039" cy="201168"/>
          </a:xfrm>
          <a:prstGeom prst="rect">
            <a:avLst/>
          </a:prstGeom>
          <a:noFill/>
        </p:spPr>
        <p:txBody>
          <a:bodyPr wrap="square" lIns="0" rIns="0" tIns="0" bIns="0" anchor="t">
            <a:spAutoFit/>
          </a:bodyPr>
          <a:lstStyle/>
          <a:p>
            <a:pPr algn="l"/>
            <a:r>
              <a:rPr sz="1100" b="0" i="0">
                <a:solidFill>
                  <a:srgbClr val="6B7280"/>
                </a:solidFill>
                <a:latin typeface="Open Sans"/>
              </a:rPr>
              <a:t>knee angle on the ground</a:t>
            </a:r>
          </a:p>
        </p:txBody>
      </p:sp>
      <p:sp>
        <p:nvSpPr>
          <p:cNvPr id="47" name="Rounded Rectangle 46"/>
          <p:cNvSpPr/>
          <p:nvPr/>
        </p:nvSpPr>
        <p:spPr>
          <a:xfrm>
            <a:off x="8458200" y="4599431"/>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8" name="TextBox 47"/>
          <p:cNvSpPr txBox="1"/>
          <p:nvPr/>
        </p:nvSpPr>
        <p:spPr>
          <a:xfrm>
            <a:off x="8604504" y="4654295"/>
            <a:ext cx="1828800" cy="256032"/>
          </a:xfrm>
          <a:prstGeom prst="rect">
            <a:avLst/>
          </a:prstGeom>
          <a:noFill/>
        </p:spPr>
        <p:txBody>
          <a:bodyPr wrap="square" lIns="0" rIns="0" tIns="0" bIns="0" anchor="t">
            <a:spAutoFit/>
          </a:bodyPr>
          <a:lstStyle/>
          <a:p>
            <a:pPr algn="l"/>
            <a:r>
              <a:rPr sz="1400" b="1" i="0">
                <a:solidFill>
                  <a:srgbClr val="343F4E"/>
                </a:solidFill>
                <a:latin typeface="Open Sans"/>
              </a:rPr>
              <a:t>knee_lift</a:t>
            </a:r>
          </a:p>
        </p:txBody>
      </p:sp>
      <p:sp>
        <p:nvSpPr>
          <p:cNvPr id="49" name="TextBox 48"/>
          <p:cNvSpPr txBox="1"/>
          <p:nvPr/>
        </p:nvSpPr>
        <p:spPr>
          <a:xfrm>
            <a:off x="10058400" y="4654295"/>
            <a:ext cx="1133856" cy="256032"/>
          </a:xfrm>
          <a:prstGeom prst="rect">
            <a:avLst/>
          </a:prstGeom>
          <a:noFill/>
        </p:spPr>
        <p:txBody>
          <a:bodyPr wrap="square" lIns="0" rIns="0" tIns="0" bIns="0" anchor="t">
            <a:spAutoFit/>
          </a:bodyPr>
          <a:lstStyle/>
          <a:p>
            <a:pPr algn="r"/>
            <a:r>
              <a:rPr sz="1400" b="1" i="0">
                <a:solidFill>
                  <a:srgbClr val="E2783A"/>
                </a:solidFill>
                <a:latin typeface="Open Sans"/>
              </a:rPr>
              <a:t>−1.3 rad</a:t>
            </a:r>
          </a:p>
        </p:txBody>
      </p:sp>
      <p:sp>
        <p:nvSpPr>
          <p:cNvPr id="50" name="TextBox 49"/>
          <p:cNvSpPr txBox="1"/>
          <p:nvPr/>
        </p:nvSpPr>
        <p:spPr>
          <a:xfrm>
            <a:off x="8604504" y="4882895"/>
            <a:ext cx="2606039" cy="201168"/>
          </a:xfrm>
          <a:prstGeom prst="rect">
            <a:avLst/>
          </a:prstGeom>
          <a:noFill/>
        </p:spPr>
        <p:txBody>
          <a:bodyPr wrap="square" lIns="0" rIns="0" tIns="0" bIns="0" anchor="t">
            <a:spAutoFit/>
          </a:bodyPr>
          <a:lstStyle/>
          <a:p>
            <a:pPr algn="l"/>
            <a:r>
              <a:rPr sz="1100" b="0" i="0">
                <a:solidFill>
                  <a:srgbClr val="6B7280"/>
                </a:solidFill>
                <a:latin typeface="Open Sans"/>
              </a:rPr>
              <a:t>knee angle in the air = step height</a:t>
            </a:r>
          </a:p>
        </p:txBody>
      </p:sp>
      <p:sp>
        <p:nvSpPr>
          <p:cNvPr id="51" name="Rounded Rectangle 50"/>
          <p:cNvSpPr/>
          <p:nvPr/>
        </p:nvSpPr>
        <p:spPr>
          <a:xfrm>
            <a:off x="8458200" y="5202936"/>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2" name="TextBox 51"/>
          <p:cNvSpPr txBox="1"/>
          <p:nvPr/>
        </p:nvSpPr>
        <p:spPr>
          <a:xfrm>
            <a:off x="8604504" y="5257799"/>
            <a:ext cx="1828800" cy="256032"/>
          </a:xfrm>
          <a:prstGeom prst="rect">
            <a:avLst/>
          </a:prstGeom>
          <a:noFill/>
        </p:spPr>
        <p:txBody>
          <a:bodyPr wrap="square" lIns="0" rIns="0" tIns="0" bIns="0" anchor="t">
            <a:spAutoFit/>
          </a:bodyPr>
          <a:lstStyle/>
          <a:p>
            <a:pPr algn="l"/>
            <a:r>
              <a:rPr sz="1400" b="1" i="0">
                <a:solidFill>
                  <a:srgbClr val="343F4E"/>
                </a:solidFill>
                <a:latin typeface="Open Sans"/>
              </a:rPr>
              <a:t>cycle_period</a:t>
            </a:r>
          </a:p>
        </p:txBody>
      </p:sp>
      <p:sp>
        <p:nvSpPr>
          <p:cNvPr id="53" name="TextBox 52"/>
          <p:cNvSpPr txBox="1"/>
          <p:nvPr/>
        </p:nvSpPr>
        <p:spPr>
          <a:xfrm>
            <a:off x="10058400" y="5257799"/>
            <a:ext cx="1133856" cy="256032"/>
          </a:xfrm>
          <a:prstGeom prst="rect">
            <a:avLst/>
          </a:prstGeom>
          <a:noFill/>
        </p:spPr>
        <p:txBody>
          <a:bodyPr wrap="square" lIns="0" rIns="0" tIns="0" bIns="0" anchor="t">
            <a:spAutoFit/>
          </a:bodyPr>
          <a:lstStyle/>
          <a:p>
            <a:pPr algn="r"/>
            <a:r>
              <a:rPr sz="1400" b="1" i="0">
                <a:solidFill>
                  <a:srgbClr val="E2783A"/>
                </a:solidFill>
                <a:latin typeface="Open Sans"/>
              </a:rPr>
              <a:t>1.4 s</a:t>
            </a:r>
          </a:p>
        </p:txBody>
      </p:sp>
      <p:sp>
        <p:nvSpPr>
          <p:cNvPr id="54" name="TextBox 53"/>
          <p:cNvSpPr txBox="1"/>
          <p:nvPr/>
        </p:nvSpPr>
        <p:spPr>
          <a:xfrm>
            <a:off x="8604504" y="5486399"/>
            <a:ext cx="2606039" cy="201168"/>
          </a:xfrm>
          <a:prstGeom prst="rect">
            <a:avLst/>
          </a:prstGeom>
          <a:noFill/>
        </p:spPr>
        <p:txBody>
          <a:bodyPr wrap="square" lIns="0" rIns="0" tIns="0" bIns="0" anchor="t">
            <a:spAutoFit/>
          </a:bodyPr>
          <a:lstStyle/>
          <a:p>
            <a:pPr algn="l"/>
            <a:r>
              <a:rPr sz="1100" b="0" i="0">
                <a:solidFill>
                  <a:srgbClr val="6B7280"/>
                </a:solidFill>
                <a:latin typeface="Open Sans"/>
              </a:rPr>
              <a:t>time for one loop = speed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502920"/>
            <a:ext cx="9875520" cy="731520"/>
          </a:xfrm>
          <a:prstGeom prst="rect">
            <a:avLst/>
          </a:prstGeom>
          <a:noFill/>
        </p:spPr>
        <p:txBody>
          <a:bodyPr wrap="square" lIns="0" rIns="0" tIns="0" bIns="0" anchor="t">
            <a:spAutoFit/>
          </a:bodyPr>
          <a:lstStyle/>
          <a:p>
            <a:pPr algn="l"/>
            <a:r>
              <a:rPr sz="3600" b="1" i="0">
                <a:solidFill>
                  <a:srgbClr val="111111"/>
                </a:solidFill>
                <a:latin typeface="Open Sans"/>
              </a:rPr>
              <a:t>Four legs in rhythm: walk and trot</a:t>
            </a:r>
          </a:p>
        </p:txBody>
      </p:sp>
      <p:sp>
        <p:nvSpPr>
          <p:cNvPr id="3" name="Subtitle"/>
          <p:cNvSpPr txBox="1"/>
          <p:nvPr/>
        </p:nvSpPr>
        <p:spPr>
          <a:xfrm>
            <a:off x="704088" y="1207008"/>
            <a:ext cx="9875520" cy="365760"/>
          </a:xfrm>
          <a:prstGeom prst="rect">
            <a:avLst/>
          </a:prstGeom>
          <a:noFill/>
        </p:spPr>
        <p:txBody>
          <a:bodyPr wrap="square" lIns="0" rIns="0" tIns="0" bIns="0" anchor="t">
            <a:spAutoFit/>
          </a:bodyPr>
          <a:lstStyle/>
          <a:p>
            <a:pPr algn="l"/>
            <a:r>
              <a:rPr sz="1600" b="0" i="0">
                <a:solidFill>
                  <a:srgbClr val="6B7280"/>
                </a:solidFill>
                <a:latin typeface="Open Sans"/>
              </a:rPr>
              <a:t>All four legs run the same loop, just shifted in time</a:t>
            </a:r>
          </a:p>
        </p:txBody>
      </p:sp>
      <p:sp>
        <p:nvSpPr>
          <p:cNvPr id="4" name="Logo"/>
          <p:cNvSpPr txBox="1"/>
          <p:nvPr/>
        </p:nvSpPr>
        <p:spPr>
          <a:xfrm>
            <a:off x="10058400" y="502920"/>
            <a:ext cx="1463040" cy="548640"/>
          </a:xfrm>
          <a:prstGeom prst="rect">
            <a:avLst/>
          </a:prstGeom>
          <a:noFill/>
        </p:spPr>
        <p:txBody>
          <a:bodyPr wrap="square" lIns="0" rIns="0" tIns="0" bIns="0" anchor="t">
            <a:spAutoFit/>
          </a:bodyPr>
          <a:lstStyle/>
          <a:p>
            <a:pPr algn="r"/>
            <a:r>
              <a:rPr sz="2800" b="1" i="0">
                <a:solidFill>
                  <a:srgbClr val="E2783A"/>
                </a:solidFill>
                <a:latin typeface="Open Sans"/>
              </a:rPr>
              <a:t>thws</a:t>
            </a:r>
          </a:p>
        </p:txBody>
      </p:sp>
      <p:sp>
        <p:nvSpPr>
          <p:cNvPr id="5" name="Oval 4"/>
          <p:cNvSpPr/>
          <p:nvPr/>
        </p:nvSpPr>
        <p:spPr>
          <a:xfrm>
            <a:off x="704088" y="6281928"/>
            <a:ext cx="237744" cy="237744"/>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Presenter"/>
          <p:cNvSpPr txBox="1"/>
          <p:nvPr/>
        </p:nvSpPr>
        <p:spPr>
          <a:xfrm>
            <a:off x="1051560" y="6272784"/>
            <a:ext cx="3657600" cy="274320"/>
          </a:xfrm>
          <a:prstGeom prst="rect">
            <a:avLst/>
          </a:prstGeom>
          <a:noFill/>
        </p:spPr>
        <p:txBody>
          <a:bodyPr wrap="square" lIns="0" rIns="0" tIns="0" bIns="0" anchor="t">
            <a:spAutoFit/>
          </a:bodyPr>
          <a:lstStyle/>
          <a:p>
            <a:pPr algn="l"/>
            <a:r>
              <a:rPr sz="1300" b="0" i="0">
                <a:solidFill>
                  <a:srgbClr val="6B7280"/>
                </a:solidFill>
                <a:latin typeface="Open Sans"/>
              </a:rPr>
              <a:t>Your Name</a:t>
            </a:r>
          </a:p>
        </p:txBody>
      </p:sp>
      <p:sp>
        <p:nvSpPr>
          <p:cNvPr id="7" name="Rhythm card"/>
          <p:cNvSpPr/>
          <p:nvPr/>
        </p:nvSpPr>
        <p:spPr>
          <a:xfrm>
            <a:off x="685800" y="1828800"/>
            <a:ext cx="7315200" cy="4343400"/>
          </a:xfrm>
          <a:prstGeom prst="roundRect">
            <a:avLst>
              <a:gd name="adj" fmla="val 2526"/>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Oval 7"/>
          <p:cNvSpPr/>
          <p:nvPr/>
        </p:nvSpPr>
        <p:spPr>
          <a:xfrm>
            <a:off x="87782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2</a:t>
            </a:r>
          </a:p>
        </p:txBody>
      </p:sp>
      <p:sp>
        <p:nvSpPr>
          <p:cNvPr id="9" name="TextBox 8"/>
          <p:cNvSpPr txBox="1"/>
          <p:nvPr/>
        </p:nvSpPr>
        <p:spPr>
          <a:xfrm>
            <a:off x="1463040" y="2075688"/>
            <a:ext cx="5943600" cy="365760"/>
          </a:xfrm>
          <a:prstGeom prst="rect">
            <a:avLst/>
          </a:prstGeom>
          <a:noFill/>
        </p:spPr>
        <p:txBody>
          <a:bodyPr wrap="square" lIns="0" rIns="0" tIns="0" bIns="0" anchor="t">
            <a:spAutoFit/>
          </a:bodyPr>
          <a:lstStyle/>
          <a:p>
            <a:pPr algn="l"/>
            <a:r>
              <a:rPr sz="2000" b="1" i="0">
                <a:solidFill>
                  <a:srgbClr val="111111"/>
                </a:solidFill>
                <a:latin typeface="Open Sans"/>
              </a:rPr>
              <a:t>When is each foot in the air?</a:t>
            </a:r>
          </a:p>
        </p:txBody>
      </p:sp>
      <p:sp>
        <p:nvSpPr>
          <p:cNvPr id="10" name="Rounded Rectangle 9"/>
          <p:cNvSpPr/>
          <p:nvPr/>
        </p:nvSpPr>
        <p:spPr>
          <a:xfrm>
            <a:off x="5074920" y="2157984"/>
            <a:ext cx="274320" cy="155448"/>
          </a:xfrm>
          <a:prstGeom prst="roundRect">
            <a:avLst>
              <a:gd name="adj" fmla="val 17647"/>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1" name="TextBox 10"/>
          <p:cNvSpPr txBox="1"/>
          <p:nvPr/>
        </p:nvSpPr>
        <p:spPr>
          <a:xfrm>
            <a:off x="5440680" y="2112264"/>
            <a:ext cx="2377440" cy="274320"/>
          </a:xfrm>
          <a:prstGeom prst="rect">
            <a:avLst/>
          </a:prstGeom>
          <a:noFill/>
        </p:spPr>
        <p:txBody>
          <a:bodyPr wrap="square" lIns="0" rIns="0" tIns="0" bIns="0" anchor="t">
            <a:spAutoFit/>
          </a:bodyPr>
          <a:lstStyle/>
          <a:p>
            <a:pPr algn="l"/>
            <a:r>
              <a:rPr sz="1200" b="0" i="0">
                <a:solidFill>
                  <a:srgbClr val="6B7280"/>
                </a:solidFill>
                <a:latin typeface="Open Sans"/>
              </a:rPr>
              <a:t>foot in the air (swing)</a:t>
            </a:r>
          </a:p>
        </p:txBody>
      </p:sp>
      <p:sp>
        <p:nvSpPr>
          <p:cNvPr id="12" name="TextBox 11"/>
          <p:cNvSpPr txBox="1"/>
          <p:nvPr/>
        </p:nvSpPr>
        <p:spPr>
          <a:xfrm>
            <a:off x="1051560" y="2743200"/>
            <a:ext cx="1188720" cy="365760"/>
          </a:xfrm>
          <a:prstGeom prst="rect">
            <a:avLst/>
          </a:prstGeom>
          <a:noFill/>
        </p:spPr>
        <p:txBody>
          <a:bodyPr wrap="square" lIns="0" rIns="0" tIns="0" bIns="0" anchor="t">
            <a:spAutoFit/>
          </a:bodyPr>
          <a:lstStyle/>
          <a:p>
            <a:pPr algn="l"/>
            <a:r>
              <a:rPr sz="2000" b="1" i="0">
                <a:solidFill>
                  <a:srgbClr val="111111"/>
                </a:solidFill>
                <a:latin typeface="Open Sans"/>
              </a:rPr>
              <a:t>Walk</a:t>
            </a:r>
          </a:p>
        </p:txBody>
      </p:sp>
      <p:sp>
        <p:nvSpPr>
          <p:cNvPr id="13" name="TextBox 12"/>
          <p:cNvSpPr txBox="1"/>
          <p:nvPr/>
        </p:nvSpPr>
        <p:spPr>
          <a:xfrm>
            <a:off x="1051560" y="3136391"/>
            <a:ext cx="1188720" cy="548640"/>
          </a:xfrm>
          <a:prstGeom prst="rect">
            <a:avLst/>
          </a:prstGeom>
          <a:noFill/>
        </p:spPr>
        <p:txBody>
          <a:bodyPr wrap="square" lIns="0" rIns="0" tIns="0" bIns="0" anchor="t">
            <a:spAutoFit/>
          </a:bodyPr>
          <a:lstStyle/>
          <a:p>
            <a:pPr algn="l"/>
            <a:r>
              <a:rPr sz="1100" b="0" i="0">
                <a:solidFill>
                  <a:srgbClr val="6B7280"/>
                </a:solidFill>
                <a:latin typeface="Open Sans"/>
              </a:rPr>
              <a:t>one leg at a time</a:t>
            </a:r>
          </a:p>
          <a:p>
            <a:pPr algn="l"/>
            <a:r>
              <a:rPr sz="1100" b="0" i="0">
                <a:solidFill>
                  <a:srgbClr val="6B7280"/>
                </a:solidFill>
                <a:latin typeface="Open Sans"/>
              </a:rPr>
              <a:t>slow · very stable</a:t>
            </a:r>
          </a:p>
        </p:txBody>
      </p:sp>
      <p:sp>
        <p:nvSpPr>
          <p:cNvPr id="14" name="TextBox 13"/>
          <p:cNvSpPr txBox="1"/>
          <p:nvPr/>
        </p:nvSpPr>
        <p:spPr>
          <a:xfrm>
            <a:off x="2194560" y="2807208"/>
            <a:ext cx="777240" cy="201168"/>
          </a:xfrm>
          <a:prstGeom prst="rect">
            <a:avLst/>
          </a:prstGeom>
          <a:noFill/>
        </p:spPr>
        <p:txBody>
          <a:bodyPr wrap="square" lIns="0" rIns="0" tIns="0" bIns="0" anchor="t">
            <a:spAutoFit/>
          </a:bodyPr>
          <a:lstStyle/>
          <a:p>
            <a:pPr algn="r"/>
            <a:r>
              <a:rPr sz="1000" b="0" i="0">
                <a:solidFill>
                  <a:srgbClr val="6B7280"/>
                </a:solidFill>
                <a:latin typeface="Open Sans"/>
              </a:rPr>
              <a:t>Front right</a:t>
            </a:r>
          </a:p>
        </p:txBody>
      </p:sp>
      <p:sp>
        <p:nvSpPr>
          <p:cNvPr id="15" name="Rounded Rectangle 14"/>
          <p:cNvSpPr/>
          <p:nvPr/>
        </p:nvSpPr>
        <p:spPr>
          <a:xfrm>
            <a:off x="3063240" y="2816351"/>
            <a:ext cx="4572000" cy="1828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6" name="Rounded Rectangle 15"/>
          <p:cNvSpPr/>
          <p:nvPr/>
        </p:nvSpPr>
        <p:spPr>
          <a:xfrm>
            <a:off x="6492240" y="2816351"/>
            <a:ext cx="1143000" cy="182880"/>
          </a:xfrm>
          <a:prstGeom prst="roundRect">
            <a:avLst>
              <a:gd name="adj" fmla="val 20000"/>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7" name="Rounded Rectangle 16"/>
          <p:cNvSpPr/>
          <p:nvPr/>
        </p:nvSpPr>
        <p:spPr>
          <a:xfrm>
            <a:off x="3063240" y="2816351"/>
            <a:ext cx="365760" cy="182880"/>
          </a:xfrm>
          <a:prstGeom prst="roundRect">
            <a:avLst>
              <a:gd name="adj" fmla="val 20000"/>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8" name="TextBox 17"/>
          <p:cNvSpPr txBox="1"/>
          <p:nvPr/>
        </p:nvSpPr>
        <p:spPr>
          <a:xfrm>
            <a:off x="2194560" y="3099815"/>
            <a:ext cx="777240" cy="201168"/>
          </a:xfrm>
          <a:prstGeom prst="rect">
            <a:avLst/>
          </a:prstGeom>
          <a:noFill/>
        </p:spPr>
        <p:txBody>
          <a:bodyPr wrap="square" lIns="0" rIns="0" tIns="0" bIns="0" anchor="t">
            <a:spAutoFit/>
          </a:bodyPr>
          <a:lstStyle/>
          <a:p>
            <a:pPr algn="r"/>
            <a:r>
              <a:rPr sz="1000" b="0" i="0">
                <a:solidFill>
                  <a:srgbClr val="6B7280"/>
                </a:solidFill>
                <a:latin typeface="Open Sans"/>
              </a:rPr>
              <a:t>Front left</a:t>
            </a:r>
          </a:p>
        </p:txBody>
      </p:sp>
      <p:sp>
        <p:nvSpPr>
          <p:cNvPr id="19" name="Rounded Rectangle 18"/>
          <p:cNvSpPr/>
          <p:nvPr/>
        </p:nvSpPr>
        <p:spPr>
          <a:xfrm>
            <a:off x="3063240" y="3108959"/>
            <a:ext cx="4572000" cy="1828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0" name="Rounded Rectangle 19"/>
          <p:cNvSpPr/>
          <p:nvPr/>
        </p:nvSpPr>
        <p:spPr>
          <a:xfrm>
            <a:off x="4206240" y="3108959"/>
            <a:ext cx="1508760" cy="182880"/>
          </a:xfrm>
          <a:prstGeom prst="roundRect">
            <a:avLst>
              <a:gd name="adj" fmla="val 20000"/>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1" name="TextBox 20"/>
          <p:cNvSpPr txBox="1"/>
          <p:nvPr/>
        </p:nvSpPr>
        <p:spPr>
          <a:xfrm>
            <a:off x="2194560" y="3392424"/>
            <a:ext cx="777240" cy="201168"/>
          </a:xfrm>
          <a:prstGeom prst="rect">
            <a:avLst/>
          </a:prstGeom>
          <a:noFill/>
        </p:spPr>
        <p:txBody>
          <a:bodyPr wrap="square" lIns="0" rIns="0" tIns="0" bIns="0" anchor="t">
            <a:spAutoFit/>
          </a:bodyPr>
          <a:lstStyle/>
          <a:p>
            <a:pPr algn="r"/>
            <a:r>
              <a:rPr sz="1000" b="0" i="0">
                <a:solidFill>
                  <a:srgbClr val="6B7280"/>
                </a:solidFill>
                <a:latin typeface="Open Sans"/>
              </a:rPr>
              <a:t>Rear right</a:t>
            </a:r>
          </a:p>
        </p:txBody>
      </p:sp>
      <p:sp>
        <p:nvSpPr>
          <p:cNvPr id="22" name="Rounded Rectangle 21"/>
          <p:cNvSpPr/>
          <p:nvPr/>
        </p:nvSpPr>
        <p:spPr>
          <a:xfrm>
            <a:off x="3063240" y="3401568"/>
            <a:ext cx="4572000" cy="1828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3" name="Rounded Rectangle 22"/>
          <p:cNvSpPr/>
          <p:nvPr/>
        </p:nvSpPr>
        <p:spPr>
          <a:xfrm>
            <a:off x="5349240" y="3401568"/>
            <a:ext cx="1508760" cy="182880"/>
          </a:xfrm>
          <a:prstGeom prst="roundRect">
            <a:avLst>
              <a:gd name="adj" fmla="val 20000"/>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4" name="TextBox 23"/>
          <p:cNvSpPr txBox="1"/>
          <p:nvPr/>
        </p:nvSpPr>
        <p:spPr>
          <a:xfrm>
            <a:off x="2194560" y="3685031"/>
            <a:ext cx="777240" cy="201168"/>
          </a:xfrm>
          <a:prstGeom prst="rect">
            <a:avLst/>
          </a:prstGeom>
          <a:noFill/>
        </p:spPr>
        <p:txBody>
          <a:bodyPr wrap="square" lIns="0" rIns="0" tIns="0" bIns="0" anchor="t">
            <a:spAutoFit/>
          </a:bodyPr>
          <a:lstStyle/>
          <a:p>
            <a:pPr algn="r"/>
            <a:r>
              <a:rPr sz="1000" b="0" i="0">
                <a:solidFill>
                  <a:srgbClr val="6B7280"/>
                </a:solidFill>
                <a:latin typeface="Open Sans"/>
              </a:rPr>
              <a:t>Rear left</a:t>
            </a:r>
          </a:p>
        </p:txBody>
      </p:sp>
      <p:sp>
        <p:nvSpPr>
          <p:cNvPr id="25" name="Rounded Rectangle 24"/>
          <p:cNvSpPr/>
          <p:nvPr/>
        </p:nvSpPr>
        <p:spPr>
          <a:xfrm>
            <a:off x="3063240" y="3694176"/>
            <a:ext cx="4572000" cy="1828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6" name="Rounded Rectangle 25"/>
          <p:cNvSpPr/>
          <p:nvPr/>
        </p:nvSpPr>
        <p:spPr>
          <a:xfrm>
            <a:off x="3063240" y="3694176"/>
            <a:ext cx="1508760" cy="182880"/>
          </a:xfrm>
          <a:prstGeom prst="roundRect">
            <a:avLst>
              <a:gd name="adj" fmla="val 20000"/>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7" name="TextBox 26"/>
          <p:cNvSpPr txBox="1"/>
          <p:nvPr/>
        </p:nvSpPr>
        <p:spPr>
          <a:xfrm>
            <a:off x="1051560" y="4343400"/>
            <a:ext cx="1188720" cy="365760"/>
          </a:xfrm>
          <a:prstGeom prst="rect">
            <a:avLst/>
          </a:prstGeom>
          <a:noFill/>
        </p:spPr>
        <p:txBody>
          <a:bodyPr wrap="square" lIns="0" rIns="0" tIns="0" bIns="0" anchor="t">
            <a:spAutoFit/>
          </a:bodyPr>
          <a:lstStyle/>
          <a:p>
            <a:pPr algn="l"/>
            <a:r>
              <a:rPr sz="2000" b="1" i="0">
                <a:solidFill>
                  <a:srgbClr val="111111"/>
                </a:solidFill>
                <a:latin typeface="Open Sans"/>
              </a:rPr>
              <a:t>Trot</a:t>
            </a:r>
          </a:p>
        </p:txBody>
      </p:sp>
      <p:sp>
        <p:nvSpPr>
          <p:cNvPr id="28" name="TextBox 27"/>
          <p:cNvSpPr txBox="1"/>
          <p:nvPr/>
        </p:nvSpPr>
        <p:spPr>
          <a:xfrm>
            <a:off x="1051560" y="4736592"/>
            <a:ext cx="1188720" cy="548640"/>
          </a:xfrm>
          <a:prstGeom prst="rect">
            <a:avLst/>
          </a:prstGeom>
          <a:noFill/>
        </p:spPr>
        <p:txBody>
          <a:bodyPr wrap="square" lIns="0" rIns="0" tIns="0" bIns="0" anchor="t">
            <a:spAutoFit/>
          </a:bodyPr>
          <a:lstStyle/>
          <a:p>
            <a:pPr algn="l"/>
            <a:r>
              <a:rPr sz="1100" b="0" i="0">
                <a:solidFill>
                  <a:srgbClr val="6B7280"/>
                </a:solidFill>
                <a:latin typeface="Open Sans"/>
              </a:rPr>
              <a:t>diagonal pairs together</a:t>
            </a:r>
          </a:p>
          <a:p>
            <a:pPr algn="l"/>
            <a:r>
              <a:rPr sz="1100" b="0" i="0">
                <a:solidFill>
                  <a:srgbClr val="6B7280"/>
                </a:solidFill>
                <a:latin typeface="Open Sans"/>
              </a:rPr>
              <a:t>faster</a:t>
            </a:r>
          </a:p>
        </p:txBody>
      </p:sp>
      <p:sp>
        <p:nvSpPr>
          <p:cNvPr id="29" name="TextBox 28"/>
          <p:cNvSpPr txBox="1"/>
          <p:nvPr/>
        </p:nvSpPr>
        <p:spPr>
          <a:xfrm>
            <a:off x="2194560" y="4407407"/>
            <a:ext cx="777240" cy="201168"/>
          </a:xfrm>
          <a:prstGeom prst="rect">
            <a:avLst/>
          </a:prstGeom>
          <a:noFill/>
        </p:spPr>
        <p:txBody>
          <a:bodyPr wrap="square" lIns="0" rIns="0" tIns="0" bIns="0" anchor="t">
            <a:spAutoFit/>
          </a:bodyPr>
          <a:lstStyle/>
          <a:p>
            <a:pPr algn="r"/>
            <a:r>
              <a:rPr sz="1000" b="0" i="0">
                <a:solidFill>
                  <a:srgbClr val="6B7280"/>
                </a:solidFill>
                <a:latin typeface="Open Sans"/>
              </a:rPr>
              <a:t>Front right</a:t>
            </a:r>
          </a:p>
        </p:txBody>
      </p:sp>
      <p:sp>
        <p:nvSpPr>
          <p:cNvPr id="30" name="Rounded Rectangle 29"/>
          <p:cNvSpPr/>
          <p:nvPr/>
        </p:nvSpPr>
        <p:spPr>
          <a:xfrm>
            <a:off x="3063240" y="4416552"/>
            <a:ext cx="4572000" cy="1828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1" name="Rounded Rectangle 30"/>
          <p:cNvSpPr/>
          <p:nvPr/>
        </p:nvSpPr>
        <p:spPr>
          <a:xfrm>
            <a:off x="3063240" y="4416552"/>
            <a:ext cx="2057400" cy="182880"/>
          </a:xfrm>
          <a:prstGeom prst="roundRect">
            <a:avLst>
              <a:gd name="adj" fmla="val 20000"/>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2" name="TextBox 31"/>
          <p:cNvSpPr txBox="1"/>
          <p:nvPr/>
        </p:nvSpPr>
        <p:spPr>
          <a:xfrm>
            <a:off x="2194560" y="4700016"/>
            <a:ext cx="777240" cy="201168"/>
          </a:xfrm>
          <a:prstGeom prst="rect">
            <a:avLst/>
          </a:prstGeom>
          <a:noFill/>
        </p:spPr>
        <p:txBody>
          <a:bodyPr wrap="square" lIns="0" rIns="0" tIns="0" bIns="0" anchor="t">
            <a:spAutoFit/>
          </a:bodyPr>
          <a:lstStyle/>
          <a:p>
            <a:pPr algn="r"/>
            <a:r>
              <a:rPr sz="1000" b="0" i="0">
                <a:solidFill>
                  <a:srgbClr val="6B7280"/>
                </a:solidFill>
                <a:latin typeface="Open Sans"/>
              </a:rPr>
              <a:t>Front left</a:t>
            </a:r>
          </a:p>
        </p:txBody>
      </p:sp>
      <p:sp>
        <p:nvSpPr>
          <p:cNvPr id="33" name="Rounded Rectangle 32"/>
          <p:cNvSpPr/>
          <p:nvPr/>
        </p:nvSpPr>
        <p:spPr>
          <a:xfrm>
            <a:off x="3063240" y="4709160"/>
            <a:ext cx="4572000" cy="1828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4" name="Rounded Rectangle 33"/>
          <p:cNvSpPr/>
          <p:nvPr/>
        </p:nvSpPr>
        <p:spPr>
          <a:xfrm>
            <a:off x="5349240" y="4709160"/>
            <a:ext cx="2057400" cy="182880"/>
          </a:xfrm>
          <a:prstGeom prst="roundRect">
            <a:avLst>
              <a:gd name="adj" fmla="val 20000"/>
            </a:avLst>
          </a:prstGeom>
          <a:solidFill>
            <a:srgbClr val="343F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5" name="TextBox 34"/>
          <p:cNvSpPr txBox="1"/>
          <p:nvPr/>
        </p:nvSpPr>
        <p:spPr>
          <a:xfrm>
            <a:off x="2194560" y="4992623"/>
            <a:ext cx="777240" cy="201168"/>
          </a:xfrm>
          <a:prstGeom prst="rect">
            <a:avLst/>
          </a:prstGeom>
          <a:noFill/>
        </p:spPr>
        <p:txBody>
          <a:bodyPr wrap="square" lIns="0" rIns="0" tIns="0" bIns="0" anchor="t">
            <a:spAutoFit/>
          </a:bodyPr>
          <a:lstStyle/>
          <a:p>
            <a:pPr algn="r"/>
            <a:r>
              <a:rPr sz="1000" b="0" i="0">
                <a:solidFill>
                  <a:srgbClr val="6B7280"/>
                </a:solidFill>
                <a:latin typeface="Open Sans"/>
              </a:rPr>
              <a:t>Rear right</a:t>
            </a:r>
          </a:p>
        </p:txBody>
      </p:sp>
      <p:sp>
        <p:nvSpPr>
          <p:cNvPr id="36" name="Rounded Rectangle 35"/>
          <p:cNvSpPr/>
          <p:nvPr/>
        </p:nvSpPr>
        <p:spPr>
          <a:xfrm>
            <a:off x="3063240" y="5001768"/>
            <a:ext cx="4572000" cy="1828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7" name="Rounded Rectangle 36"/>
          <p:cNvSpPr/>
          <p:nvPr/>
        </p:nvSpPr>
        <p:spPr>
          <a:xfrm>
            <a:off x="5349240" y="5001768"/>
            <a:ext cx="2057400" cy="182880"/>
          </a:xfrm>
          <a:prstGeom prst="roundRect">
            <a:avLst>
              <a:gd name="adj" fmla="val 20000"/>
            </a:avLst>
          </a:prstGeom>
          <a:solidFill>
            <a:srgbClr val="343F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8" name="TextBox 37"/>
          <p:cNvSpPr txBox="1"/>
          <p:nvPr/>
        </p:nvSpPr>
        <p:spPr>
          <a:xfrm>
            <a:off x="2194560" y="5285231"/>
            <a:ext cx="777240" cy="201168"/>
          </a:xfrm>
          <a:prstGeom prst="rect">
            <a:avLst/>
          </a:prstGeom>
          <a:noFill/>
        </p:spPr>
        <p:txBody>
          <a:bodyPr wrap="square" lIns="0" rIns="0" tIns="0" bIns="0" anchor="t">
            <a:spAutoFit/>
          </a:bodyPr>
          <a:lstStyle/>
          <a:p>
            <a:pPr algn="r"/>
            <a:r>
              <a:rPr sz="1000" b="0" i="0">
                <a:solidFill>
                  <a:srgbClr val="6B7280"/>
                </a:solidFill>
                <a:latin typeface="Open Sans"/>
              </a:rPr>
              <a:t>Rear left</a:t>
            </a:r>
          </a:p>
        </p:txBody>
      </p:sp>
      <p:sp>
        <p:nvSpPr>
          <p:cNvPr id="39" name="Rounded Rectangle 38"/>
          <p:cNvSpPr/>
          <p:nvPr/>
        </p:nvSpPr>
        <p:spPr>
          <a:xfrm>
            <a:off x="3063240" y="5294376"/>
            <a:ext cx="4572000" cy="1828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0" name="Rounded Rectangle 39"/>
          <p:cNvSpPr/>
          <p:nvPr/>
        </p:nvSpPr>
        <p:spPr>
          <a:xfrm>
            <a:off x="3063240" y="5294376"/>
            <a:ext cx="2057400" cy="182880"/>
          </a:xfrm>
          <a:prstGeom prst="roundRect">
            <a:avLst>
              <a:gd name="adj" fmla="val 20000"/>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1" name="TextBox 40"/>
          <p:cNvSpPr txBox="1"/>
          <p:nvPr/>
        </p:nvSpPr>
        <p:spPr>
          <a:xfrm>
            <a:off x="3063240" y="5806440"/>
            <a:ext cx="457200" cy="228600"/>
          </a:xfrm>
          <a:prstGeom prst="rect">
            <a:avLst/>
          </a:prstGeom>
          <a:noFill/>
        </p:spPr>
        <p:txBody>
          <a:bodyPr wrap="square" lIns="0" rIns="0" tIns="0" bIns="0" anchor="t">
            <a:spAutoFit/>
          </a:bodyPr>
          <a:lstStyle/>
          <a:p>
            <a:pPr algn="l"/>
            <a:r>
              <a:rPr sz="1000" b="0" i="0">
                <a:solidFill>
                  <a:srgbClr val="6B7280"/>
                </a:solidFill>
                <a:latin typeface="Open Sans"/>
              </a:rPr>
              <a:t>0 s</a:t>
            </a:r>
          </a:p>
        </p:txBody>
      </p:sp>
      <p:sp>
        <p:nvSpPr>
          <p:cNvPr id="42" name="TextBox 41"/>
          <p:cNvSpPr txBox="1"/>
          <p:nvPr/>
        </p:nvSpPr>
        <p:spPr>
          <a:xfrm>
            <a:off x="5806440" y="5806440"/>
            <a:ext cx="1828800" cy="228600"/>
          </a:xfrm>
          <a:prstGeom prst="rect">
            <a:avLst/>
          </a:prstGeom>
          <a:noFill/>
        </p:spPr>
        <p:txBody>
          <a:bodyPr wrap="square" lIns="0" rIns="0" tIns="0" bIns="0" anchor="t">
            <a:spAutoFit/>
          </a:bodyPr>
          <a:lstStyle/>
          <a:p>
            <a:pPr algn="r"/>
            <a:r>
              <a:rPr sz="1000" b="0" i="0">
                <a:solidFill>
                  <a:srgbClr val="6B7280"/>
                </a:solidFill>
                <a:latin typeface="Open Sans"/>
              </a:rPr>
              <a:t>one cycle = 1.4 s</a:t>
            </a:r>
          </a:p>
        </p:txBody>
      </p:sp>
      <p:sp>
        <p:nvSpPr>
          <p:cNvPr id="43" name="TextBox 42"/>
          <p:cNvSpPr txBox="1"/>
          <p:nvPr/>
        </p:nvSpPr>
        <p:spPr>
          <a:xfrm>
            <a:off x="3063240" y="4224528"/>
            <a:ext cx="4572000" cy="228600"/>
          </a:xfrm>
          <a:prstGeom prst="rect">
            <a:avLst/>
          </a:prstGeom>
          <a:noFill/>
        </p:spPr>
        <p:txBody>
          <a:bodyPr wrap="square" lIns="0" rIns="0" tIns="0" bIns="0" anchor="t">
            <a:spAutoFit/>
          </a:bodyPr>
          <a:lstStyle/>
          <a:p>
            <a:pPr algn="ctr"/>
            <a:r>
              <a:rPr sz="1000" b="0" i="1">
                <a:solidFill>
                  <a:srgbClr val="343F4E"/>
                </a:solidFill>
                <a:latin typeface="Open Sans"/>
              </a:rPr>
              <a:t>front-right + rear-left  ↔  front-left + rear-right</a:t>
            </a:r>
          </a:p>
        </p:txBody>
      </p:sp>
      <p:sp>
        <p:nvSpPr>
          <p:cNvPr id="44" name="Parameter panel"/>
          <p:cNvSpPr/>
          <p:nvPr/>
        </p:nvSpPr>
        <p:spPr>
          <a:xfrm>
            <a:off x="8275320" y="1828800"/>
            <a:ext cx="3246120" cy="4343400"/>
          </a:xfrm>
          <a:prstGeom prst="roundRect">
            <a:avLst>
              <a:gd name="adj" fmla="val 5070"/>
            </a:avLst>
          </a:prstGeom>
          <a:solidFill>
            <a:srgbClr val="FBEDE3"/>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5" name="TextBox 44"/>
          <p:cNvSpPr txBox="1"/>
          <p:nvPr/>
        </p:nvSpPr>
        <p:spPr>
          <a:xfrm>
            <a:off x="8531352" y="2057400"/>
            <a:ext cx="2788920" cy="365760"/>
          </a:xfrm>
          <a:prstGeom prst="rect">
            <a:avLst/>
          </a:prstGeom>
          <a:noFill/>
        </p:spPr>
        <p:txBody>
          <a:bodyPr wrap="square" lIns="0" rIns="0" tIns="0" bIns="0" anchor="t">
            <a:spAutoFit/>
          </a:bodyPr>
          <a:lstStyle/>
          <a:p>
            <a:pPr algn="l"/>
            <a:r>
              <a:rPr sz="1800" b="1" i="0">
                <a:solidFill>
                  <a:srgbClr val="111111"/>
                </a:solidFill>
                <a:latin typeface="Open Sans"/>
              </a:rPr>
              <a:t>Parameters for timing</a:t>
            </a:r>
          </a:p>
        </p:txBody>
      </p:sp>
      <p:sp>
        <p:nvSpPr>
          <p:cNvPr id="46" name="TextBox 45"/>
          <p:cNvSpPr txBox="1"/>
          <p:nvPr/>
        </p:nvSpPr>
        <p:spPr>
          <a:xfrm>
            <a:off x="8531352" y="2395728"/>
            <a:ext cx="2788920" cy="274320"/>
          </a:xfrm>
          <a:prstGeom prst="rect">
            <a:avLst/>
          </a:prstGeom>
          <a:noFill/>
        </p:spPr>
        <p:txBody>
          <a:bodyPr wrap="square" lIns="0" rIns="0" tIns="0" bIns="0" anchor="t">
            <a:spAutoFit/>
          </a:bodyPr>
          <a:lstStyle/>
          <a:p>
            <a:pPr algn="l"/>
            <a:r>
              <a:rPr sz="1200" b="0" i="0">
                <a:solidFill>
                  <a:srgbClr val="6B7280"/>
                </a:solidFill>
                <a:latin typeface="Open Sans"/>
              </a:rPr>
              <a:t>only cycle_period is tuned later</a:t>
            </a:r>
          </a:p>
        </p:txBody>
      </p:sp>
      <p:sp>
        <p:nvSpPr>
          <p:cNvPr id="47" name="Rounded Rectangle 46"/>
          <p:cNvSpPr/>
          <p:nvPr/>
        </p:nvSpPr>
        <p:spPr>
          <a:xfrm>
            <a:off x="8458200" y="2788920"/>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8" name="TextBox 47"/>
          <p:cNvSpPr txBox="1"/>
          <p:nvPr/>
        </p:nvSpPr>
        <p:spPr>
          <a:xfrm>
            <a:off x="8604504" y="2843784"/>
            <a:ext cx="1828800" cy="256032"/>
          </a:xfrm>
          <a:prstGeom prst="rect">
            <a:avLst/>
          </a:prstGeom>
          <a:noFill/>
        </p:spPr>
        <p:txBody>
          <a:bodyPr wrap="square" lIns="0" rIns="0" tIns="0" bIns="0" anchor="t">
            <a:spAutoFit/>
          </a:bodyPr>
          <a:lstStyle/>
          <a:p>
            <a:pPr algn="l"/>
            <a:r>
              <a:rPr sz="1400" b="1" i="0">
                <a:solidFill>
                  <a:srgbClr val="343F4E"/>
                </a:solidFill>
                <a:latin typeface="Open Sans"/>
              </a:rPr>
              <a:t>cycle_period</a:t>
            </a:r>
          </a:p>
        </p:txBody>
      </p:sp>
      <p:sp>
        <p:nvSpPr>
          <p:cNvPr id="49" name="TextBox 48"/>
          <p:cNvSpPr txBox="1"/>
          <p:nvPr/>
        </p:nvSpPr>
        <p:spPr>
          <a:xfrm>
            <a:off x="10058400" y="2843784"/>
            <a:ext cx="1133856" cy="256032"/>
          </a:xfrm>
          <a:prstGeom prst="rect">
            <a:avLst/>
          </a:prstGeom>
          <a:noFill/>
        </p:spPr>
        <p:txBody>
          <a:bodyPr wrap="square" lIns="0" rIns="0" tIns="0" bIns="0" anchor="t">
            <a:spAutoFit/>
          </a:bodyPr>
          <a:lstStyle/>
          <a:p>
            <a:pPr algn="r"/>
            <a:r>
              <a:rPr sz="1400" b="1" i="0">
                <a:solidFill>
                  <a:srgbClr val="E2783A"/>
                </a:solidFill>
                <a:latin typeface="Open Sans"/>
              </a:rPr>
              <a:t>1.4 s</a:t>
            </a:r>
          </a:p>
        </p:txBody>
      </p:sp>
      <p:sp>
        <p:nvSpPr>
          <p:cNvPr id="50" name="TextBox 49"/>
          <p:cNvSpPr txBox="1"/>
          <p:nvPr/>
        </p:nvSpPr>
        <p:spPr>
          <a:xfrm>
            <a:off x="8604504" y="3072384"/>
            <a:ext cx="2606039" cy="201168"/>
          </a:xfrm>
          <a:prstGeom prst="rect">
            <a:avLst/>
          </a:prstGeom>
          <a:noFill/>
        </p:spPr>
        <p:txBody>
          <a:bodyPr wrap="square" lIns="0" rIns="0" tIns="0" bIns="0" anchor="t">
            <a:spAutoFit/>
          </a:bodyPr>
          <a:lstStyle/>
          <a:p>
            <a:pPr algn="l"/>
            <a:r>
              <a:rPr sz="1100" b="0" i="0">
                <a:solidFill>
                  <a:srgbClr val="6B7280"/>
                </a:solidFill>
                <a:latin typeface="Open Sans"/>
              </a:rPr>
              <a:t>time for one loop → smaller = faster</a:t>
            </a:r>
          </a:p>
        </p:txBody>
      </p:sp>
      <p:sp>
        <p:nvSpPr>
          <p:cNvPr id="51" name="Rounded Rectangle 50"/>
          <p:cNvSpPr/>
          <p:nvPr/>
        </p:nvSpPr>
        <p:spPr>
          <a:xfrm>
            <a:off x="8458200" y="3392424"/>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2" name="TextBox 51"/>
          <p:cNvSpPr txBox="1"/>
          <p:nvPr/>
        </p:nvSpPr>
        <p:spPr>
          <a:xfrm>
            <a:off x="8604504" y="3447288"/>
            <a:ext cx="1828800" cy="256032"/>
          </a:xfrm>
          <a:prstGeom prst="rect">
            <a:avLst/>
          </a:prstGeom>
          <a:noFill/>
        </p:spPr>
        <p:txBody>
          <a:bodyPr wrap="square" lIns="0" rIns="0" tIns="0" bIns="0" anchor="t">
            <a:spAutoFit/>
          </a:bodyPr>
          <a:lstStyle/>
          <a:p>
            <a:pPr algn="l"/>
            <a:r>
              <a:rPr sz="1400" b="1" i="0">
                <a:solidFill>
                  <a:srgbClr val="343F4E"/>
                </a:solidFill>
                <a:latin typeface="Open Sans"/>
              </a:rPr>
              <a:t>swing share</a:t>
            </a:r>
          </a:p>
        </p:txBody>
      </p:sp>
      <p:sp>
        <p:nvSpPr>
          <p:cNvPr id="53" name="TextBox 52"/>
          <p:cNvSpPr txBox="1"/>
          <p:nvPr/>
        </p:nvSpPr>
        <p:spPr>
          <a:xfrm>
            <a:off x="10058400" y="3447288"/>
            <a:ext cx="1133856" cy="256032"/>
          </a:xfrm>
          <a:prstGeom prst="rect">
            <a:avLst/>
          </a:prstGeom>
          <a:noFill/>
        </p:spPr>
        <p:txBody>
          <a:bodyPr wrap="square" lIns="0" rIns="0" tIns="0" bIns="0" anchor="t">
            <a:spAutoFit/>
          </a:bodyPr>
          <a:lstStyle/>
          <a:p>
            <a:pPr algn="r"/>
            <a:r>
              <a:rPr sz="1400" b="1" i="0">
                <a:solidFill>
                  <a:srgbClr val="E2783A"/>
                </a:solidFill>
                <a:latin typeface="Open Sans"/>
              </a:rPr>
              <a:t>33 % / 45 %</a:t>
            </a:r>
          </a:p>
        </p:txBody>
      </p:sp>
      <p:sp>
        <p:nvSpPr>
          <p:cNvPr id="54" name="TextBox 53"/>
          <p:cNvSpPr txBox="1"/>
          <p:nvPr/>
        </p:nvSpPr>
        <p:spPr>
          <a:xfrm>
            <a:off x="8604504" y="3675887"/>
            <a:ext cx="2606039" cy="201168"/>
          </a:xfrm>
          <a:prstGeom prst="rect">
            <a:avLst/>
          </a:prstGeom>
          <a:noFill/>
        </p:spPr>
        <p:txBody>
          <a:bodyPr wrap="square" lIns="0" rIns="0" tIns="0" bIns="0" anchor="t">
            <a:spAutoFit/>
          </a:bodyPr>
          <a:lstStyle/>
          <a:p>
            <a:pPr algn="l"/>
            <a:r>
              <a:rPr sz="1100" b="0" i="0">
                <a:solidFill>
                  <a:srgbClr val="6B7280"/>
                </a:solidFill>
                <a:latin typeface="Open Sans"/>
              </a:rPr>
              <a:t>walk / trot (fixed)</a:t>
            </a:r>
          </a:p>
        </p:txBody>
      </p:sp>
      <p:sp>
        <p:nvSpPr>
          <p:cNvPr id="55" name="Rounded Rectangle 54"/>
          <p:cNvSpPr/>
          <p:nvPr/>
        </p:nvSpPr>
        <p:spPr>
          <a:xfrm>
            <a:off x="8458200" y="3995928"/>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6" name="TextBox 55"/>
          <p:cNvSpPr txBox="1"/>
          <p:nvPr/>
        </p:nvSpPr>
        <p:spPr>
          <a:xfrm>
            <a:off x="8604504" y="4050791"/>
            <a:ext cx="1828800" cy="256032"/>
          </a:xfrm>
          <a:prstGeom prst="rect">
            <a:avLst/>
          </a:prstGeom>
          <a:noFill/>
        </p:spPr>
        <p:txBody>
          <a:bodyPr wrap="square" lIns="0" rIns="0" tIns="0" bIns="0" anchor="t">
            <a:spAutoFit/>
          </a:bodyPr>
          <a:lstStyle/>
          <a:p>
            <a:pPr algn="l"/>
            <a:r>
              <a:rPr sz="1400" b="1" i="0">
                <a:solidFill>
                  <a:srgbClr val="343F4E"/>
                </a:solidFill>
                <a:latin typeface="Open Sans"/>
              </a:rPr>
              <a:t>leg offsets</a:t>
            </a:r>
          </a:p>
        </p:txBody>
      </p:sp>
      <p:sp>
        <p:nvSpPr>
          <p:cNvPr id="57" name="TextBox 56"/>
          <p:cNvSpPr txBox="1"/>
          <p:nvPr/>
        </p:nvSpPr>
        <p:spPr>
          <a:xfrm>
            <a:off x="10058400" y="4050791"/>
            <a:ext cx="1133856" cy="256032"/>
          </a:xfrm>
          <a:prstGeom prst="rect">
            <a:avLst/>
          </a:prstGeom>
          <a:noFill/>
        </p:spPr>
        <p:txBody>
          <a:bodyPr wrap="square" lIns="0" rIns="0" tIns="0" bIns="0" anchor="t">
            <a:spAutoFit/>
          </a:bodyPr>
          <a:lstStyle/>
          <a:p>
            <a:pPr algn="r"/>
            <a:r>
              <a:rPr sz="1400" b="1" i="0">
                <a:solidFill>
                  <a:srgbClr val="E2783A"/>
                </a:solidFill>
                <a:latin typeface="Open Sans"/>
              </a:rPr>
              <a:t>fixed</a:t>
            </a:r>
          </a:p>
        </p:txBody>
      </p:sp>
      <p:sp>
        <p:nvSpPr>
          <p:cNvPr id="58" name="TextBox 57"/>
          <p:cNvSpPr txBox="1"/>
          <p:nvPr/>
        </p:nvSpPr>
        <p:spPr>
          <a:xfrm>
            <a:off x="8604504" y="4279392"/>
            <a:ext cx="2606039" cy="201168"/>
          </a:xfrm>
          <a:prstGeom prst="rect">
            <a:avLst/>
          </a:prstGeom>
          <a:noFill/>
        </p:spPr>
        <p:txBody>
          <a:bodyPr wrap="square" lIns="0" rIns="0" tIns="0" bIns="0" anchor="t">
            <a:spAutoFit/>
          </a:bodyPr>
          <a:lstStyle/>
          <a:p>
            <a:pPr algn="l"/>
            <a:r>
              <a:rPr sz="1100" b="0" i="0">
                <a:solidFill>
                  <a:srgbClr val="6B7280"/>
                </a:solidFill>
                <a:latin typeface="Open Sans"/>
              </a:rPr>
              <a:t>pattern that makes it a walk or a trot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502920"/>
            <a:ext cx="9875520" cy="731520"/>
          </a:xfrm>
          <a:prstGeom prst="rect">
            <a:avLst/>
          </a:prstGeom>
          <a:noFill/>
        </p:spPr>
        <p:txBody>
          <a:bodyPr wrap="square" lIns="0" rIns="0" tIns="0" bIns="0" anchor="t">
            <a:spAutoFit/>
          </a:bodyPr>
          <a:lstStyle/>
          <a:p>
            <a:pPr algn="l"/>
            <a:r>
              <a:rPr sz="3600" b="1" i="0">
                <a:solidFill>
                  <a:srgbClr val="111111"/>
                </a:solidFill>
                <a:latin typeface="Open Sans"/>
              </a:rPr>
              <a:t>Steering, and the 6 numbers behind it all</a:t>
            </a:r>
          </a:p>
        </p:txBody>
      </p:sp>
      <p:sp>
        <p:nvSpPr>
          <p:cNvPr id="3" name="Subtitle"/>
          <p:cNvSpPr txBox="1"/>
          <p:nvPr/>
        </p:nvSpPr>
        <p:spPr>
          <a:xfrm>
            <a:off x="704088" y="1207008"/>
            <a:ext cx="9875520" cy="365760"/>
          </a:xfrm>
          <a:prstGeom prst="rect">
            <a:avLst/>
          </a:prstGeom>
          <a:noFill/>
        </p:spPr>
        <p:txBody>
          <a:bodyPr wrap="square" lIns="0" rIns="0" tIns="0" bIns="0" anchor="t">
            <a:spAutoFit/>
          </a:bodyPr>
          <a:lstStyle/>
          <a:p>
            <a:pPr algn="l"/>
            <a:r>
              <a:rPr sz="1600" b="0" i="0">
                <a:solidFill>
                  <a:srgbClr val="6B7280"/>
                </a:solidFill>
                <a:latin typeface="Open Sans"/>
              </a:rPr>
              <a:t>Our hips can't move sideways, so we steer like a tank</a:t>
            </a:r>
          </a:p>
        </p:txBody>
      </p:sp>
      <p:sp>
        <p:nvSpPr>
          <p:cNvPr id="4" name="Logo"/>
          <p:cNvSpPr txBox="1"/>
          <p:nvPr/>
        </p:nvSpPr>
        <p:spPr>
          <a:xfrm>
            <a:off x="10058400" y="502920"/>
            <a:ext cx="1463040" cy="548640"/>
          </a:xfrm>
          <a:prstGeom prst="rect">
            <a:avLst/>
          </a:prstGeom>
          <a:noFill/>
        </p:spPr>
        <p:txBody>
          <a:bodyPr wrap="square" lIns="0" rIns="0" tIns="0" bIns="0" anchor="t">
            <a:spAutoFit/>
          </a:bodyPr>
          <a:lstStyle/>
          <a:p>
            <a:pPr algn="r"/>
            <a:r>
              <a:rPr sz="2800" b="1" i="0">
                <a:solidFill>
                  <a:srgbClr val="E2783A"/>
                </a:solidFill>
                <a:latin typeface="Open Sans"/>
              </a:rPr>
              <a:t>thws</a:t>
            </a:r>
          </a:p>
        </p:txBody>
      </p:sp>
      <p:sp>
        <p:nvSpPr>
          <p:cNvPr id="5" name="Oval 4"/>
          <p:cNvSpPr/>
          <p:nvPr/>
        </p:nvSpPr>
        <p:spPr>
          <a:xfrm>
            <a:off x="704088" y="6281928"/>
            <a:ext cx="237744" cy="237744"/>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Presenter"/>
          <p:cNvSpPr txBox="1"/>
          <p:nvPr/>
        </p:nvSpPr>
        <p:spPr>
          <a:xfrm>
            <a:off x="1051560" y="6272784"/>
            <a:ext cx="3657600" cy="274320"/>
          </a:xfrm>
          <a:prstGeom prst="rect">
            <a:avLst/>
          </a:prstGeom>
          <a:noFill/>
        </p:spPr>
        <p:txBody>
          <a:bodyPr wrap="square" lIns="0" rIns="0" tIns="0" bIns="0" anchor="t">
            <a:spAutoFit/>
          </a:bodyPr>
          <a:lstStyle/>
          <a:p>
            <a:pPr algn="l"/>
            <a:r>
              <a:rPr sz="1300" b="0" i="0">
                <a:solidFill>
                  <a:srgbClr val="6B7280"/>
                </a:solidFill>
                <a:latin typeface="Open Sans"/>
              </a:rPr>
              <a:t>Your Name</a:t>
            </a:r>
          </a:p>
        </p:txBody>
      </p:sp>
      <p:sp>
        <p:nvSpPr>
          <p:cNvPr id="7" name="Steering card"/>
          <p:cNvSpPr/>
          <p:nvPr/>
        </p:nvSpPr>
        <p:spPr>
          <a:xfrm>
            <a:off x="685800" y="1828800"/>
            <a:ext cx="7315200" cy="4343400"/>
          </a:xfrm>
          <a:prstGeom prst="roundRect">
            <a:avLst>
              <a:gd name="adj" fmla="val 2526"/>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Oval 7"/>
          <p:cNvSpPr/>
          <p:nvPr/>
        </p:nvSpPr>
        <p:spPr>
          <a:xfrm>
            <a:off x="87782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3</a:t>
            </a:r>
          </a:p>
        </p:txBody>
      </p:sp>
      <p:sp>
        <p:nvSpPr>
          <p:cNvPr id="9" name="TextBox 8"/>
          <p:cNvSpPr txBox="1"/>
          <p:nvPr/>
        </p:nvSpPr>
        <p:spPr>
          <a:xfrm>
            <a:off x="1463040" y="2075688"/>
            <a:ext cx="5943600" cy="365760"/>
          </a:xfrm>
          <a:prstGeom prst="rect">
            <a:avLst/>
          </a:prstGeom>
          <a:noFill/>
        </p:spPr>
        <p:txBody>
          <a:bodyPr wrap="square" lIns="0" rIns="0" tIns="0" bIns="0" anchor="t">
            <a:spAutoFit/>
          </a:bodyPr>
          <a:lstStyle/>
          <a:p>
            <a:pPr algn="l"/>
            <a:r>
              <a:rPr sz="2000" b="1" i="0">
                <a:solidFill>
                  <a:srgbClr val="111111"/>
                </a:solidFill>
                <a:latin typeface="Open Sans"/>
              </a:rPr>
              <a:t>Steering = different step lengths left vs right</a:t>
            </a:r>
          </a:p>
        </p:txBody>
      </p:sp>
      <p:sp>
        <p:nvSpPr>
          <p:cNvPr id="10" name="Robot body"/>
          <p:cNvSpPr/>
          <p:nvPr/>
        </p:nvSpPr>
        <p:spPr>
          <a:xfrm>
            <a:off x="2231136" y="3451859"/>
            <a:ext cx="566928" cy="1051560"/>
          </a:xfrm>
          <a:prstGeom prst="roundRect">
            <a:avLst>
              <a:gd name="adj" fmla="val 19354"/>
            </a:avLst>
          </a:prstGeom>
          <a:solidFill>
            <a:srgbClr val="343F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1" name="Oval 10"/>
          <p:cNvSpPr/>
          <p:nvPr/>
        </p:nvSpPr>
        <p:spPr>
          <a:xfrm>
            <a:off x="2450592" y="3534156"/>
            <a:ext cx="128016" cy="128016"/>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cxnSp>
        <p:nvCxnSpPr>
          <p:cNvPr id="12" name="Connector 11"/>
          <p:cNvCxnSpPr/>
          <p:nvPr/>
        </p:nvCxnSpPr>
        <p:spPr>
          <a:xfrm>
            <a:off x="2029967" y="3483863"/>
            <a:ext cx="0" cy="384048"/>
          </a:xfrm>
          <a:prstGeom prst="line">
            <a:avLst/>
          </a:prstGeom>
          <a:ln w="44450">
            <a:solidFill>
              <a:srgbClr val="4A7BB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29967" y="4087368"/>
            <a:ext cx="0" cy="384048"/>
          </a:xfrm>
          <a:prstGeom prst="line">
            <a:avLst/>
          </a:prstGeom>
          <a:ln w="44450">
            <a:solidFill>
              <a:srgbClr val="4A7BB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999232" y="3483863"/>
            <a:ext cx="0" cy="384048"/>
          </a:xfrm>
          <a:prstGeom prst="line">
            <a:avLst/>
          </a:prstGeom>
          <a:ln w="44450">
            <a:solidFill>
              <a:srgbClr val="E278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999232" y="4087368"/>
            <a:ext cx="0" cy="384048"/>
          </a:xfrm>
          <a:prstGeom prst="line">
            <a:avLst/>
          </a:prstGeom>
          <a:ln w="44450">
            <a:solidFill>
              <a:srgbClr val="E278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urn arrow"/>
          <p:cNvSpPr/>
          <p:nvPr/>
        </p:nvSpPr>
        <p:spPr>
          <a:xfrm>
            <a:off x="2014192" y="2881044"/>
            <a:ext cx="1000815" cy="205094"/>
          </a:xfrm>
          <a:custGeom>
            <a:avLst/>
            <a:gdLst/>
            <a:ahLst/>
            <a:cxnLst/>
            <a:rect l="l" t="t" r="r" b="b"/>
            <a:pathLst>
              <a:path w="1000815" h="205094">
                <a:moveTo>
                  <a:pt x="1000815" y="205094"/>
                </a:moveTo>
                <a:lnTo>
                  <a:pt x="987087" y="170292"/>
                </a:lnTo>
                <a:lnTo>
                  <a:pt x="961718" y="136869"/>
                </a:lnTo>
                <a:lnTo>
                  <a:pt x="925313" y="105623"/>
                </a:lnTo>
                <a:lnTo>
                  <a:pt x="878743" y="77303"/>
                </a:lnTo>
                <a:lnTo>
                  <a:pt x="823124" y="52587"/>
                </a:lnTo>
                <a:lnTo>
                  <a:pt x="759784" y="32064"/>
                </a:lnTo>
                <a:lnTo>
                  <a:pt x="690240" y="16226"/>
                </a:lnTo>
                <a:lnTo>
                  <a:pt x="616154" y="5452"/>
                </a:lnTo>
                <a:lnTo>
                  <a:pt x="539300" y="0"/>
                </a:lnTo>
                <a:lnTo>
                  <a:pt x="461515" y="0"/>
                </a:lnTo>
                <a:lnTo>
                  <a:pt x="384661" y="5452"/>
                </a:lnTo>
                <a:lnTo>
                  <a:pt x="310575" y="16226"/>
                </a:lnTo>
                <a:lnTo>
                  <a:pt x="241031" y="32064"/>
                </a:lnTo>
                <a:lnTo>
                  <a:pt x="177691" y="52587"/>
                </a:lnTo>
                <a:lnTo>
                  <a:pt x="122072" y="77303"/>
                </a:lnTo>
                <a:lnTo>
                  <a:pt x="75502" y="105623"/>
                </a:lnTo>
                <a:lnTo>
                  <a:pt x="39097" y="136869"/>
                </a:lnTo>
                <a:lnTo>
                  <a:pt x="13728" y="170292"/>
                </a:lnTo>
                <a:lnTo>
                  <a:pt x="0" y="205094"/>
                </a:lnTo>
              </a:path>
            </a:pathLst>
          </a:custGeom>
          <a:noFill/>
          <a:ln w="44450">
            <a:solidFill>
              <a:srgbClr val="3F8F5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4937760"/>
            <a:ext cx="2560320" cy="274320"/>
          </a:xfrm>
          <a:prstGeom prst="rect">
            <a:avLst/>
          </a:prstGeom>
          <a:noFill/>
        </p:spPr>
        <p:txBody>
          <a:bodyPr wrap="square" lIns="0" rIns="0" tIns="0" bIns="0" anchor="t">
            <a:spAutoFit/>
          </a:bodyPr>
          <a:lstStyle/>
          <a:p>
            <a:pPr algn="ctr"/>
            <a:r>
              <a:rPr sz="1500" b="1" i="0">
                <a:solidFill>
                  <a:srgbClr val="111111"/>
                </a:solidFill>
                <a:latin typeface="Open Sans"/>
              </a:rPr>
              <a:t>Turn on the spot</a:t>
            </a:r>
          </a:p>
        </p:txBody>
      </p:sp>
      <p:sp>
        <p:nvSpPr>
          <p:cNvPr id="18" name="TextBox 17"/>
          <p:cNvSpPr txBox="1"/>
          <p:nvPr/>
        </p:nvSpPr>
        <p:spPr>
          <a:xfrm>
            <a:off x="1234440" y="5230368"/>
            <a:ext cx="2560320" cy="457200"/>
          </a:xfrm>
          <a:prstGeom prst="rect">
            <a:avLst/>
          </a:prstGeom>
          <a:noFill/>
        </p:spPr>
        <p:txBody>
          <a:bodyPr wrap="square" lIns="0" rIns="0" tIns="0" bIns="0" anchor="t">
            <a:spAutoFit/>
          </a:bodyPr>
          <a:lstStyle/>
          <a:p>
            <a:pPr algn="ctr"/>
            <a:r>
              <a:rPr sz="1100" b="0" i="0">
                <a:solidFill>
                  <a:srgbClr val="6B7280"/>
                </a:solidFill>
                <a:latin typeface="Open Sans"/>
              </a:rPr>
              <a:t>left legs step back</a:t>
            </a:r>
          </a:p>
          <a:p>
            <a:pPr algn="ctr"/>
            <a:r>
              <a:rPr sz="1100" b="0" i="0">
                <a:solidFill>
                  <a:srgbClr val="6B7280"/>
                </a:solidFill>
                <a:latin typeface="Open Sans"/>
              </a:rPr>
              <a:t>right legs step forward</a:t>
            </a:r>
          </a:p>
        </p:txBody>
      </p:sp>
      <p:sp>
        <p:nvSpPr>
          <p:cNvPr id="19" name="Robot body"/>
          <p:cNvSpPr/>
          <p:nvPr/>
        </p:nvSpPr>
        <p:spPr>
          <a:xfrm>
            <a:off x="5431536" y="3451859"/>
            <a:ext cx="566928" cy="1051560"/>
          </a:xfrm>
          <a:prstGeom prst="roundRect">
            <a:avLst>
              <a:gd name="adj" fmla="val 19354"/>
            </a:avLst>
          </a:prstGeom>
          <a:solidFill>
            <a:srgbClr val="343F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0" name="Oval 19"/>
          <p:cNvSpPr/>
          <p:nvPr/>
        </p:nvSpPr>
        <p:spPr>
          <a:xfrm>
            <a:off x="5650992" y="3534156"/>
            <a:ext cx="128016" cy="128016"/>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cxnSp>
        <p:nvCxnSpPr>
          <p:cNvPr id="21" name="Connector 20"/>
          <p:cNvCxnSpPr/>
          <p:nvPr/>
        </p:nvCxnSpPr>
        <p:spPr>
          <a:xfrm flipV="1">
            <a:off x="5230368" y="3602735"/>
            <a:ext cx="0" cy="146304"/>
          </a:xfrm>
          <a:prstGeom prst="line">
            <a:avLst/>
          </a:prstGeom>
          <a:ln w="44450">
            <a:solidFill>
              <a:srgbClr val="4A7BB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230368" y="4206240"/>
            <a:ext cx="0" cy="146304"/>
          </a:xfrm>
          <a:prstGeom prst="line">
            <a:avLst/>
          </a:prstGeom>
          <a:ln w="44450">
            <a:solidFill>
              <a:srgbClr val="4A7BB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199632" y="3456431"/>
            <a:ext cx="0" cy="438913"/>
          </a:xfrm>
          <a:prstGeom prst="line">
            <a:avLst/>
          </a:prstGeom>
          <a:ln w="44450">
            <a:solidFill>
              <a:srgbClr val="E278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199632" y="4059935"/>
            <a:ext cx="0" cy="438913"/>
          </a:xfrm>
          <a:prstGeom prst="line">
            <a:avLst/>
          </a:prstGeom>
          <a:ln w="44450">
            <a:solidFill>
              <a:srgbClr val="E278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Circle arrow"/>
          <p:cNvSpPr/>
          <p:nvPr/>
        </p:nvSpPr>
        <p:spPr>
          <a:xfrm>
            <a:off x="5346984" y="2561873"/>
            <a:ext cx="352614" cy="729966"/>
          </a:xfrm>
          <a:custGeom>
            <a:avLst/>
            <a:gdLst/>
            <a:ahLst/>
            <a:cxnLst/>
            <a:rect l="l" t="t" r="r" b="b"/>
            <a:pathLst>
              <a:path w="352614" h="729966">
                <a:moveTo>
                  <a:pt x="352614" y="729966"/>
                </a:moveTo>
                <a:lnTo>
                  <a:pt x="345466" y="687248"/>
                </a:lnTo>
                <a:lnTo>
                  <a:pt x="336973" y="644777"/>
                </a:lnTo>
                <a:lnTo>
                  <a:pt x="327143" y="602596"/>
                </a:lnTo>
                <a:lnTo>
                  <a:pt x="315987" y="560745"/>
                </a:lnTo>
                <a:lnTo>
                  <a:pt x="303514" y="519268"/>
                </a:lnTo>
                <a:lnTo>
                  <a:pt x="289738" y="478206"/>
                </a:lnTo>
                <a:lnTo>
                  <a:pt x="274673" y="437598"/>
                </a:lnTo>
                <a:lnTo>
                  <a:pt x="258333" y="397487"/>
                </a:lnTo>
                <a:lnTo>
                  <a:pt x="240734" y="357912"/>
                </a:lnTo>
                <a:lnTo>
                  <a:pt x="221895" y="318911"/>
                </a:lnTo>
                <a:lnTo>
                  <a:pt x="201834" y="280526"/>
                </a:lnTo>
                <a:lnTo>
                  <a:pt x="180571" y="242792"/>
                </a:lnTo>
                <a:lnTo>
                  <a:pt x="158127" y="205749"/>
                </a:lnTo>
                <a:lnTo>
                  <a:pt x="134525" y="169433"/>
                </a:lnTo>
                <a:lnTo>
                  <a:pt x="109787" y="133881"/>
                </a:lnTo>
                <a:lnTo>
                  <a:pt x="83940" y="99127"/>
                </a:lnTo>
                <a:lnTo>
                  <a:pt x="57008" y="65206"/>
                </a:lnTo>
                <a:lnTo>
                  <a:pt x="29019" y="32153"/>
                </a:lnTo>
                <a:lnTo>
                  <a:pt x="0" y="0"/>
                </a:lnTo>
              </a:path>
            </a:pathLst>
          </a:custGeom>
          <a:noFill/>
          <a:ln w="44450">
            <a:solidFill>
              <a:srgbClr val="3F8F5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4937760"/>
            <a:ext cx="2560320" cy="274320"/>
          </a:xfrm>
          <a:prstGeom prst="rect">
            <a:avLst/>
          </a:prstGeom>
          <a:noFill/>
        </p:spPr>
        <p:txBody>
          <a:bodyPr wrap="square" lIns="0" rIns="0" tIns="0" bIns="0" anchor="t">
            <a:spAutoFit/>
          </a:bodyPr>
          <a:lstStyle/>
          <a:p>
            <a:pPr algn="ctr"/>
            <a:r>
              <a:rPr sz="1500" b="1" i="0">
                <a:solidFill>
                  <a:srgbClr val="111111"/>
                </a:solidFill>
                <a:latin typeface="Open Sans"/>
              </a:rPr>
              <a:t>Walk in a circle</a:t>
            </a:r>
          </a:p>
        </p:txBody>
      </p:sp>
      <p:sp>
        <p:nvSpPr>
          <p:cNvPr id="27" name="TextBox 26"/>
          <p:cNvSpPr txBox="1"/>
          <p:nvPr/>
        </p:nvSpPr>
        <p:spPr>
          <a:xfrm>
            <a:off x="4434840" y="5230368"/>
            <a:ext cx="2560320" cy="457200"/>
          </a:xfrm>
          <a:prstGeom prst="rect">
            <a:avLst/>
          </a:prstGeom>
          <a:noFill/>
        </p:spPr>
        <p:txBody>
          <a:bodyPr wrap="square" lIns="0" rIns="0" tIns="0" bIns="0" anchor="t">
            <a:spAutoFit/>
          </a:bodyPr>
          <a:lstStyle/>
          <a:p>
            <a:pPr algn="ctr"/>
            <a:r>
              <a:rPr sz="1100" b="0" i="0">
                <a:solidFill>
                  <a:srgbClr val="6B7280"/>
                </a:solidFill>
                <a:latin typeface="Open Sans"/>
              </a:rPr>
              <a:t>inner legs take shorter steps</a:t>
            </a:r>
          </a:p>
          <a:p>
            <a:pPr algn="ctr"/>
            <a:r>
              <a:rPr sz="1100" b="0" i="0">
                <a:solidFill>
                  <a:srgbClr val="6B7280"/>
                </a:solidFill>
                <a:latin typeface="Open Sans"/>
              </a:rPr>
              <a:t>outer legs take full steps</a:t>
            </a:r>
          </a:p>
        </p:txBody>
      </p:sp>
      <p:sp>
        <p:nvSpPr>
          <p:cNvPr id="28" name="TextBox 27"/>
          <p:cNvSpPr txBox="1"/>
          <p:nvPr/>
        </p:nvSpPr>
        <p:spPr>
          <a:xfrm>
            <a:off x="914400" y="5760720"/>
            <a:ext cx="6766560" cy="274320"/>
          </a:xfrm>
          <a:prstGeom prst="rect">
            <a:avLst/>
          </a:prstGeom>
          <a:noFill/>
        </p:spPr>
        <p:txBody>
          <a:bodyPr wrap="square" lIns="0" rIns="0" tIns="0" bIns="0" anchor="t">
            <a:spAutoFit/>
          </a:bodyPr>
          <a:lstStyle/>
          <a:p>
            <a:pPr algn="l"/>
            <a:r>
              <a:rPr sz="1100" b="0" i="1">
                <a:solidFill>
                  <a:srgbClr val="6B7280"/>
                </a:solidFill>
                <a:latin typeface="Open Sans"/>
              </a:rPr>
              <a:t>The robot measures its own rotation and stops at the exact angle / circle size we ask for</a:t>
            </a:r>
          </a:p>
        </p:txBody>
      </p:sp>
      <p:sp>
        <p:nvSpPr>
          <p:cNvPr id="29" name="Parameter panel"/>
          <p:cNvSpPr/>
          <p:nvPr/>
        </p:nvSpPr>
        <p:spPr>
          <a:xfrm>
            <a:off x="8275320" y="1600200"/>
            <a:ext cx="3246120" cy="4800600"/>
          </a:xfrm>
          <a:prstGeom prst="roundRect">
            <a:avLst>
              <a:gd name="adj" fmla="val 5070"/>
            </a:avLst>
          </a:prstGeom>
          <a:solidFill>
            <a:srgbClr val="FBEDE3"/>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0" name="TextBox 29"/>
          <p:cNvSpPr txBox="1"/>
          <p:nvPr/>
        </p:nvSpPr>
        <p:spPr>
          <a:xfrm>
            <a:off x="8531352" y="1828800"/>
            <a:ext cx="2788920" cy="365760"/>
          </a:xfrm>
          <a:prstGeom prst="rect">
            <a:avLst/>
          </a:prstGeom>
          <a:noFill/>
        </p:spPr>
        <p:txBody>
          <a:bodyPr wrap="square" lIns="0" rIns="0" tIns="0" bIns="0" anchor="t">
            <a:spAutoFit/>
          </a:bodyPr>
          <a:lstStyle/>
          <a:p>
            <a:pPr algn="l"/>
            <a:r>
              <a:rPr sz="1800" b="1" i="0">
                <a:solidFill>
                  <a:srgbClr val="111111"/>
                </a:solidFill>
                <a:latin typeface="Open Sans"/>
              </a:rPr>
              <a:t>The 6 gait parameters</a:t>
            </a:r>
          </a:p>
        </p:txBody>
      </p:sp>
      <p:sp>
        <p:nvSpPr>
          <p:cNvPr id="31" name="Rounded Rectangle 30"/>
          <p:cNvSpPr/>
          <p:nvPr/>
        </p:nvSpPr>
        <p:spPr>
          <a:xfrm>
            <a:off x="8458200" y="2331720"/>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2" name="TextBox 31"/>
          <p:cNvSpPr txBox="1"/>
          <p:nvPr/>
        </p:nvSpPr>
        <p:spPr>
          <a:xfrm>
            <a:off x="8604504" y="2386584"/>
            <a:ext cx="1828800" cy="256032"/>
          </a:xfrm>
          <a:prstGeom prst="rect">
            <a:avLst/>
          </a:prstGeom>
          <a:noFill/>
        </p:spPr>
        <p:txBody>
          <a:bodyPr wrap="square" lIns="0" rIns="0" tIns="0" bIns="0" anchor="t">
            <a:spAutoFit/>
          </a:bodyPr>
          <a:lstStyle/>
          <a:p>
            <a:pPr algn="l"/>
            <a:r>
              <a:rPr sz="1400" b="1" i="0">
                <a:solidFill>
                  <a:srgbClr val="343F4E"/>
                </a:solidFill>
                <a:latin typeface="Open Sans"/>
              </a:rPr>
              <a:t>shoulder_home</a:t>
            </a:r>
          </a:p>
        </p:txBody>
      </p:sp>
      <p:sp>
        <p:nvSpPr>
          <p:cNvPr id="33" name="TextBox 32"/>
          <p:cNvSpPr txBox="1"/>
          <p:nvPr/>
        </p:nvSpPr>
        <p:spPr>
          <a:xfrm>
            <a:off x="10058400" y="2386584"/>
            <a:ext cx="1133856" cy="256032"/>
          </a:xfrm>
          <a:prstGeom prst="rect">
            <a:avLst/>
          </a:prstGeom>
          <a:noFill/>
        </p:spPr>
        <p:txBody>
          <a:bodyPr wrap="square" lIns="0" rIns="0" tIns="0" bIns="0" anchor="t">
            <a:spAutoFit/>
          </a:bodyPr>
          <a:lstStyle/>
          <a:p>
            <a:pPr algn="r"/>
            <a:r>
              <a:rPr sz="1400" b="1" i="0">
                <a:solidFill>
                  <a:srgbClr val="E2783A"/>
                </a:solidFill>
                <a:latin typeface="Open Sans"/>
              </a:rPr>
              <a:t>0.687 rad</a:t>
            </a:r>
          </a:p>
        </p:txBody>
      </p:sp>
      <p:sp>
        <p:nvSpPr>
          <p:cNvPr id="34" name="TextBox 33"/>
          <p:cNvSpPr txBox="1"/>
          <p:nvPr/>
        </p:nvSpPr>
        <p:spPr>
          <a:xfrm>
            <a:off x="8604504" y="2615184"/>
            <a:ext cx="2606039" cy="201168"/>
          </a:xfrm>
          <a:prstGeom prst="rect">
            <a:avLst/>
          </a:prstGeom>
          <a:noFill/>
        </p:spPr>
        <p:txBody>
          <a:bodyPr wrap="square" lIns="0" rIns="0" tIns="0" bIns="0" anchor="t">
            <a:spAutoFit/>
          </a:bodyPr>
          <a:lstStyle/>
          <a:p>
            <a:pPr algn="l"/>
            <a:r>
              <a:rPr sz="1100" b="0" i="0">
                <a:solidFill>
                  <a:srgbClr val="6B7280"/>
                </a:solidFill>
                <a:latin typeface="Open Sans"/>
              </a:rPr>
              <a:t>standing leg angle</a:t>
            </a:r>
          </a:p>
        </p:txBody>
      </p:sp>
      <p:sp>
        <p:nvSpPr>
          <p:cNvPr id="35" name="Rounded Rectangle 34"/>
          <p:cNvSpPr/>
          <p:nvPr/>
        </p:nvSpPr>
        <p:spPr>
          <a:xfrm>
            <a:off x="8458200" y="2935224"/>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6" name="TextBox 35"/>
          <p:cNvSpPr txBox="1"/>
          <p:nvPr/>
        </p:nvSpPr>
        <p:spPr>
          <a:xfrm>
            <a:off x="8604504" y="2990088"/>
            <a:ext cx="1828800" cy="256032"/>
          </a:xfrm>
          <a:prstGeom prst="rect">
            <a:avLst/>
          </a:prstGeom>
          <a:noFill/>
        </p:spPr>
        <p:txBody>
          <a:bodyPr wrap="square" lIns="0" rIns="0" tIns="0" bIns="0" anchor="t">
            <a:spAutoFit/>
          </a:bodyPr>
          <a:lstStyle/>
          <a:p>
            <a:pPr algn="l"/>
            <a:r>
              <a:rPr sz="1400" b="1" i="0">
                <a:solidFill>
                  <a:srgbClr val="343F4E"/>
                </a:solidFill>
                <a:latin typeface="Open Sans"/>
              </a:rPr>
              <a:t>sweep_left</a:t>
            </a:r>
          </a:p>
        </p:txBody>
      </p:sp>
      <p:sp>
        <p:nvSpPr>
          <p:cNvPr id="37" name="TextBox 36"/>
          <p:cNvSpPr txBox="1"/>
          <p:nvPr/>
        </p:nvSpPr>
        <p:spPr>
          <a:xfrm>
            <a:off x="10058400" y="2990088"/>
            <a:ext cx="1133856" cy="256032"/>
          </a:xfrm>
          <a:prstGeom prst="rect">
            <a:avLst/>
          </a:prstGeom>
          <a:noFill/>
        </p:spPr>
        <p:txBody>
          <a:bodyPr wrap="square" lIns="0" rIns="0" tIns="0" bIns="0" anchor="t">
            <a:spAutoFit/>
          </a:bodyPr>
          <a:lstStyle/>
          <a:p>
            <a:pPr algn="r"/>
            <a:r>
              <a:rPr sz="1400" b="1" i="0">
                <a:solidFill>
                  <a:srgbClr val="E2783A"/>
                </a:solidFill>
                <a:latin typeface="Open Sans"/>
              </a:rPr>
              <a:t>0.35 rad</a:t>
            </a:r>
          </a:p>
        </p:txBody>
      </p:sp>
      <p:sp>
        <p:nvSpPr>
          <p:cNvPr id="38" name="TextBox 37"/>
          <p:cNvSpPr txBox="1"/>
          <p:nvPr/>
        </p:nvSpPr>
        <p:spPr>
          <a:xfrm>
            <a:off x="8604504" y="3218688"/>
            <a:ext cx="2606039" cy="201168"/>
          </a:xfrm>
          <a:prstGeom prst="rect">
            <a:avLst/>
          </a:prstGeom>
          <a:noFill/>
        </p:spPr>
        <p:txBody>
          <a:bodyPr wrap="square" lIns="0" rIns="0" tIns="0" bIns="0" anchor="t">
            <a:spAutoFit/>
          </a:bodyPr>
          <a:lstStyle/>
          <a:p>
            <a:pPr algn="l"/>
            <a:r>
              <a:rPr sz="1100" b="0" i="0">
                <a:solidFill>
                  <a:srgbClr val="6B7280"/>
                </a:solidFill>
                <a:latin typeface="Open Sans"/>
              </a:rPr>
              <a:t>step length, left legs</a:t>
            </a:r>
          </a:p>
        </p:txBody>
      </p:sp>
      <p:sp>
        <p:nvSpPr>
          <p:cNvPr id="39" name="Rounded Rectangle 38"/>
          <p:cNvSpPr/>
          <p:nvPr/>
        </p:nvSpPr>
        <p:spPr>
          <a:xfrm>
            <a:off x="8458200" y="3538728"/>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0" name="TextBox 39"/>
          <p:cNvSpPr txBox="1"/>
          <p:nvPr/>
        </p:nvSpPr>
        <p:spPr>
          <a:xfrm>
            <a:off x="8604504" y="3593592"/>
            <a:ext cx="1828800" cy="256032"/>
          </a:xfrm>
          <a:prstGeom prst="rect">
            <a:avLst/>
          </a:prstGeom>
          <a:noFill/>
        </p:spPr>
        <p:txBody>
          <a:bodyPr wrap="square" lIns="0" rIns="0" tIns="0" bIns="0" anchor="t">
            <a:spAutoFit/>
          </a:bodyPr>
          <a:lstStyle/>
          <a:p>
            <a:pPr algn="l"/>
            <a:r>
              <a:rPr sz="1400" b="1" i="0">
                <a:solidFill>
                  <a:srgbClr val="343F4E"/>
                </a:solidFill>
                <a:latin typeface="Open Sans"/>
              </a:rPr>
              <a:t>sweep_right</a:t>
            </a:r>
          </a:p>
        </p:txBody>
      </p:sp>
      <p:sp>
        <p:nvSpPr>
          <p:cNvPr id="41" name="TextBox 40"/>
          <p:cNvSpPr txBox="1"/>
          <p:nvPr/>
        </p:nvSpPr>
        <p:spPr>
          <a:xfrm>
            <a:off x="10058400" y="3593592"/>
            <a:ext cx="1133856" cy="256032"/>
          </a:xfrm>
          <a:prstGeom prst="rect">
            <a:avLst/>
          </a:prstGeom>
          <a:noFill/>
        </p:spPr>
        <p:txBody>
          <a:bodyPr wrap="square" lIns="0" rIns="0" tIns="0" bIns="0" anchor="t">
            <a:spAutoFit/>
          </a:bodyPr>
          <a:lstStyle/>
          <a:p>
            <a:pPr algn="r"/>
            <a:r>
              <a:rPr sz="1400" b="1" i="0">
                <a:solidFill>
                  <a:srgbClr val="E2783A"/>
                </a:solidFill>
                <a:latin typeface="Open Sans"/>
              </a:rPr>
              <a:t>0.35 rad</a:t>
            </a:r>
          </a:p>
        </p:txBody>
      </p:sp>
      <p:sp>
        <p:nvSpPr>
          <p:cNvPr id="42" name="TextBox 41"/>
          <p:cNvSpPr txBox="1"/>
          <p:nvPr/>
        </p:nvSpPr>
        <p:spPr>
          <a:xfrm>
            <a:off x="8604504" y="3822191"/>
            <a:ext cx="2606039" cy="201168"/>
          </a:xfrm>
          <a:prstGeom prst="rect">
            <a:avLst/>
          </a:prstGeom>
          <a:noFill/>
        </p:spPr>
        <p:txBody>
          <a:bodyPr wrap="square" lIns="0" rIns="0" tIns="0" bIns="0" anchor="t">
            <a:spAutoFit/>
          </a:bodyPr>
          <a:lstStyle/>
          <a:p>
            <a:pPr algn="l"/>
            <a:r>
              <a:rPr sz="1100" b="0" i="0">
                <a:solidFill>
                  <a:srgbClr val="6B7280"/>
                </a:solidFill>
                <a:latin typeface="Open Sans"/>
              </a:rPr>
              <a:t>step length, right legs</a:t>
            </a:r>
          </a:p>
        </p:txBody>
      </p:sp>
      <p:sp>
        <p:nvSpPr>
          <p:cNvPr id="43" name="Rounded Rectangle 42"/>
          <p:cNvSpPr/>
          <p:nvPr/>
        </p:nvSpPr>
        <p:spPr>
          <a:xfrm>
            <a:off x="8458200" y="4142231"/>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4" name="TextBox 43"/>
          <p:cNvSpPr txBox="1"/>
          <p:nvPr/>
        </p:nvSpPr>
        <p:spPr>
          <a:xfrm>
            <a:off x="8604504" y="4197095"/>
            <a:ext cx="1828800" cy="256032"/>
          </a:xfrm>
          <a:prstGeom prst="rect">
            <a:avLst/>
          </a:prstGeom>
          <a:noFill/>
        </p:spPr>
        <p:txBody>
          <a:bodyPr wrap="square" lIns="0" rIns="0" tIns="0" bIns="0" anchor="t">
            <a:spAutoFit/>
          </a:bodyPr>
          <a:lstStyle/>
          <a:p>
            <a:pPr algn="l"/>
            <a:r>
              <a:rPr sz="1400" b="1" i="0">
                <a:solidFill>
                  <a:srgbClr val="343F4E"/>
                </a:solidFill>
                <a:latin typeface="Open Sans"/>
              </a:rPr>
              <a:t>knee_home</a:t>
            </a:r>
          </a:p>
        </p:txBody>
      </p:sp>
      <p:sp>
        <p:nvSpPr>
          <p:cNvPr id="45" name="TextBox 44"/>
          <p:cNvSpPr txBox="1"/>
          <p:nvPr/>
        </p:nvSpPr>
        <p:spPr>
          <a:xfrm>
            <a:off x="10058400" y="4197095"/>
            <a:ext cx="1133856" cy="256032"/>
          </a:xfrm>
          <a:prstGeom prst="rect">
            <a:avLst/>
          </a:prstGeom>
          <a:noFill/>
        </p:spPr>
        <p:txBody>
          <a:bodyPr wrap="square" lIns="0" rIns="0" tIns="0" bIns="0" anchor="t">
            <a:spAutoFit/>
          </a:bodyPr>
          <a:lstStyle/>
          <a:p>
            <a:pPr algn="r"/>
            <a:r>
              <a:rPr sz="1400" b="1" i="0">
                <a:solidFill>
                  <a:srgbClr val="E2783A"/>
                </a:solidFill>
                <a:latin typeface="Open Sans"/>
              </a:rPr>
              <a:t>−1.0 rad</a:t>
            </a:r>
          </a:p>
        </p:txBody>
      </p:sp>
      <p:sp>
        <p:nvSpPr>
          <p:cNvPr id="46" name="TextBox 45"/>
          <p:cNvSpPr txBox="1"/>
          <p:nvPr/>
        </p:nvSpPr>
        <p:spPr>
          <a:xfrm>
            <a:off x="8604504" y="4425695"/>
            <a:ext cx="2606039" cy="201168"/>
          </a:xfrm>
          <a:prstGeom prst="rect">
            <a:avLst/>
          </a:prstGeom>
          <a:noFill/>
        </p:spPr>
        <p:txBody>
          <a:bodyPr wrap="square" lIns="0" rIns="0" tIns="0" bIns="0" anchor="t">
            <a:spAutoFit/>
          </a:bodyPr>
          <a:lstStyle/>
          <a:p>
            <a:pPr algn="l"/>
            <a:r>
              <a:rPr sz="1100" b="0" i="0">
                <a:solidFill>
                  <a:srgbClr val="6B7280"/>
                </a:solidFill>
                <a:latin typeface="Open Sans"/>
              </a:rPr>
              <a:t>knee on the ground</a:t>
            </a:r>
          </a:p>
        </p:txBody>
      </p:sp>
      <p:sp>
        <p:nvSpPr>
          <p:cNvPr id="47" name="Rounded Rectangle 46"/>
          <p:cNvSpPr/>
          <p:nvPr/>
        </p:nvSpPr>
        <p:spPr>
          <a:xfrm>
            <a:off x="8458200" y="4745736"/>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8" name="TextBox 47"/>
          <p:cNvSpPr txBox="1"/>
          <p:nvPr/>
        </p:nvSpPr>
        <p:spPr>
          <a:xfrm>
            <a:off x="8604504" y="4800599"/>
            <a:ext cx="1828800" cy="256032"/>
          </a:xfrm>
          <a:prstGeom prst="rect">
            <a:avLst/>
          </a:prstGeom>
          <a:noFill/>
        </p:spPr>
        <p:txBody>
          <a:bodyPr wrap="square" lIns="0" rIns="0" tIns="0" bIns="0" anchor="t">
            <a:spAutoFit/>
          </a:bodyPr>
          <a:lstStyle/>
          <a:p>
            <a:pPr algn="l"/>
            <a:r>
              <a:rPr sz="1400" b="1" i="0">
                <a:solidFill>
                  <a:srgbClr val="343F4E"/>
                </a:solidFill>
                <a:latin typeface="Open Sans"/>
              </a:rPr>
              <a:t>knee_lift</a:t>
            </a:r>
          </a:p>
        </p:txBody>
      </p:sp>
      <p:sp>
        <p:nvSpPr>
          <p:cNvPr id="49" name="TextBox 48"/>
          <p:cNvSpPr txBox="1"/>
          <p:nvPr/>
        </p:nvSpPr>
        <p:spPr>
          <a:xfrm>
            <a:off x="10058400" y="4800599"/>
            <a:ext cx="1133856" cy="256032"/>
          </a:xfrm>
          <a:prstGeom prst="rect">
            <a:avLst/>
          </a:prstGeom>
          <a:noFill/>
        </p:spPr>
        <p:txBody>
          <a:bodyPr wrap="square" lIns="0" rIns="0" tIns="0" bIns="0" anchor="t">
            <a:spAutoFit/>
          </a:bodyPr>
          <a:lstStyle/>
          <a:p>
            <a:pPr algn="r"/>
            <a:r>
              <a:rPr sz="1400" b="1" i="0">
                <a:solidFill>
                  <a:srgbClr val="E2783A"/>
                </a:solidFill>
                <a:latin typeface="Open Sans"/>
              </a:rPr>
              <a:t>−1.3 rad</a:t>
            </a:r>
          </a:p>
        </p:txBody>
      </p:sp>
      <p:sp>
        <p:nvSpPr>
          <p:cNvPr id="50" name="TextBox 49"/>
          <p:cNvSpPr txBox="1"/>
          <p:nvPr/>
        </p:nvSpPr>
        <p:spPr>
          <a:xfrm>
            <a:off x="8604504" y="5029199"/>
            <a:ext cx="2606039" cy="201168"/>
          </a:xfrm>
          <a:prstGeom prst="rect">
            <a:avLst/>
          </a:prstGeom>
          <a:noFill/>
        </p:spPr>
        <p:txBody>
          <a:bodyPr wrap="square" lIns="0" rIns="0" tIns="0" bIns="0" anchor="t">
            <a:spAutoFit/>
          </a:bodyPr>
          <a:lstStyle/>
          <a:p>
            <a:pPr algn="l"/>
            <a:r>
              <a:rPr sz="1100" b="0" i="0">
                <a:solidFill>
                  <a:srgbClr val="6B7280"/>
                </a:solidFill>
                <a:latin typeface="Open Sans"/>
              </a:rPr>
              <a:t>knee in the air = step height</a:t>
            </a:r>
          </a:p>
        </p:txBody>
      </p:sp>
      <p:sp>
        <p:nvSpPr>
          <p:cNvPr id="51" name="Rounded Rectangle 50"/>
          <p:cNvSpPr/>
          <p:nvPr/>
        </p:nvSpPr>
        <p:spPr>
          <a:xfrm>
            <a:off x="8458200" y="5349240"/>
            <a:ext cx="2880360"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2" name="TextBox 51"/>
          <p:cNvSpPr txBox="1"/>
          <p:nvPr/>
        </p:nvSpPr>
        <p:spPr>
          <a:xfrm>
            <a:off x="8604504" y="5404103"/>
            <a:ext cx="1828800" cy="256032"/>
          </a:xfrm>
          <a:prstGeom prst="rect">
            <a:avLst/>
          </a:prstGeom>
          <a:noFill/>
        </p:spPr>
        <p:txBody>
          <a:bodyPr wrap="square" lIns="0" rIns="0" tIns="0" bIns="0" anchor="t">
            <a:spAutoFit/>
          </a:bodyPr>
          <a:lstStyle/>
          <a:p>
            <a:pPr algn="l"/>
            <a:r>
              <a:rPr sz="1400" b="1" i="0">
                <a:solidFill>
                  <a:srgbClr val="343F4E"/>
                </a:solidFill>
                <a:latin typeface="Open Sans"/>
              </a:rPr>
              <a:t>cycle_period</a:t>
            </a:r>
          </a:p>
        </p:txBody>
      </p:sp>
      <p:sp>
        <p:nvSpPr>
          <p:cNvPr id="53" name="TextBox 52"/>
          <p:cNvSpPr txBox="1"/>
          <p:nvPr/>
        </p:nvSpPr>
        <p:spPr>
          <a:xfrm>
            <a:off x="10058400" y="5404103"/>
            <a:ext cx="1133856" cy="256032"/>
          </a:xfrm>
          <a:prstGeom prst="rect">
            <a:avLst/>
          </a:prstGeom>
          <a:noFill/>
        </p:spPr>
        <p:txBody>
          <a:bodyPr wrap="square" lIns="0" rIns="0" tIns="0" bIns="0" anchor="t">
            <a:spAutoFit/>
          </a:bodyPr>
          <a:lstStyle/>
          <a:p>
            <a:pPr algn="r"/>
            <a:r>
              <a:rPr sz="1400" b="1" i="0">
                <a:solidFill>
                  <a:srgbClr val="E2783A"/>
                </a:solidFill>
                <a:latin typeface="Open Sans"/>
              </a:rPr>
              <a:t>1.4 s</a:t>
            </a:r>
          </a:p>
        </p:txBody>
      </p:sp>
      <p:sp>
        <p:nvSpPr>
          <p:cNvPr id="54" name="TextBox 53"/>
          <p:cNvSpPr txBox="1"/>
          <p:nvPr/>
        </p:nvSpPr>
        <p:spPr>
          <a:xfrm>
            <a:off x="8604504" y="5632703"/>
            <a:ext cx="2606039" cy="201168"/>
          </a:xfrm>
          <a:prstGeom prst="rect">
            <a:avLst/>
          </a:prstGeom>
          <a:noFill/>
        </p:spPr>
        <p:txBody>
          <a:bodyPr wrap="square" lIns="0" rIns="0" tIns="0" bIns="0" anchor="t">
            <a:spAutoFit/>
          </a:bodyPr>
          <a:lstStyle/>
          <a:p>
            <a:pPr algn="l"/>
            <a:r>
              <a:rPr sz="1100" b="0" i="0">
                <a:solidFill>
                  <a:srgbClr val="6B7280"/>
                </a:solidFill>
                <a:latin typeface="Open Sans"/>
              </a:rPr>
              <a:t>time for one loop = speed</a:t>
            </a:r>
          </a:p>
        </p:txBody>
      </p:sp>
      <p:sp>
        <p:nvSpPr>
          <p:cNvPr id="55" name="Rounded Rectangle 54"/>
          <p:cNvSpPr/>
          <p:nvPr/>
        </p:nvSpPr>
        <p:spPr>
          <a:xfrm>
            <a:off x="8458200" y="5833872"/>
            <a:ext cx="2880360" cy="384048"/>
          </a:xfrm>
          <a:prstGeom prst="roundRect">
            <a:avLst>
              <a:gd name="adj" fmla="val 23809"/>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6" name="TextBox 55"/>
          <p:cNvSpPr txBox="1"/>
          <p:nvPr/>
        </p:nvSpPr>
        <p:spPr>
          <a:xfrm>
            <a:off x="8458200" y="5833872"/>
            <a:ext cx="2880360" cy="384048"/>
          </a:xfrm>
          <a:prstGeom prst="rect">
            <a:avLst/>
          </a:prstGeom>
          <a:noFill/>
        </p:spPr>
        <p:txBody>
          <a:bodyPr wrap="square" lIns="0" rIns="0" tIns="0" bIns="0" anchor="ctr">
            <a:spAutoFit/>
          </a:bodyPr>
          <a:lstStyle/>
          <a:p>
            <a:pPr algn="ctr"/>
            <a:r>
              <a:rPr sz="1300" b="1" i="0">
                <a:solidFill>
                  <a:srgbClr val="FFFFFF"/>
                </a:solidFill>
                <a:latin typeface="Open Sans"/>
              </a:rPr>
              <a:t>Next: RL tunes these 6 numbers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